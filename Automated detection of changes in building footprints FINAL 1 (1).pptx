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344" r:id="rId4"/>
    <p:sldId id="259" r:id="rId5"/>
    <p:sldId id="263" r:id="rId6"/>
    <p:sldId id="346" r:id="rId7"/>
    <p:sldId id="345" r:id="rId8"/>
    <p:sldId id="260" r:id="rId9"/>
    <p:sldId id="262" r:id="rId10"/>
    <p:sldId id="261" r:id="rId11"/>
    <p:sldId id="266" r:id="rId12"/>
    <p:sldId id="272" r:id="rId13"/>
    <p:sldId id="271" r:id="rId14"/>
    <p:sldId id="273" r:id="rId15"/>
    <p:sldId id="265" r:id="rId16"/>
    <p:sldId id="267" r:id="rId17"/>
    <p:sldId id="269" r:id="rId18"/>
    <p:sldId id="315" r:id="rId19"/>
    <p:sldId id="274" r:id="rId20"/>
    <p:sldId id="340" r:id="rId21"/>
    <p:sldId id="277" r:id="rId22"/>
    <p:sldId id="348" r:id="rId23"/>
    <p:sldId id="279" r:id="rId24"/>
    <p:sldId id="280" r:id="rId25"/>
    <p:sldId id="288" r:id="rId26"/>
    <p:sldId id="296" r:id="rId27"/>
    <p:sldId id="300" r:id="rId28"/>
    <p:sldId id="303" r:id="rId29"/>
    <p:sldId id="294" r:id="rId30"/>
    <p:sldId id="310" r:id="rId31"/>
    <p:sldId id="325" r:id="rId32"/>
    <p:sldId id="324" r:id="rId33"/>
    <p:sldId id="327" r:id="rId34"/>
    <p:sldId id="283" r:id="rId35"/>
    <p:sldId id="338" r:id="rId36"/>
    <p:sldId id="333" r:id="rId37"/>
    <p:sldId id="326" r:id="rId38"/>
    <p:sldId id="335" r:id="rId39"/>
    <p:sldId id="334" r:id="rId40"/>
    <p:sldId id="306" r:id="rId41"/>
    <p:sldId id="312" r:id="rId42"/>
    <p:sldId id="343" r:id="rId43"/>
    <p:sldId id="264" r:id="rId44"/>
    <p:sldId id="332" r:id="rId45"/>
    <p:sldId id="331" r:id="rId46"/>
    <p:sldId id="350" r:id="rId47"/>
    <p:sldId id="25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D6C3EA-43EC-E9E7-E762-5BA61051FADE}" v="23" dt="2026-05-05T08:07:22.634"/>
    <p1510:client id="{F6861A48-85DC-1164-DC39-212AD4842356}" v="37" dt="2026-05-04T10:49:15.0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5" autoAdjust="0"/>
    <p:restoredTop sz="94221" autoAdjust="0"/>
  </p:normalViewPr>
  <p:slideViewPr>
    <p:cSldViewPr snapToGrid="0">
      <p:cViewPr>
        <p:scale>
          <a:sx n="87" d="100"/>
          <a:sy n="87" d="100"/>
        </p:scale>
        <p:origin x="15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5813cc51-31c7-4d29-a1be-fc6cb1b77e1c::" providerId="AD" clId="Web-{F6861A48-85DC-1164-DC39-212AD4842356}"/>
    <pc:docChg chg="delSld modSld">
      <pc:chgData name="Guest User" userId="S::urn:spo:tenantanon#5813cc51-31c7-4d29-a1be-fc6cb1b77e1c::" providerId="AD" clId="Web-{F6861A48-85DC-1164-DC39-212AD4842356}" dt="2026-05-04T10:49:14.479" v="17" actId="20577"/>
      <pc:docMkLst>
        <pc:docMk/>
      </pc:docMkLst>
      <pc:sldChg chg="modSp">
        <pc:chgData name="Guest User" userId="S::urn:spo:tenantanon#5813cc51-31c7-4d29-a1be-fc6cb1b77e1c::" providerId="AD" clId="Web-{F6861A48-85DC-1164-DC39-212AD4842356}" dt="2026-05-04T10:49:14.479" v="17" actId="20577"/>
        <pc:sldMkLst>
          <pc:docMk/>
          <pc:sldMk cId="945899633" sldId="271"/>
        </pc:sldMkLst>
        <pc:spChg chg="mod">
          <ac:chgData name="Guest User" userId="S::urn:spo:tenantanon#5813cc51-31c7-4d29-a1be-fc6cb1b77e1c::" providerId="AD" clId="Web-{F6861A48-85DC-1164-DC39-212AD4842356}" dt="2026-05-04T10:49:14.479" v="17" actId="20577"/>
          <ac:spMkLst>
            <pc:docMk/>
            <pc:sldMk cId="945899633" sldId="271"/>
            <ac:spMk id="12" creationId="{AB0489EA-804D-78A5-411C-855BD525963F}"/>
          </ac:spMkLst>
        </pc:spChg>
      </pc:sldChg>
      <pc:sldChg chg="del">
        <pc:chgData name="Guest User" userId="S::urn:spo:tenantanon#5813cc51-31c7-4d29-a1be-fc6cb1b77e1c::" providerId="AD" clId="Web-{F6861A48-85DC-1164-DC39-212AD4842356}" dt="2026-05-04T10:44:14.294" v="0"/>
        <pc:sldMkLst>
          <pc:docMk/>
          <pc:sldMk cId="3197509539" sldId="275"/>
        </pc:sldMkLst>
      </pc:sldChg>
    </pc:docChg>
  </pc:docChgLst>
  <pc:docChgLst>
    <pc:chgData name="Guest User" userId="S::urn:spo:tenantanon#5813cc51-31c7-4d29-a1be-fc6cb1b77e1c::" providerId="AD" clId="Web-{CCD6C3EA-43EC-E9E7-E762-5BA61051FADE}"/>
    <pc:docChg chg="modSld">
      <pc:chgData name="Guest User" userId="S::urn:spo:tenantanon#5813cc51-31c7-4d29-a1be-fc6cb1b77e1c::" providerId="AD" clId="Web-{CCD6C3EA-43EC-E9E7-E762-5BA61051FADE}" dt="2026-05-05T08:07:22.634" v="22" actId="20577"/>
      <pc:docMkLst>
        <pc:docMk/>
      </pc:docMkLst>
      <pc:sldChg chg="modSp">
        <pc:chgData name="Guest User" userId="S::urn:spo:tenantanon#5813cc51-31c7-4d29-a1be-fc6cb1b77e1c::" providerId="AD" clId="Web-{CCD6C3EA-43EC-E9E7-E762-5BA61051FADE}" dt="2026-05-05T08:01:10.424" v="1" actId="20577"/>
        <pc:sldMkLst>
          <pc:docMk/>
          <pc:sldMk cId="3159215427" sldId="283"/>
        </pc:sldMkLst>
        <pc:spChg chg="mod">
          <ac:chgData name="Guest User" userId="S::urn:spo:tenantanon#5813cc51-31c7-4d29-a1be-fc6cb1b77e1c::" providerId="AD" clId="Web-{CCD6C3EA-43EC-E9E7-E762-5BA61051FADE}" dt="2026-05-05T08:01:10.424" v="1" actId="20577"/>
          <ac:spMkLst>
            <pc:docMk/>
            <pc:sldMk cId="3159215427" sldId="283"/>
            <ac:spMk id="2" creationId="{D65EF38A-0612-866B-2B76-A51F59A5D3DE}"/>
          </ac:spMkLst>
        </pc:spChg>
      </pc:sldChg>
      <pc:sldChg chg="modSp">
        <pc:chgData name="Guest User" userId="S::urn:spo:tenantanon#5813cc51-31c7-4d29-a1be-fc6cb1b77e1c::" providerId="AD" clId="Web-{CCD6C3EA-43EC-E9E7-E762-5BA61051FADE}" dt="2026-05-05T08:07:22.634" v="22" actId="20577"/>
        <pc:sldMkLst>
          <pc:docMk/>
          <pc:sldMk cId="1164904677" sldId="343"/>
        </pc:sldMkLst>
        <pc:spChg chg="mod">
          <ac:chgData name="Guest User" userId="S::urn:spo:tenantanon#5813cc51-31c7-4d29-a1be-fc6cb1b77e1c::" providerId="AD" clId="Web-{CCD6C3EA-43EC-E9E7-E762-5BA61051FADE}" dt="2026-05-05T08:07:22.634" v="22" actId="20577"/>
          <ac:spMkLst>
            <pc:docMk/>
            <pc:sldMk cId="1164904677" sldId="343"/>
            <ac:spMk id="3" creationId="{C6941268-731F-981A-1007-2309417C4141}"/>
          </ac:spMkLst>
        </pc:spChg>
      </pc:sldChg>
      <pc:sldChg chg="modSp">
        <pc:chgData name="Guest User" userId="S::urn:spo:tenantanon#5813cc51-31c7-4d29-a1be-fc6cb1b77e1c::" providerId="AD" clId="Web-{CCD6C3EA-43EC-E9E7-E762-5BA61051FADE}" dt="2026-05-05T08:06:23.240" v="18" actId="20577"/>
        <pc:sldMkLst>
          <pc:docMk/>
          <pc:sldMk cId="1654319237" sldId="350"/>
        </pc:sldMkLst>
        <pc:spChg chg="mod">
          <ac:chgData name="Guest User" userId="S::urn:spo:tenantanon#5813cc51-31c7-4d29-a1be-fc6cb1b77e1c::" providerId="AD" clId="Web-{CCD6C3EA-43EC-E9E7-E762-5BA61051FADE}" dt="2026-05-05T08:06:23.240" v="18" actId="20577"/>
          <ac:spMkLst>
            <pc:docMk/>
            <pc:sldMk cId="1654319237" sldId="350"/>
            <ac:spMk id="3" creationId="{7409DFBF-1115-D549-B0AC-023DC7604974}"/>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CFB83F7-A80E-4163-8E70-132AD94BA9CF}" type="doc">
      <dgm:prSet loTypeId="urn:microsoft.com/office/officeart/2018/5/layout/IconLeafLabelList" loCatId="icon" qsTypeId="urn:microsoft.com/office/officeart/2005/8/quickstyle/simple1" qsCatId="simple" csTypeId="urn:microsoft.com/office/officeart/2018/5/colors/Iconchunking_neutralbg_accent2_2" csCatId="accent2" phldr="1"/>
      <dgm:spPr/>
      <dgm:t>
        <a:bodyPr/>
        <a:lstStyle/>
        <a:p>
          <a:endParaRPr lang="en-US"/>
        </a:p>
      </dgm:t>
    </dgm:pt>
    <dgm:pt modelId="{BAE64EF3-4654-45B7-8917-ABDD09ED167E}">
      <dgm:prSet/>
      <dgm:spPr/>
      <dgm:t>
        <a:bodyPr/>
        <a:lstStyle/>
        <a:p>
          <a:pPr>
            <a:lnSpc>
              <a:spcPct val="100000"/>
            </a:lnSpc>
            <a:defRPr cap="all"/>
          </a:pPr>
          <a:r>
            <a:rPr lang="en-US"/>
            <a:t>Introduction</a:t>
          </a:r>
        </a:p>
      </dgm:t>
    </dgm:pt>
    <dgm:pt modelId="{47445A77-927F-4497-B6A1-4E8984B457E3}" type="parTrans" cxnId="{3D6747C2-7AF5-4826-BBC7-A2F575684BCD}">
      <dgm:prSet/>
      <dgm:spPr/>
      <dgm:t>
        <a:bodyPr/>
        <a:lstStyle/>
        <a:p>
          <a:endParaRPr lang="en-US"/>
        </a:p>
      </dgm:t>
    </dgm:pt>
    <dgm:pt modelId="{D3014873-230E-48D5-A363-C3402A3F8364}" type="sibTrans" cxnId="{3D6747C2-7AF5-4826-BBC7-A2F575684BCD}">
      <dgm:prSet/>
      <dgm:spPr/>
      <dgm:t>
        <a:bodyPr/>
        <a:lstStyle/>
        <a:p>
          <a:endParaRPr lang="en-US"/>
        </a:p>
      </dgm:t>
    </dgm:pt>
    <dgm:pt modelId="{99C42D06-A569-4064-B235-39F783EC2AE4}">
      <dgm:prSet/>
      <dgm:spPr/>
      <dgm:t>
        <a:bodyPr/>
        <a:lstStyle/>
        <a:p>
          <a:pPr>
            <a:lnSpc>
              <a:spcPct val="100000"/>
            </a:lnSpc>
            <a:defRPr cap="all"/>
          </a:pPr>
          <a:r>
            <a:rPr lang="en-US"/>
            <a:t>Proposed Methodology</a:t>
          </a:r>
        </a:p>
      </dgm:t>
    </dgm:pt>
    <dgm:pt modelId="{0A6FEC7C-C254-4514-9329-7244A16BEE8C}" type="parTrans" cxnId="{075D53BD-5B13-4A54-A498-81F0569E8229}">
      <dgm:prSet/>
      <dgm:spPr/>
      <dgm:t>
        <a:bodyPr/>
        <a:lstStyle/>
        <a:p>
          <a:endParaRPr lang="en-US"/>
        </a:p>
      </dgm:t>
    </dgm:pt>
    <dgm:pt modelId="{EA1A3589-527B-4959-87FB-B55C3A800A89}" type="sibTrans" cxnId="{075D53BD-5B13-4A54-A498-81F0569E8229}">
      <dgm:prSet/>
      <dgm:spPr/>
      <dgm:t>
        <a:bodyPr/>
        <a:lstStyle/>
        <a:p>
          <a:endParaRPr lang="en-US"/>
        </a:p>
      </dgm:t>
    </dgm:pt>
    <dgm:pt modelId="{6A5D6F31-4356-4D6B-8534-BC171A27C626}">
      <dgm:prSet/>
      <dgm:spPr/>
      <dgm:t>
        <a:bodyPr/>
        <a:lstStyle/>
        <a:p>
          <a:pPr>
            <a:lnSpc>
              <a:spcPct val="100000"/>
            </a:lnSpc>
            <a:defRPr cap="all"/>
          </a:pPr>
          <a:r>
            <a:rPr lang="en-US"/>
            <a:t>Results &amp; Discussion</a:t>
          </a:r>
        </a:p>
      </dgm:t>
    </dgm:pt>
    <dgm:pt modelId="{B91732D1-3EEA-4F34-B29A-27CBC7EC3492}" type="parTrans" cxnId="{90A238DE-C74A-495F-AB4A-C2170DE533D9}">
      <dgm:prSet/>
      <dgm:spPr/>
      <dgm:t>
        <a:bodyPr/>
        <a:lstStyle/>
        <a:p>
          <a:endParaRPr lang="en-US"/>
        </a:p>
      </dgm:t>
    </dgm:pt>
    <dgm:pt modelId="{D823D19C-1B2B-47AE-8CB3-ECE81FBB174C}" type="sibTrans" cxnId="{90A238DE-C74A-495F-AB4A-C2170DE533D9}">
      <dgm:prSet/>
      <dgm:spPr/>
      <dgm:t>
        <a:bodyPr/>
        <a:lstStyle/>
        <a:p>
          <a:endParaRPr lang="en-US"/>
        </a:p>
      </dgm:t>
    </dgm:pt>
    <dgm:pt modelId="{47CF3421-3441-4311-9B87-2B6892397442}">
      <dgm:prSet/>
      <dgm:spPr/>
      <dgm:t>
        <a:bodyPr/>
        <a:lstStyle/>
        <a:p>
          <a:pPr>
            <a:lnSpc>
              <a:spcPct val="100000"/>
            </a:lnSpc>
            <a:defRPr cap="all"/>
          </a:pPr>
          <a:r>
            <a:rPr lang="en-US" dirty="0"/>
            <a:t>Challenges and future work</a:t>
          </a:r>
        </a:p>
      </dgm:t>
    </dgm:pt>
    <dgm:pt modelId="{0732E3AD-A188-45DE-BA74-198A4716A46E}" type="parTrans" cxnId="{CDEAF947-D8D9-47CF-8BD6-1C81FD75C7A6}">
      <dgm:prSet/>
      <dgm:spPr/>
      <dgm:t>
        <a:bodyPr/>
        <a:lstStyle/>
        <a:p>
          <a:endParaRPr lang="en-US"/>
        </a:p>
      </dgm:t>
    </dgm:pt>
    <dgm:pt modelId="{25AF609A-051D-40C4-AB14-1E425B6E6582}" type="sibTrans" cxnId="{CDEAF947-D8D9-47CF-8BD6-1C81FD75C7A6}">
      <dgm:prSet/>
      <dgm:spPr/>
      <dgm:t>
        <a:bodyPr/>
        <a:lstStyle/>
        <a:p>
          <a:endParaRPr lang="en-US"/>
        </a:p>
      </dgm:t>
    </dgm:pt>
    <dgm:pt modelId="{7D4B59A3-E105-4A6E-B11A-9C0D1B363BDB}" type="pres">
      <dgm:prSet presAssocID="{BCFB83F7-A80E-4163-8E70-132AD94BA9CF}" presName="root" presStyleCnt="0">
        <dgm:presLayoutVars>
          <dgm:dir/>
          <dgm:resizeHandles val="exact"/>
        </dgm:presLayoutVars>
      </dgm:prSet>
      <dgm:spPr/>
    </dgm:pt>
    <dgm:pt modelId="{C3660CFA-7519-4751-956D-333845220EBE}" type="pres">
      <dgm:prSet presAssocID="{BAE64EF3-4654-45B7-8917-ABDD09ED167E}" presName="compNode" presStyleCnt="0"/>
      <dgm:spPr/>
    </dgm:pt>
    <dgm:pt modelId="{01567884-D442-48D3-BABE-1E63CD063AEA}" type="pres">
      <dgm:prSet presAssocID="{BAE64EF3-4654-45B7-8917-ABDD09ED167E}" presName="iconBgRect" presStyleLbl="bgShp" presStyleIdx="0" presStyleCnt="4"/>
      <dgm:spPr>
        <a:prstGeom prst="round2DiagRect">
          <a:avLst>
            <a:gd name="adj1" fmla="val 29727"/>
            <a:gd name="adj2" fmla="val 0"/>
          </a:avLst>
        </a:prstGeom>
      </dgm:spPr>
    </dgm:pt>
    <dgm:pt modelId="{10977677-079A-44F6-80FF-459C8BEC3F80}" type="pres">
      <dgm:prSet presAssocID="{BAE64EF3-4654-45B7-8917-ABDD09ED167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ke"/>
        </a:ext>
      </dgm:extLst>
    </dgm:pt>
    <dgm:pt modelId="{E4B785F6-C5A1-48F2-93EB-0D56E4AA4C01}" type="pres">
      <dgm:prSet presAssocID="{BAE64EF3-4654-45B7-8917-ABDD09ED167E}" presName="spaceRect" presStyleCnt="0"/>
      <dgm:spPr/>
    </dgm:pt>
    <dgm:pt modelId="{9372ABD0-D5B6-45B6-9C0A-67B47521B8B3}" type="pres">
      <dgm:prSet presAssocID="{BAE64EF3-4654-45B7-8917-ABDD09ED167E}" presName="textRect" presStyleLbl="revTx" presStyleIdx="0" presStyleCnt="4">
        <dgm:presLayoutVars>
          <dgm:chMax val="1"/>
          <dgm:chPref val="1"/>
        </dgm:presLayoutVars>
      </dgm:prSet>
      <dgm:spPr/>
    </dgm:pt>
    <dgm:pt modelId="{6607E52A-6C3F-44B2-A06D-1DE4C6118FBB}" type="pres">
      <dgm:prSet presAssocID="{D3014873-230E-48D5-A363-C3402A3F8364}" presName="sibTrans" presStyleCnt="0"/>
      <dgm:spPr/>
    </dgm:pt>
    <dgm:pt modelId="{F3EC8375-34F1-4445-8217-040755EFCF0C}" type="pres">
      <dgm:prSet presAssocID="{99C42D06-A569-4064-B235-39F783EC2AE4}" presName="compNode" presStyleCnt="0"/>
      <dgm:spPr/>
    </dgm:pt>
    <dgm:pt modelId="{DB830A33-F066-4312-802A-F3E08CB037E6}" type="pres">
      <dgm:prSet presAssocID="{99C42D06-A569-4064-B235-39F783EC2AE4}" presName="iconBgRect" presStyleLbl="bgShp" presStyleIdx="1" presStyleCnt="4"/>
      <dgm:spPr>
        <a:prstGeom prst="round2DiagRect">
          <a:avLst>
            <a:gd name="adj1" fmla="val 29727"/>
            <a:gd name="adj2" fmla="val 0"/>
          </a:avLst>
        </a:prstGeom>
      </dgm:spPr>
    </dgm:pt>
    <dgm:pt modelId="{E8074C90-FCF0-4157-B266-FA2B599273FC}" type="pres">
      <dgm:prSet presAssocID="{99C42D06-A569-4064-B235-39F783EC2AE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Enrollment"/>
        </a:ext>
      </dgm:extLst>
    </dgm:pt>
    <dgm:pt modelId="{BDA12D67-2B55-477D-B60B-195916C35F39}" type="pres">
      <dgm:prSet presAssocID="{99C42D06-A569-4064-B235-39F783EC2AE4}" presName="spaceRect" presStyleCnt="0"/>
      <dgm:spPr/>
    </dgm:pt>
    <dgm:pt modelId="{1B1772A7-BCD8-4CAC-AC82-772F61A5DB85}" type="pres">
      <dgm:prSet presAssocID="{99C42D06-A569-4064-B235-39F783EC2AE4}" presName="textRect" presStyleLbl="revTx" presStyleIdx="1" presStyleCnt="4">
        <dgm:presLayoutVars>
          <dgm:chMax val="1"/>
          <dgm:chPref val="1"/>
        </dgm:presLayoutVars>
      </dgm:prSet>
      <dgm:spPr/>
    </dgm:pt>
    <dgm:pt modelId="{D4906B1D-7764-4FAD-B25C-9AE3E4B939E9}" type="pres">
      <dgm:prSet presAssocID="{EA1A3589-527B-4959-87FB-B55C3A800A89}" presName="sibTrans" presStyleCnt="0"/>
      <dgm:spPr/>
    </dgm:pt>
    <dgm:pt modelId="{044484D0-87D5-4707-B567-074A68246E78}" type="pres">
      <dgm:prSet presAssocID="{6A5D6F31-4356-4D6B-8534-BC171A27C626}" presName="compNode" presStyleCnt="0"/>
      <dgm:spPr/>
    </dgm:pt>
    <dgm:pt modelId="{5126184D-C31C-4459-86BC-B7DAEA57F3A9}" type="pres">
      <dgm:prSet presAssocID="{6A5D6F31-4356-4D6B-8534-BC171A27C626}" presName="iconBgRect" presStyleLbl="bgShp" presStyleIdx="2" presStyleCnt="4"/>
      <dgm:spPr>
        <a:prstGeom prst="round2DiagRect">
          <a:avLst>
            <a:gd name="adj1" fmla="val 29727"/>
            <a:gd name="adj2" fmla="val 0"/>
          </a:avLst>
        </a:prstGeom>
      </dgm:spPr>
    </dgm:pt>
    <dgm:pt modelId="{2D2486A5-B2FB-41A3-BCBD-656F8F67EBC3}" type="pres">
      <dgm:prSet presAssocID="{6A5D6F31-4356-4D6B-8534-BC171A27C62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st Case"/>
        </a:ext>
      </dgm:extLst>
    </dgm:pt>
    <dgm:pt modelId="{54F8B3E8-2877-476C-B3E1-EE5946875552}" type="pres">
      <dgm:prSet presAssocID="{6A5D6F31-4356-4D6B-8534-BC171A27C626}" presName="spaceRect" presStyleCnt="0"/>
      <dgm:spPr/>
    </dgm:pt>
    <dgm:pt modelId="{85C7E7A7-5AC1-4058-9AF8-1D950B861BB2}" type="pres">
      <dgm:prSet presAssocID="{6A5D6F31-4356-4D6B-8534-BC171A27C626}" presName="textRect" presStyleLbl="revTx" presStyleIdx="2" presStyleCnt="4">
        <dgm:presLayoutVars>
          <dgm:chMax val="1"/>
          <dgm:chPref val="1"/>
        </dgm:presLayoutVars>
      </dgm:prSet>
      <dgm:spPr/>
    </dgm:pt>
    <dgm:pt modelId="{701D86AF-657F-4AB6-AA15-2D127B7F1CF5}" type="pres">
      <dgm:prSet presAssocID="{D823D19C-1B2B-47AE-8CB3-ECE81FBB174C}" presName="sibTrans" presStyleCnt="0"/>
      <dgm:spPr/>
    </dgm:pt>
    <dgm:pt modelId="{E1775B85-051B-4461-88BD-705BF18B1368}" type="pres">
      <dgm:prSet presAssocID="{47CF3421-3441-4311-9B87-2B6892397442}" presName="compNode" presStyleCnt="0"/>
      <dgm:spPr/>
    </dgm:pt>
    <dgm:pt modelId="{179EA544-0025-44E3-BBF8-7B49CB10AC68}" type="pres">
      <dgm:prSet presAssocID="{47CF3421-3441-4311-9B87-2B6892397442}" presName="iconBgRect" presStyleLbl="bgShp" presStyleIdx="3" presStyleCnt="4"/>
      <dgm:spPr>
        <a:prstGeom prst="round2DiagRect">
          <a:avLst>
            <a:gd name="adj1" fmla="val 29727"/>
            <a:gd name="adj2" fmla="val 0"/>
          </a:avLst>
        </a:prstGeom>
      </dgm:spPr>
    </dgm:pt>
    <dgm:pt modelId="{D013855F-4EB5-4E60-8B2A-E8D7086B345C}" type="pres">
      <dgm:prSet presAssocID="{47CF3421-3441-4311-9B87-2B689239744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
        </a:ext>
      </dgm:extLst>
    </dgm:pt>
    <dgm:pt modelId="{E4FEF98C-0AA7-4791-9F3C-CFA8F4909A31}" type="pres">
      <dgm:prSet presAssocID="{47CF3421-3441-4311-9B87-2B6892397442}" presName="spaceRect" presStyleCnt="0"/>
      <dgm:spPr/>
    </dgm:pt>
    <dgm:pt modelId="{AEA000BB-34A5-477B-814A-2ACAD5A6593A}" type="pres">
      <dgm:prSet presAssocID="{47CF3421-3441-4311-9B87-2B6892397442}" presName="textRect" presStyleLbl="revTx" presStyleIdx="3" presStyleCnt="4">
        <dgm:presLayoutVars>
          <dgm:chMax val="1"/>
          <dgm:chPref val="1"/>
        </dgm:presLayoutVars>
      </dgm:prSet>
      <dgm:spPr/>
    </dgm:pt>
  </dgm:ptLst>
  <dgm:cxnLst>
    <dgm:cxn modelId="{CDEAF947-D8D9-47CF-8BD6-1C81FD75C7A6}" srcId="{BCFB83F7-A80E-4163-8E70-132AD94BA9CF}" destId="{47CF3421-3441-4311-9B87-2B6892397442}" srcOrd="3" destOrd="0" parTransId="{0732E3AD-A188-45DE-BA74-198A4716A46E}" sibTransId="{25AF609A-051D-40C4-AB14-1E425B6E6582}"/>
    <dgm:cxn modelId="{8AC42F74-426E-45D7-A115-1BAEE645D0BF}" type="presOf" srcId="{BCFB83F7-A80E-4163-8E70-132AD94BA9CF}" destId="{7D4B59A3-E105-4A6E-B11A-9C0D1B363BDB}" srcOrd="0" destOrd="0" presId="urn:microsoft.com/office/officeart/2018/5/layout/IconLeafLabelList"/>
    <dgm:cxn modelId="{A7C8B975-1CEE-4CDA-85D2-395624BD6A94}" type="presOf" srcId="{99C42D06-A569-4064-B235-39F783EC2AE4}" destId="{1B1772A7-BCD8-4CAC-AC82-772F61A5DB85}" srcOrd="0" destOrd="0" presId="urn:microsoft.com/office/officeart/2018/5/layout/IconLeafLabelList"/>
    <dgm:cxn modelId="{768B148D-0D25-49AC-93A2-BE45AA6917EC}" type="presOf" srcId="{BAE64EF3-4654-45B7-8917-ABDD09ED167E}" destId="{9372ABD0-D5B6-45B6-9C0A-67B47521B8B3}" srcOrd="0" destOrd="0" presId="urn:microsoft.com/office/officeart/2018/5/layout/IconLeafLabelList"/>
    <dgm:cxn modelId="{1E74ADB5-0965-49F6-A02B-AB99D9AB2E6D}" type="presOf" srcId="{47CF3421-3441-4311-9B87-2B6892397442}" destId="{AEA000BB-34A5-477B-814A-2ACAD5A6593A}" srcOrd="0" destOrd="0" presId="urn:microsoft.com/office/officeart/2018/5/layout/IconLeafLabelList"/>
    <dgm:cxn modelId="{075D53BD-5B13-4A54-A498-81F0569E8229}" srcId="{BCFB83F7-A80E-4163-8E70-132AD94BA9CF}" destId="{99C42D06-A569-4064-B235-39F783EC2AE4}" srcOrd="1" destOrd="0" parTransId="{0A6FEC7C-C254-4514-9329-7244A16BEE8C}" sibTransId="{EA1A3589-527B-4959-87FB-B55C3A800A89}"/>
    <dgm:cxn modelId="{3D6747C2-7AF5-4826-BBC7-A2F575684BCD}" srcId="{BCFB83F7-A80E-4163-8E70-132AD94BA9CF}" destId="{BAE64EF3-4654-45B7-8917-ABDD09ED167E}" srcOrd="0" destOrd="0" parTransId="{47445A77-927F-4497-B6A1-4E8984B457E3}" sibTransId="{D3014873-230E-48D5-A363-C3402A3F8364}"/>
    <dgm:cxn modelId="{3328DED2-FB5D-44C0-9AAF-7876DC1DFA85}" type="presOf" srcId="{6A5D6F31-4356-4D6B-8534-BC171A27C626}" destId="{85C7E7A7-5AC1-4058-9AF8-1D950B861BB2}" srcOrd="0" destOrd="0" presId="urn:microsoft.com/office/officeart/2018/5/layout/IconLeafLabelList"/>
    <dgm:cxn modelId="{90A238DE-C74A-495F-AB4A-C2170DE533D9}" srcId="{BCFB83F7-A80E-4163-8E70-132AD94BA9CF}" destId="{6A5D6F31-4356-4D6B-8534-BC171A27C626}" srcOrd="2" destOrd="0" parTransId="{B91732D1-3EEA-4F34-B29A-27CBC7EC3492}" sibTransId="{D823D19C-1B2B-47AE-8CB3-ECE81FBB174C}"/>
    <dgm:cxn modelId="{5292DC72-C6D5-4F02-9695-C033AF6354B7}" type="presParOf" srcId="{7D4B59A3-E105-4A6E-B11A-9C0D1B363BDB}" destId="{C3660CFA-7519-4751-956D-333845220EBE}" srcOrd="0" destOrd="0" presId="urn:microsoft.com/office/officeart/2018/5/layout/IconLeafLabelList"/>
    <dgm:cxn modelId="{4821710B-730A-4401-981F-ADDF258F7548}" type="presParOf" srcId="{C3660CFA-7519-4751-956D-333845220EBE}" destId="{01567884-D442-48D3-BABE-1E63CD063AEA}" srcOrd="0" destOrd="0" presId="urn:microsoft.com/office/officeart/2018/5/layout/IconLeafLabelList"/>
    <dgm:cxn modelId="{AB5AC33E-26E1-44EA-ACC6-7EAEE78CA601}" type="presParOf" srcId="{C3660CFA-7519-4751-956D-333845220EBE}" destId="{10977677-079A-44F6-80FF-459C8BEC3F80}" srcOrd="1" destOrd="0" presId="urn:microsoft.com/office/officeart/2018/5/layout/IconLeafLabelList"/>
    <dgm:cxn modelId="{3213057D-468C-43D8-A724-1B79F5D373F0}" type="presParOf" srcId="{C3660CFA-7519-4751-956D-333845220EBE}" destId="{E4B785F6-C5A1-48F2-93EB-0D56E4AA4C01}" srcOrd="2" destOrd="0" presId="urn:microsoft.com/office/officeart/2018/5/layout/IconLeafLabelList"/>
    <dgm:cxn modelId="{69CA2AB4-9B6D-4304-8143-03C89ECA1DD3}" type="presParOf" srcId="{C3660CFA-7519-4751-956D-333845220EBE}" destId="{9372ABD0-D5B6-45B6-9C0A-67B47521B8B3}" srcOrd="3" destOrd="0" presId="urn:microsoft.com/office/officeart/2018/5/layout/IconLeafLabelList"/>
    <dgm:cxn modelId="{7D9D1AC9-2D73-44A0-A3DB-9D53816EBB48}" type="presParOf" srcId="{7D4B59A3-E105-4A6E-B11A-9C0D1B363BDB}" destId="{6607E52A-6C3F-44B2-A06D-1DE4C6118FBB}" srcOrd="1" destOrd="0" presId="urn:microsoft.com/office/officeart/2018/5/layout/IconLeafLabelList"/>
    <dgm:cxn modelId="{7275E1C7-DC1C-440D-AC6C-F1FAEA4F4502}" type="presParOf" srcId="{7D4B59A3-E105-4A6E-B11A-9C0D1B363BDB}" destId="{F3EC8375-34F1-4445-8217-040755EFCF0C}" srcOrd="2" destOrd="0" presId="urn:microsoft.com/office/officeart/2018/5/layout/IconLeafLabelList"/>
    <dgm:cxn modelId="{8C058272-5381-405D-A263-7DB8D593CE2B}" type="presParOf" srcId="{F3EC8375-34F1-4445-8217-040755EFCF0C}" destId="{DB830A33-F066-4312-802A-F3E08CB037E6}" srcOrd="0" destOrd="0" presId="urn:microsoft.com/office/officeart/2018/5/layout/IconLeafLabelList"/>
    <dgm:cxn modelId="{4AD1AABD-36BF-4A7A-8A66-089915C249E2}" type="presParOf" srcId="{F3EC8375-34F1-4445-8217-040755EFCF0C}" destId="{E8074C90-FCF0-4157-B266-FA2B599273FC}" srcOrd="1" destOrd="0" presId="urn:microsoft.com/office/officeart/2018/5/layout/IconLeafLabelList"/>
    <dgm:cxn modelId="{906E54CA-08CC-455A-B88A-3477648C620A}" type="presParOf" srcId="{F3EC8375-34F1-4445-8217-040755EFCF0C}" destId="{BDA12D67-2B55-477D-B60B-195916C35F39}" srcOrd="2" destOrd="0" presId="urn:microsoft.com/office/officeart/2018/5/layout/IconLeafLabelList"/>
    <dgm:cxn modelId="{46951A58-AE9B-4461-B7BD-B6011ADA2FEE}" type="presParOf" srcId="{F3EC8375-34F1-4445-8217-040755EFCF0C}" destId="{1B1772A7-BCD8-4CAC-AC82-772F61A5DB85}" srcOrd="3" destOrd="0" presId="urn:microsoft.com/office/officeart/2018/5/layout/IconLeafLabelList"/>
    <dgm:cxn modelId="{C77B9731-9B17-43EC-9A0C-9E32979754E2}" type="presParOf" srcId="{7D4B59A3-E105-4A6E-B11A-9C0D1B363BDB}" destId="{D4906B1D-7764-4FAD-B25C-9AE3E4B939E9}" srcOrd="3" destOrd="0" presId="urn:microsoft.com/office/officeart/2018/5/layout/IconLeafLabelList"/>
    <dgm:cxn modelId="{47AC5904-0E5E-4F50-BF37-232D572F3581}" type="presParOf" srcId="{7D4B59A3-E105-4A6E-B11A-9C0D1B363BDB}" destId="{044484D0-87D5-4707-B567-074A68246E78}" srcOrd="4" destOrd="0" presId="urn:microsoft.com/office/officeart/2018/5/layout/IconLeafLabelList"/>
    <dgm:cxn modelId="{EA60EED7-FBB7-4FD4-9004-4DE4CFD568B2}" type="presParOf" srcId="{044484D0-87D5-4707-B567-074A68246E78}" destId="{5126184D-C31C-4459-86BC-B7DAEA57F3A9}" srcOrd="0" destOrd="0" presId="urn:microsoft.com/office/officeart/2018/5/layout/IconLeafLabelList"/>
    <dgm:cxn modelId="{33B604BB-5CAF-4B26-826D-1666B2356075}" type="presParOf" srcId="{044484D0-87D5-4707-B567-074A68246E78}" destId="{2D2486A5-B2FB-41A3-BCBD-656F8F67EBC3}" srcOrd="1" destOrd="0" presId="urn:microsoft.com/office/officeart/2018/5/layout/IconLeafLabelList"/>
    <dgm:cxn modelId="{29937D09-B524-444B-8ED3-95C620E9285B}" type="presParOf" srcId="{044484D0-87D5-4707-B567-074A68246E78}" destId="{54F8B3E8-2877-476C-B3E1-EE5946875552}" srcOrd="2" destOrd="0" presId="urn:microsoft.com/office/officeart/2018/5/layout/IconLeafLabelList"/>
    <dgm:cxn modelId="{072E4F4D-2444-4321-9CC5-EE3CF621900E}" type="presParOf" srcId="{044484D0-87D5-4707-B567-074A68246E78}" destId="{85C7E7A7-5AC1-4058-9AF8-1D950B861BB2}" srcOrd="3" destOrd="0" presId="urn:microsoft.com/office/officeart/2018/5/layout/IconLeafLabelList"/>
    <dgm:cxn modelId="{7E8A294C-32A8-45CF-868C-164AD37BF80D}" type="presParOf" srcId="{7D4B59A3-E105-4A6E-B11A-9C0D1B363BDB}" destId="{701D86AF-657F-4AB6-AA15-2D127B7F1CF5}" srcOrd="5" destOrd="0" presId="urn:microsoft.com/office/officeart/2018/5/layout/IconLeafLabelList"/>
    <dgm:cxn modelId="{8D0FB9DA-1FE1-4F73-94FE-FFAB6BB2A144}" type="presParOf" srcId="{7D4B59A3-E105-4A6E-B11A-9C0D1B363BDB}" destId="{E1775B85-051B-4461-88BD-705BF18B1368}" srcOrd="6" destOrd="0" presId="urn:microsoft.com/office/officeart/2018/5/layout/IconLeafLabelList"/>
    <dgm:cxn modelId="{2F04B90C-9802-4E3B-9387-F8013FD9F4B8}" type="presParOf" srcId="{E1775B85-051B-4461-88BD-705BF18B1368}" destId="{179EA544-0025-44E3-BBF8-7B49CB10AC68}" srcOrd="0" destOrd="0" presId="urn:microsoft.com/office/officeart/2018/5/layout/IconLeafLabelList"/>
    <dgm:cxn modelId="{BA40AFB1-E8EC-481F-AA87-B0CB840FA9C6}" type="presParOf" srcId="{E1775B85-051B-4461-88BD-705BF18B1368}" destId="{D013855F-4EB5-4E60-8B2A-E8D7086B345C}" srcOrd="1" destOrd="0" presId="urn:microsoft.com/office/officeart/2018/5/layout/IconLeafLabelList"/>
    <dgm:cxn modelId="{80191458-A174-41EE-BEC4-0FD356E6E2D8}" type="presParOf" srcId="{E1775B85-051B-4461-88BD-705BF18B1368}" destId="{E4FEF98C-0AA7-4791-9F3C-CFA8F4909A31}" srcOrd="2" destOrd="0" presId="urn:microsoft.com/office/officeart/2018/5/layout/IconLeafLabelList"/>
    <dgm:cxn modelId="{9C2D66FE-561B-46B4-A994-90AB837F99A9}" type="presParOf" srcId="{E1775B85-051B-4461-88BD-705BF18B1368}" destId="{AEA000BB-34A5-477B-814A-2ACAD5A6593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C101BDC-2A22-4838-820D-8EB04CC5000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B45ED47-F3AA-460A-8FA1-EA026E854EFE}">
      <dgm:prSet/>
      <dgm:spPr/>
      <dgm:t>
        <a:bodyPr/>
        <a:lstStyle/>
        <a:p>
          <a:pPr>
            <a:lnSpc>
              <a:spcPct val="100000"/>
            </a:lnSpc>
          </a:pPr>
          <a:r>
            <a:rPr lang="en-US" b="1" dirty="0"/>
            <a:t>Building footprint segmentation </a:t>
          </a:r>
          <a:r>
            <a:rPr lang="en-US" dirty="0"/>
            <a:t>involves identifying and outlining the location and shape of buildings from aerial or satellite imagery. </a:t>
          </a:r>
        </a:p>
      </dgm:t>
    </dgm:pt>
    <dgm:pt modelId="{59F73485-EA58-449B-B852-83DD84FAB843}" type="parTrans" cxnId="{1A42C737-7857-4C9A-948B-2464F82776BF}">
      <dgm:prSet/>
      <dgm:spPr/>
      <dgm:t>
        <a:bodyPr/>
        <a:lstStyle/>
        <a:p>
          <a:endParaRPr lang="en-US"/>
        </a:p>
      </dgm:t>
    </dgm:pt>
    <dgm:pt modelId="{7AB2DFD1-6B1B-41F7-9A19-C02A056070CA}" type="sibTrans" cxnId="{1A42C737-7857-4C9A-948B-2464F82776BF}">
      <dgm:prSet/>
      <dgm:spPr/>
      <dgm:t>
        <a:bodyPr/>
        <a:lstStyle/>
        <a:p>
          <a:endParaRPr lang="en-US"/>
        </a:p>
      </dgm:t>
    </dgm:pt>
    <dgm:pt modelId="{0E6850FD-6768-44FA-A3ED-073FAF817B76}">
      <dgm:prSet/>
      <dgm:spPr/>
      <dgm:t>
        <a:bodyPr/>
        <a:lstStyle/>
        <a:p>
          <a:pPr>
            <a:lnSpc>
              <a:spcPct val="100000"/>
            </a:lnSpc>
          </a:pPr>
          <a:r>
            <a:rPr lang="en-US" dirty="0"/>
            <a:t>Building footprints are important for many applications, like urban planning, infrastructure management, and land use analysis. </a:t>
          </a:r>
        </a:p>
      </dgm:t>
    </dgm:pt>
    <dgm:pt modelId="{92B4B1B1-562C-43D9-BD2F-16556D62D9AF}" type="parTrans" cxnId="{948FEE5D-DCE1-4911-BE0D-955CC41154D0}">
      <dgm:prSet/>
      <dgm:spPr/>
      <dgm:t>
        <a:bodyPr/>
        <a:lstStyle/>
        <a:p>
          <a:endParaRPr lang="en-US"/>
        </a:p>
      </dgm:t>
    </dgm:pt>
    <dgm:pt modelId="{51447EF4-18BD-42F4-A3C8-71A395A86768}" type="sibTrans" cxnId="{948FEE5D-DCE1-4911-BE0D-955CC41154D0}">
      <dgm:prSet/>
      <dgm:spPr/>
      <dgm:t>
        <a:bodyPr/>
        <a:lstStyle/>
        <a:p>
          <a:endParaRPr lang="en-US"/>
        </a:p>
      </dgm:t>
    </dgm:pt>
    <dgm:pt modelId="{30EBE851-D39E-4E1C-9D41-297807EA4371}">
      <dgm:prSet/>
      <dgm:spPr/>
      <dgm:t>
        <a:bodyPr/>
        <a:lstStyle/>
        <a:p>
          <a:pPr>
            <a:lnSpc>
              <a:spcPct val="100000"/>
            </a:lnSpc>
          </a:pPr>
          <a:r>
            <a:rPr lang="en-US" dirty="0"/>
            <a:t>Accurate segmentation of building footprints is needed for change detection, which enables the identification of new constructions, demolitions, or building alterations over time.</a:t>
          </a:r>
        </a:p>
      </dgm:t>
    </dgm:pt>
    <dgm:pt modelId="{5DAE3B70-48A6-402B-915F-D01CCB486363}" type="parTrans" cxnId="{25218C11-9894-444C-A666-5F20B0A6481E}">
      <dgm:prSet/>
      <dgm:spPr/>
      <dgm:t>
        <a:bodyPr/>
        <a:lstStyle/>
        <a:p>
          <a:endParaRPr lang="en-US"/>
        </a:p>
      </dgm:t>
    </dgm:pt>
    <dgm:pt modelId="{43F65E75-A2A8-4F98-BBE3-D63A6FE98C96}" type="sibTrans" cxnId="{25218C11-9894-444C-A666-5F20B0A6481E}">
      <dgm:prSet/>
      <dgm:spPr/>
      <dgm:t>
        <a:bodyPr/>
        <a:lstStyle/>
        <a:p>
          <a:endParaRPr lang="en-US"/>
        </a:p>
      </dgm:t>
    </dgm:pt>
    <dgm:pt modelId="{37457BFF-58F5-4606-8EBF-95B0DA54C9DC}" type="pres">
      <dgm:prSet presAssocID="{AC101BDC-2A22-4838-820D-8EB04CC50001}" presName="root" presStyleCnt="0">
        <dgm:presLayoutVars>
          <dgm:dir/>
          <dgm:resizeHandles val="exact"/>
        </dgm:presLayoutVars>
      </dgm:prSet>
      <dgm:spPr/>
    </dgm:pt>
    <dgm:pt modelId="{C55882EA-8493-4B72-A752-1FBE6EA9FD60}" type="pres">
      <dgm:prSet presAssocID="{8B45ED47-F3AA-460A-8FA1-EA026E854EFE}" presName="compNode" presStyleCnt="0"/>
      <dgm:spPr/>
    </dgm:pt>
    <dgm:pt modelId="{FB5A8772-2411-4019-BA5B-9D3BA15AF058}" type="pres">
      <dgm:prSet presAssocID="{8B45ED47-F3AA-460A-8FA1-EA026E854EFE}" presName="bgRect" presStyleLbl="bgShp" presStyleIdx="0" presStyleCnt="3"/>
      <dgm:spPr/>
    </dgm:pt>
    <dgm:pt modelId="{D1DD9B2B-D90E-4FD4-9A4E-3180FB6490FB}" type="pres">
      <dgm:prSet presAssocID="{8B45ED47-F3AA-460A-8FA1-EA026E854EF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atellite"/>
        </a:ext>
      </dgm:extLst>
    </dgm:pt>
    <dgm:pt modelId="{0A2EE3B9-74F9-42BC-9ED9-6E275673330C}" type="pres">
      <dgm:prSet presAssocID="{8B45ED47-F3AA-460A-8FA1-EA026E854EFE}" presName="spaceRect" presStyleCnt="0"/>
      <dgm:spPr/>
    </dgm:pt>
    <dgm:pt modelId="{9A91790E-BBD2-4E8C-806F-F120E44499B3}" type="pres">
      <dgm:prSet presAssocID="{8B45ED47-F3AA-460A-8FA1-EA026E854EFE}" presName="parTx" presStyleLbl="revTx" presStyleIdx="0" presStyleCnt="3">
        <dgm:presLayoutVars>
          <dgm:chMax val="0"/>
          <dgm:chPref val="0"/>
        </dgm:presLayoutVars>
      </dgm:prSet>
      <dgm:spPr/>
    </dgm:pt>
    <dgm:pt modelId="{B01D5F62-08D4-4298-9138-AB9D7DE9BF01}" type="pres">
      <dgm:prSet presAssocID="{7AB2DFD1-6B1B-41F7-9A19-C02A056070CA}" presName="sibTrans" presStyleCnt="0"/>
      <dgm:spPr/>
    </dgm:pt>
    <dgm:pt modelId="{8C6F68F1-21EF-4930-8955-FB4D390F3D1C}" type="pres">
      <dgm:prSet presAssocID="{0E6850FD-6768-44FA-A3ED-073FAF817B76}" presName="compNode" presStyleCnt="0"/>
      <dgm:spPr/>
    </dgm:pt>
    <dgm:pt modelId="{C0F4027D-FA48-4B6D-8602-21FE83845F00}" type="pres">
      <dgm:prSet presAssocID="{0E6850FD-6768-44FA-A3ED-073FAF817B76}" presName="bgRect" presStyleLbl="bgShp" presStyleIdx="1" presStyleCnt="3"/>
      <dgm:spPr/>
    </dgm:pt>
    <dgm:pt modelId="{5A801F58-A211-4378-8A37-BD26C7A367C2}" type="pres">
      <dgm:prSet presAssocID="{0E6850FD-6768-44FA-A3ED-073FAF817B7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ootprint"/>
        </a:ext>
      </dgm:extLst>
    </dgm:pt>
    <dgm:pt modelId="{7645666A-D4CF-4C79-9F39-CC42E1F3C14B}" type="pres">
      <dgm:prSet presAssocID="{0E6850FD-6768-44FA-A3ED-073FAF817B76}" presName="spaceRect" presStyleCnt="0"/>
      <dgm:spPr/>
    </dgm:pt>
    <dgm:pt modelId="{37E7B2E2-01FD-40F9-95AF-C1F1C53A8834}" type="pres">
      <dgm:prSet presAssocID="{0E6850FD-6768-44FA-A3ED-073FAF817B76}" presName="parTx" presStyleLbl="revTx" presStyleIdx="1" presStyleCnt="3">
        <dgm:presLayoutVars>
          <dgm:chMax val="0"/>
          <dgm:chPref val="0"/>
        </dgm:presLayoutVars>
      </dgm:prSet>
      <dgm:spPr/>
    </dgm:pt>
    <dgm:pt modelId="{FC1F5AD1-276D-4517-876E-5DEAC98EFA59}" type="pres">
      <dgm:prSet presAssocID="{51447EF4-18BD-42F4-A3C8-71A395A86768}" presName="sibTrans" presStyleCnt="0"/>
      <dgm:spPr/>
    </dgm:pt>
    <dgm:pt modelId="{B0134E93-33C9-48D2-B553-8289536FFE9F}" type="pres">
      <dgm:prSet presAssocID="{30EBE851-D39E-4E1C-9D41-297807EA4371}" presName="compNode" presStyleCnt="0"/>
      <dgm:spPr/>
    </dgm:pt>
    <dgm:pt modelId="{41F164F7-4724-4B11-9D7D-5BF1AB761533}" type="pres">
      <dgm:prSet presAssocID="{30EBE851-D39E-4E1C-9D41-297807EA4371}" presName="bgRect" presStyleLbl="bgShp" presStyleIdx="2" presStyleCnt="3"/>
      <dgm:spPr/>
    </dgm:pt>
    <dgm:pt modelId="{2248E2F0-BA71-4813-8223-EF22B253DB15}" type="pres">
      <dgm:prSet presAssocID="{30EBE851-D39E-4E1C-9D41-297807EA437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ootprints"/>
        </a:ext>
      </dgm:extLst>
    </dgm:pt>
    <dgm:pt modelId="{B4D4C33D-7346-49FF-8F0D-A5082DDCAD2E}" type="pres">
      <dgm:prSet presAssocID="{30EBE851-D39E-4E1C-9D41-297807EA4371}" presName="spaceRect" presStyleCnt="0"/>
      <dgm:spPr/>
    </dgm:pt>
    <dgm:pt modelId="{B9FD97FB-BFA4-4ABB-92AE-647D6D70BCD7}" type="pres">
      <dgm:prSet presAssocID="{30EBE851-D39E-4E1C-9D41-297807EA4371}" presName="parTx" presStyleLbl="revTx" presStyleIdx="2" presStyleCnt="3">
        <dgm:presLayoutVars>
          <dgm:chMax val="0"/>
          <dgm:chPref val="0"/>
        </dgm:presLayoutVars>
      </dgm:prSet>
      <dgm:spPr/>
    </dgm:pt>
  </dgm:ptLst>
  <dgm:cxnLst>
    <dgm:cxn modelId="{25218C11-9894-444C-A666-5F20B0A6481E}" srcId="{AC101BDC-2A22-4838-820D-8EB04CC50001}" destId="{30EBE851-D39E-4E1C-9D41-297807EA4371}" srcOrd="2" destOrd="0" parTransId="{5DAE3B70-48A6-402B-915F-D01CCB486363}" sibTransId="{43F65E75-A2A8-4F98-BBE3-D63A6FE98C96}"/>
    <dgm:cxn modelId="{1A42C737-7857-4C9A-948B-2464F82776BF}" srcId="{AC101BDC-2A22-4838-820D-8EB04CC50001}" destId="{8B45ED47-F3AA-460A-8FA1-EA026E854EFE}" srcOrd="0" destOrd="0" parTransId="{59F73485-EA58-449B-B852-83DD84FAB843}" sibTransId="{7AB2DFD1-6B1B-41F7-9A19-C02A056070CA}"/>
    <dgm:cxn modelId="{948FEE5D-DCE1-4911-BE0D-955CC41154D0}" srcId="{AC101BDC-2A22-4838-820D-8EB04CC50001}" destId="{0E6850FD-6768-44FA-A3ED-073FAF817B76}" srcOrd="1" destOrd="0" parTransId="{92B4B1B1-562C-43D9-BD2F-16556D62D9AF}" sibTransId="{51447EF4-18BD-42F4-A3C8-71A395A86768}"/>
    <dgm:cxn modelId="{5F2F287F-7F70-4451-A0F4-996160429963}" type="presOf" srcId="{0E6850FD-6768-44FA-A3ED-073FAF817B76}" destId="{37E7B2E2-01FD-40F9-95AF-C1F1C53A8834}" srcOrd="0" destOrd="0" presId="urn:microsoft.com/office/officeart/2018/2/layout/IconVerticalSolidList"/>
    <dgm:cxn modelId="{FD45B9A3-F468-489E-908F-FC4D1F953377}" type="presOf" srcId="{30EBE851-D39E-4E1C-9D41-297807EA4371}" destId="{B9FD97FB-BFA4-4ABB-92AE-647D6D70BCD7}" srcOrd="0" destOrd="0" presId="urn:microsoft.com/office/officeart/2018/2/layout/IconVerticalSolidList"/>
    <dgm:cxn modelId="{54F25BF2-7316-4477-99DA-D643E5A3DB03}" type="presOf" srcId="{8B45ED47-F3AA-460A-8FA1-EA026E854EFE}" destId="{9A91790E-BBD2-4E8C-806F-F120E44499B3}" srcOrd="0" destOrd="0" presId="urn:microsoft.com/office/officeart/2018/2/layout/IconVerticalSolidList"/>
    <dgm:cxn modelId="{597FAFF7-7C94-44CF-ABCC-B85B97C0E2B2}" type="presOf" srcId="{AC101BDC-2A22-4838-820D-8EB04CC50001}" destId="{37457BFF-58F5-4606-8EBF-95B0DA54C9DC}" srcOrd="0" destOrd="0" presId="urn:microsoft.com/office/officeart/2018/2/layout/IconVerticalSolidList"/>
    <dgm:cxn modelId="{4024011D-B274-4BD4-B7D6-9CC525A13F4D}" type="presParOf" srcId="{37457BFF-58F5-4606-8EBF-95B0DA54C9DC}" destId="{C55882EA-8493-4B72-A752-1FBE6EA9FD60}" srcOrd="0" destOrd="0" presId="urn:microsoft.com/office/officeart/2018/2/layout/IconVerticalSolidList"/>
    <dgm:cxn modelId="{574586C4-6AA4-41C5-A498-54776C8DA1E7}" type="presParOf" srcId="{C55882EA-8493-4B72-A752-1FBE6EA9FD60}" destId="{FB5A8772-2411-4019-BA5B-9D3BA15AF058}" srcOrd="0" destOrd="0" presId="urn:microsoft.com/office/officeart/2018/2/layout/IconVerticalSolidList"/>
    <dgm:cxn modelId="{DA87441D-103D-4840-8164-E3B7F23215A7}" type="presParOf" srcId="{C55882EA-8493-4B72-A752-1FBE6EA9FD60}" destId="{D1DD9B2B-D90E-4FD4-9A4E-3180FB6490FB}" srcOrd="1" destOrd="0" presId="urn:microsoft.com/office/officeart/2018/2/layout/IconVerticalSolidList"/>
    <dgm:cxn modelId="{9F94B024-35C3-45A8-B88E-0B66EBC35119}" type="presParOf" srcId="{C55882EA-8493-4B72-A752-1FBE6EA9FD60}" destId="{0A2EE3B9-74F9-42BC-9ED9-6E275673330C}" srcOrd="2" destOrd="0" presId="urn:microsoft.com/office/officeart/2018/2/layout/IconVerticalSolidList"/>
    <dgm:cxn modelId="{A88630D9-B47F-461D-A191-C83B2518384C}" type="presParOf" srcId="{C55882EA-8493-4B72-A752-1FBE6EA9FD60}" destId="{9A91790E-BBD2-4E8C-806F-F120E44499B3}" srcOrd="3" destOrd="0" presId="urn:microsoft.com/office/officeart/2018/2/layout/IconVerticalSolidList"/>
    <dgm:cxn modelId="{08F4D6D2-0C06-4833-9CEC-CFB9A8D20EB9}" type="presParOf" srcId="{37457BFF-58F5-4606-8EBF-95B0DA54C9DC}" destId="{B01D5F62-08D4-4298-9138-AB9D7DE9BF01}" srcOrd="1" destOrd="0" presId="urn:microsoft.com/office/officeart/2018/2/layout/IconVerticalSolidList"/>
    <dgm:cxn modelId="{3DF1DDBE-EB96-4590-BABA-0EE50B6CB3E0}" type="presParOf" srcId="{37457BFF-58F5-4606-8EBF-95B0DA54C9DC}" destId="{8C6F68F1-21EF-4930-8955-FB4D390F3D1C}" srcOrd="2" destOrd="0" presId="urn:microsoft.com/office/officeart/2018/2/layout/IconVerticalSolidList"/>
    <dgm:cxn modelId="{255AEB7E-AE3B-496D-B687-B51D4C495F5E}" type="presParOf" srcId="{8C6F68F1-21EF-4930-8955-FB4D390F3D1C}" destId="{C0F4027D-FA48-4B6D-8602-21FE83845F00}" srcOrd="0" destOrd="0" presId="urn:microsoft.com/office/officeart/2018/2/layout/IconVerticalSolidList"/>
    <dgm:cxn modelId="{FED41A57-1CAA-489E-B8A3-D253A85F420E}" type="presParOf" srcId="{8C6F68F1-21EF-4930-8955-FB4D390F3D1C}" destId="{5A801F58-A211-4378-8A37-BD26C7A367C2}" srcOrd="1" destOrd="0" presId="urn:microsoft.com/office/officeart/2018/2/layout/IconVerticalSolidList"/>
    <dgm:cxn modelId="{E3449C5F-63FA-4392-87FE-FB99AA909212}" type="presParOf" srcId="{8C6F68F1-21EF-4930-8955-FB4D390F3D1C}" destId="{7645666A-D4CF-4C79-9F39-CC42E1F3C14B}" srcOrd="2" destOrd="0" presId="urn:microsoft.com/office/officeart/2018/2/layout/IconVerticalSolidList"/>
    <dgm:cxn modelId="{588FB1E4-E575-4143-8B8D-52CB0EFB34C8}" type="presParOf" srcId="{8C6F68F1-21EF-4930-8955-FB4D390F3D1C}" destId="{37E7B2E2-01FD-40F9-95AF-C1F1C53A8834}" srcOrd="3" destOrd="0" presId="urn:microsoft.com/office/officeart/2018/2/layout/IconVerticalSolidList"/>
    <dgm:cxn modelId="{30BCF613-A326-4023-AE3D-1FD41A4DC5B3}" type="presParOf" srcId="{37457BFF-58F5-4606-8EBF-95B0DA54C9DC}" destId="{FC1F5AD1-276D-4517-876E-5DEAC98EFA59}" srcOrd="3" destOrd="0" presId="urn:microsoft.com/office/officeart/2018/2/layout/IconVerticalSolidList"/>
    <dgm:cxn modelId="{551FF865-BA86-4531-9FB9-3F958E73072B}" type="presParOf" srcId="{37457BFF-58F5-4606-8EBF-95B0DA54C9DC}" destId="{B0134E93-33C9-48D2-B553-8289536FFE9F}" srcOrd="4" destOrd="0" presId="urn:microsoft.com/office/officeart/2018/2/layout/IconVerticalSolidList"/>
    <dgm:cxn modelId="{15FF1D6E-EEC3-44B1-9E4D-DC9E0119BA52}" type="presParOf" srcId="{B0134E93-33C9-48D2-B553-8289536FFE9F}" destId="{41F164F7-4724-4B11-9D7D-5BF1AB761533}" srcOrd="0" destOrd="0" presId="urn:microsoft.com/office/officeart/2018/2/layout/IconVerticalSolidList"/>
    <dgm:cxn modelId="{1D6E037E-00B6-4B9E-8A7F-55C6E3737639}" type="presParOf" srcId="{B0134E93-33C9-48D2-B553-8289536FFE9F}" destId="{2248E2F0-BA71-4813-8223-EF22B253DB15}" srcOrd="1" destOrd="0" presId="urn:microsoft.com/office/officeart/2018/2/layout/IconVerticalSolidList"/>
    <dgm:cxn modelId="{0E7196CE-A00A-4958-90D6-082FE5611673}" type="presParOf" srcId="{B0134E93-33C9-48D2-B553-8289536FFE9F}" destId="{B4D4C33D-7346-49FF-8F0D-A5082DDCAD2E}" srcOrd="2" destOrd="0" presId="urn:microsoft.com/office/officeart/2018/2/layout/IconVerticalSolidList"/>
    <dgm:cxn modelId="{1344F26B-5596-4E71-B9ED-560AAA60C861}" type="presParOf" srcId="{B0134E93-33C9-48D2-B553-8289536FFE9F}" destId="{B9FD97FB-BFA4-4ABB-92AE-647D6D70BC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DD91C8D-DE08-4168-BE67-ED98962E654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40058DE-10FB-4324-95F6-74CD8D3F75AD}">
      <dgm:prSet/>
      <dgm:spPr/>
      <dgm:t>
        <a:bodyPr/>
        <a:lstStyle/>
        <a:p>
          <a:r>
            <a:rPr lang="en-US" b="1" dirty="0"/>
            <a:t>Co-registration:</a:t>
          </a:r>
          <a:r>
            <a:rPr lang="en-US" dirty="0"/>
            <a:t> Ensure the images are perfectly aligned pixel-to-pixel. If one image is shifted even slightly, the model will flag the edges of </a:t>
          </a:r>
          <a:r>
            <a:rPr lang="en-US" i="1" dirty="0"/>
            <a:t>every</a:t>
          </a:r>
          <a:r>
            <a:rPr lang="en-US" dirty="0"/>
            <a:t> building as a change.</a:t>
          </a:r>
        </a:p>
      </dgm:t>
    </dgm:pt>
    <dgm:pt modelId="{516A37AD-2B58-4ACD-9569-96081561EB54}" type="parTrans" cxnId="{B3909FE0-98D9-4828-B400-F610AE8D607E}">
      <dgm:prSet/>
      <dgm:spPr/>
      <dgm:t>
        <a:bodyPr/>
        <a:lstStyle/>
        <a:p>
          <a:endParaRPr lang="en-US"/>
        </a:p>
      </dgm:t>
    </dgm:pt>
    <dgm:pt modelId="{3B2F19C1-CA03-48C4-BF07-3F98387CB001}" type="sibTrans" cxnId="{B3909FE0-98D9-4828-B400-F610AE8D607E}">
      <dgm:prSet/>
      <dgm:spPr/>
      <dgm:t>
        <a:bodyPr/>
        <a:lstStyle/>
        <a:p>
          <a:endParaRPr lang="en-US"/>
        </a:p>
      </dgm:t>
    </dgm:pt>
    <dgm:pt modelId="{7312819E-B4B2-4AE1-9564-E77F40D35955}">
      <dgm:prSet/>
      <dgm:spPr/>
      <dgm:t>
        <a:bodyPr/>
        <a:lstStyle/>
        <a:p>
          <a:r>
            <a:rPr lang="en-US" b="1" dirty="0"/>
            <a:t>Tiling (Patching):</a:t>
          </a:r>
          <a:r>
            <a:rPr lang="en-US" dirty="0"/>
            <a:t> Slice both images into smaller, manageable patches (256x256 pixels) using a sliding window to fit GPU memory.</a:t>
          </a:r>
        </a:p>
      </dgm:t>
    </dgm:pt>
    <dgm:pt modelId="{7AA9BEBD-91FC-46AB-BA54-6C820DE12A21}" type="parTrans" cxnId="{3A14C2EF-43CB-4045-B22F-03C57DB3B6E6}">
      <dgm:prSet/>
      <dgm:spPr/>
      <dgm:t>
        <a:bodyPr/>
        <a:lstStyle/>
        <a:p>
          <a:endParaRPr lang="en-US"/>
        </a:p>
      </dgm:t>
    </dgm:pt>
    <dgm:pt modelId="{BAA7C114-913A-475C-A7FC-415F832D0C78}" type="sibTrans" cxnId="{3A14C2EF-43CB-4045-B22F-03C57DB3B6E6}">
      <dgm:prSet/>
      <dgm:spPr/>
      <dgm:t>
        <a:bodyPr/>
        <a:lstStyle/>
        <a:p>
          <a:endParaRPr lang="en-US"/>
        </a:p>
      </dgm:t>
    </dgm:pt>
    <dgm:pt modelId="{43D9489B-C5FE-422B-8DBF-87487ED5013D}">
      <dgm:prSet/>
      <dgm:spPr/>
      <dgm:t>
        <a:bodyPr/>
        <a:lstStyle/>
        <a:p>
          <a:r>
            <a:rPr lang="en-US" b="1"/>
            <a:t>Normalization:</a:t>
          </a:r>
          <a:r>
            <a:rPr lang="en-US"/>
            <a:t> Scale the RGB pixel values (0-255) to a standard range (0 to 1) so the model processes the data efficiently.</a:t>
          </a:r>
        </a:p>
      </dgm:t>
    </dgm:pt>
    <dgm:pt modelId="{E24011C3-1448-4D4B-836D-FC551331B2B7}" type="parTrans" cxnId="{62C57598-8619-4A88-838E-1E52BA772B88}">
      <dgm:prSet/>
      <dgm:spPr/>
      <dgm:t>
        <a:bodyPr/>
        <a:lstStyle/>
        <a:p>
          <a:endParaRPr lang="en-US"/>
        </a:p>
      </dgm:t>
    </dgm:pt>
    <dgm:pt modelId="{90A6BD8B-2F8F-487C-849C-DB9BFCCC3D43}" type="sibTrans" cxnId="{62C57598-8619-4A88-838E-1E52BA772B88}">
      <dgm:prSet/>
      <dgm:spPr/>
      <dgm:t>
        <a:bodyPr/>
        <a:lstStyle/>
        <a:p>
          <a:endParaRPr lang="en-US"/>
        </a:p>
      </dgm:t>
    </dgm:pt>
    <dgm:pt modelId="{A5B33B1D-0D84-4851-83C2-6E3411E16209}" type="pres">
      <dgm:prSet presAssocID="{8DD91C8D-DE08-4168-BE67-ED98962E6545}" presName="root" presStyleCnt="0">
        <dgm:presLayoutVars>
          <dgm:dir/>
          <dgm:resizeHandles val="exact"/>
        </dgm:presLayoutVars>
      </dgm:prSet>
      <dgm:spPr/>
    </dgm:pt>
    <dgm:pt modelId="{D7626153-79B7-40CE-ADEC-8D8F74924A40}" type="pres">
      <dgm:prSet presAssocID="{F40058DE-10FB-4324-95F6-74CD8D3F75AD}" presName="compNode" presStyleCnt="0"/>
      <dgm:spPr/>
    </dgm:pt>
    <dgm:pt modelId="{741DA78F-FB0D-42ED-84F2-F55C2A66015C}" type="pres">
      <dgm:prSet presAssocID="{F40058DE-10FB-4324-95F6-74CD8D3F75AD}" presName="bgRect" presStyleLbl="bgShp" presStyleIdx="0" presStyleCnt="3"/>
      <dgm:spPr/>
    </dgm:pt>
    <dgm:pt modelId="{800C403B-34E2-4336-B4D0-CCB41225D7E1}" type="pres">
      <dgm:prSet presAssocID="{F40058DE-10FB-4324-95F6-74CD8D3F75A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82CD2287-2CD4-4979-ACFF-01BEC917D7A8}" type="pres">
      <dgm:prSet presAssocID="{F40058DE-10FB-4324-95F6-74CD8D3F75AD}" presName="spaceRect" presStyleCnt="0"/>
      <dgm:spPr/>
    </dgm:pt>
    <dgm:pt modelId="{30ACCB89-1CAE-4FA5-8D71-15C2A1F2B4FB}" type="pres">
      <dgm:prSet presAssocID="{F40058DE-10FB-4324-95F6-74CD8D3F75AD}" presName="parTx" presStyleLbl="revTx" presStyleIdx="0" presStyleCnt="3">
        <dgm:presLayoutVars>
          <dgm:chMax val="0"/>
          <dgm:chPref val="0"/>
        </dgm:presLayoutVars>
      </dgm:prSet>
      <dgm:spPr/>
    </dgm:pt>
    <dgm:pt modelId="{84A8665E-AEB2-46A0-AE09-C77A0D26D494}" type="pres">
      <dgm:prSet presAssocID="{3B2F19C1-CA03-48C4-BF07-3F98387CB001}" presName="sibTrans" presStyleCnt="0"/>
      <dgm:spPr/>
    </dgm:pt>
    <dgm:pt modelId="{11B86F0E-5EE3-46D7-9C79-B3D2D632F54D}" type="pres">
      <dgm:prSet presAssocID="{7312819E-B4B2-4AE1-9564-E77F40D35955}" presName="compNode" presStyleCnt="0"/>
      <dgm:spPr/>
    </dgm:pt>
    <dgm:pt modelId="{F8253C76-F85F-466C-B90C-8068F66BB17E}" type="pres">
      <dgm:prSet presAssocID="{7312819E-B4B2-4AE1-9564-E77F40D35955}" presName="bgRect" presStyleLbl="bgShp" presStyleIdx="1" presStyleCnt="3"/>
      <dgm:spPr/>
    </dgm:pt>
    <dgm:pt modelId="{6984CDC4-0AE0-487F-948D-A35BC29E471C}" type="pres">
      <dgm:prSet presAssocID="{7312819E-B4B2-4AE1-9564-E77F40D3595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nife"/>
        </a:ext>
      </dgm:extLst>
    </dgm:pt>
    <dgm:pt modelId="{0B982FBE-42C2-4C72-974B-FC0C79066CE1}" type="pres">
      <dgm:prSet presAssocID="{7312819E-B4B2-4AE1-9564-E77F40D35955}" presName="spaceRect" presStyleCnt="0"/>
      <dgm:spPr/>
    </dgm:pt>
    <dgm:pt modelId="{A94CE38F-CF67-47F7-BE71-11B3AFADA1CB}" type="pres">
      <dgm:prSet presAssocID="{7312819E-B4B2-4AE1-9564-E77F40D35955}" presName="parTx" presStyleLbl="revTx" presStyleIdx="1" presStyleCnt="3">
        <dgm:presLayoutVars>
          <dgm:chMax val="0"/>
          <dgm:chPref val="0"/>
        </dgm:presLayoutVars>
      </dgm:prSet>
      <dgm:spPr/>
    </dgm:pt>
    <dgm:pt modelId="{F7776B72-80DE-4B21-A56D-8ECD347C4881}" type="pres">
      <dgm:prSet presAssocID="{BAA7C114-913A-475C-A7FC-415F832D0C78}" presName="sibTrans" presStyleCnt="0"/>
      <dgm:spPr/>
    </dgm:pt>
    <dgm:pt modelId="{C2CEF4E9-2D8A-4202-859F-9FC77A2089A5}" type="pres">
      <dgm:prSet presAssocID="{43D9489B-C5FE-422B-8DBF-87487ED5013D}" presName="compNode" presStyleCnt="0"/>
      <dgm:spPr/>
    </dgm:pt>
    <dgm:pt modelId="{2D6664FA-55D5-47DC-835E-89CC836FBB53}" type="pres">
      <dgm:prSet presAssocID="{43D9489B-C5FE-422B-8DBF-87487ED5013D}" presName="bgRect" presStyleLbl="bgShp" presStyleIdx="2" presStyleCnt="3"/>
      <dgm:spPr/>
    </dgm:pt>
    <dgm:pt modelId="{7759CD8A-9771-46AB-8FD2-D41B2E66CA86}" type="pres">
      <dgm:prSet presAssocID="{43D9489B-C5FE-422B-8DBF-87487ED5013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uler"/>
        </a:ext>
      </dgm:extLst>
    </dgm:pt>
    <dgm:pt modelId="{9E9FB4C6-57D6-48FB-B72B-A83EA1512928}" type="pres">
      <dgm:prSet presAssocID="{43D9489B-C5FE-422B-8DBF-87487ED5013D}" presName="spaceRect" presStyleCnt="0"/>
      <dgm:spPr/>
    </dgm:pt>
    <dgm:pt modelId="{AFB841F1-E6F1-47BF-84C7-EA33949CC834}" type="pres">
      <dgm:prSet presAssocID="{43D9489B-C5FE-422B-8DBF-87487ED5013D}" presName="parTx" presStyleLbl="revTx" presStyleIdx="2" presStyleCnt="3">
        <dgm:presLayoutVars>
          <dgm:chMax val="0"/>
          <dgm:chPref val="0"/>
        </dgm:presLayoutVars>
      </dgm:prSet>
      <dgm:spPr/>
    </dgm:pt>
  </dgm:ptLst>
  <dgm:cxnLst>
    <dgm:cxn modelId="{7E667510-8D99-4A17-8BCE-6C02D0F75C8D}" type="presOf" srcId="{F40058DE-10FB-4324-95F6-74CD8D3F75AD}" destId="{30ACCB89-1CAE-4FA5-8D71-15C2A1F2B4FB}" srcOrd="0" destOrd="0" presId="urn:microsoft.com/office/officeart/2018/2/layout/IconVerticalSolidList"/>
    <dgm:cxn modelId="{96BAE091-C219-4948-A996-DE6CD326EA75}" type="presOf" srcId="{43D9489B-C5FE-422B-8DBF-87487ED5013D}" destId="{AFB841F1-E6F1-47BF-84C7-EA33949CC834}" srcOrd="0" destOrd="0" presId="urn:microsoft.com/office/officeart/2018/2/layout/IconVerticalSolidList"/>
    <dgm:cxn modelId="{62C57598-8619-4A88-838E-1E52BA772B88}" srcId="{8DD91C8D-DE08-4168-BE67-ED98962E6545}" destId="{43D9489B-C5FE-422B-8DBF-87487ED5013D}" srcOrd="2" destOrd="0" parTransId="{E24011C3-1448-4D4B-836D-FC551331B2B7}" sibTransId="{90A6BD8B-2F8F-487C-849C-DB9BFCCC3D43}"/>
    <dgm:cxn modelId="{EB4BECAF-7B9E-45B9-ADFD-828C232DE3ED}" type="presOf" srcId="{8DD91C8D-DE08-4168-BE67-ED98962E6545}" destId="{A5B33B1D-0D84-4851-83C2-6E3411E16209}" srcOrd="0" destOrd="0" presId="urn:microsoft.com/office/officeart/2018/2/layout/IconVerticalSolidList"/>
    <dgm:cxn modelId="{B3909FE0-98D9-4828-B400-F610AE8D607E}" srcId="{8DD91C8D-DE08-4168-BE67-ED98962E6545}" destId="{F40058DE-10FB-4324-95F6-74CD8D3F75AD}" srcOrd="0" destOrd="0" parTransId="{516A37AD-2B58-4ACD-9569-96081561EB54}" sibTransId="{3B2F19C1-CA03-48C4-BF07-3F98387CB001}"/>
    <dgm:cxn modelId="{4FD756EE-0677-491D-9B36-84F3625FE675}" type="presOf" srcId="{7312819E-B4B2-4AE1-9564-E77F40D35955}" destId="{A94CE38F-CF67-47F7-BE71-11B3AFADA1CB}" srcOrd="0" destOrd="0" presId="urn:microsoft.com/office/officeart/2018/2/layout/IconVerticalSolidList"/>
    <dgm:cxn modelId="{3A14C2EF-43CB-4045-B22F-03C57DB3B6E6}" srcId="{8DD91C8D-DE08-4168-BE67-ED98962E6545}" destId="{7312819E-B4B2-4AE1-9564-E77F40D35955}" srcOrd="1" destOrd="0" parTransId="{7AA9BEBD-91FC-46AB-BA54-6C820DE12A21}" sibTransId="{BAA7C114-913A-475C-A7FC-415F832D0C78}"/>
    <dgm:cxn modelId="{355AAFF9-8488-43B1-BB38-789E689CB939}" type="presParOf" srcId="{A5B33B1D-0D84-4851-83C2-6E3411E16209}" destId="{D7626153-79B7-40CE-ADEC-8D8F74924A40}" srcOrd="0" destOrd="0" presId="urn:microsoft.com/office/officeart/2018/2/layout/IconVerticalSolidList"/>
    <dgm:cxn modelId="{6B2CAF07-F478-469E-B17D-581385C7D4EF}" type="presParOf" srcId="{D7626153-79B7-40CE-ADEC-8D8F74924A40}" destId="{741DA78F-FB0D-42ED-84F2-F55C2A66015C}" srcOrd="0" destOrd="0" presId="urn:microsoft.com/office/officeart/2018/2/layout/IconVerticalSolidList"/>
    <dgm:cxn modelId="{B7C4CE38-755B-4A1E-8B62-8A25A2BCDC3C}" type="presParOf" srcId="{D7626153-79B7-40CE-ADEC-8D8F74924A40}" destId="{800C403B-34E2-4336-B4D0-CCB41225D7E1}" srcOrd="1" destOrd="0" presId="urn:microsoft.com/office/officeart/2018/2/layout/IconVerticalSolidList"/>
    <dgm:cxn modelId="{457164DE-A498-4C53-B161-3471E51460C5}" type="presParOf" srcId="{D7626153-79B7-40CE-ADEC-8D8F74924A40}" destId="{82CD2287-2CD4-4979-ACFF-01BEC917D7A8}" srcOrd="2" destOrd="0" presId="urn:microsoft.com/office/officeart/2018/2/layout/IconVerticalSolidList"/>
    <dgm:cxn modelId="{65999F40-AC67-48B0-9BBD-679CC2C7EB8F}" type="presParOf" srcId="{D7626153-79B7-40CE-ADEC-8D8F74924A40}" destId="{30ACCB89-1CAE-4FA5-8D71-15C2A1F2B4FB}" srcOrd="3" destOrd="0" presId="urn:microsoft.com/office/officeart/2018/2/layout/IconVerticalSolidList"/>
    <dgm:cxn modelId="{1E4F9DFE-03A8-440A-9493-0CB0584CD05A}" type="presParOf" srcId="{A5B33B1D-0D84-4851-83C2-6E3411E16209}" destId="{84A8665E-AEB2-46A0-AE09-C77A0D26D494}" srcOrd="1" destOrd="0" presId="urn:microsoft.com/office/officeart/2018/2/layout/IconVerticalSolidList"/>
    <dgm:cxn modelId="{EA6885A3-EA34-4C1E-9FA1-0D1D7406A952}" type="presParOf" srcId="{A5B33B1D-0D84-4851-83C2-6E3411E16209}" destId="{11B86F0E-5EE3-46D7-9C79-B3D2D632F54D}" srcOrd="2" destOrd="0" presId="urn:microsoft.com/office/officeart/2018/2/layout/IconVerticalSolidList"/>
    <dgm:cxn modelId="{2F806FC6-037E-4F33-B21D-713D60028C4C}" type="presParOf" srcId="{11B86F0E-5EE3-46D7-9C79-B3D2D632F54D}" destId="{F8253C76-F85F-466C-B90C-8068F66BB17E}" srcOrd="0" destOrd="0" presId="urn:microsoft.com/office/officeart/2018/2/layout/IconVerticalSolidList"/>
    <dgm:cxn modelId="{8AF3DDFD-4D2A-417D-A443-3A7032095EE0}" type="presParOf" srcId="{11B86F0E-5EE3-46D7-9C79-B3D2D632F54D}" destId="{6984CDC4-0AE0-487F-948D-A35BC29E471C}" srcOrd="1" destOrd="0" presId="urn:microsoft.com/office/officeart/2018/2/layout/IconVerticalSolidList"/>
    <dgm:cxn modelId="{8EDD5F2E-A8C8-4BA5-8D73-C4D9E26604AB}" type="presParOf" srcId="{11B86F0E-5EE3-46D7-9C79-B3D2D632F54D}" destId="{0B982FBE-42C2-4C72-974B-FC0C79066CE1}" srcOrd="2" destOrd="0" presId="urn:microsoft.com/office/officeart/2018/2/layout/IconVerticalSolidList"/>
    <dgm:cxn modelId="{51720586-1FBD-4F67-BD5A-94E6E0C033D8}" type="presParOf" srcId="{11B86F0E-5EE3-46D7-9C79-B3D2D632F54D}" destId="{A94CE38F-CF67-47F7-BE71-11B3AFADA1CB}" srcOrd="3" destOrd="0" presId="urn:microsoft.com/office/officeart/2018/2/layout/IconVerticalSolidList"/>
    <dgm:cxn modelId="{29F40C36-44E3-42F7-80F1-3CE979DA5580}" type="presParOf" srcId="{A5B33B1D-0D84-4851-83C2-6E3411E16209}" destId="{F7776B72-80DE-4B21-A56D-8ECD347C4881}" srcOrd="3" destOrd="0" presId="urn:microsoft.com/office/officeart/2018/2/layout/IconVerticalSolidList"/>
    <dgm:cxn modelId="{F062FAFD-054F-45A7-854A-6D6ADDA81A49}" type="presParOf" srcId="{A5B33B1D-0D84-4851-83C2-6E3411E16209}" destId="{C2CEF4E9-2D8A-4202-859F-9FC77A2089A5}" srcOrd="4" destOrd="0" presId="urn:microsoft.com/office/officeart/2018/2/layout/IconVerticalSolidList"/>
    <dgm:cxn modelId="{C0052A13-BF95-4B56-82CA-7B40A46D1687}" type="presParOf" srcId="{C2CEF4E9-2D8A-4202-859F-9FC77A2089A5}" destId="{2D6664FA-55D5-47DC-835E-89CC836FBB53}" srcOrd="0" destOrd="0" presId="urn:microsoft.com/office/officeart/2018/2/layout/IconVerticalSolidList"/>
    <dgm:cxn modelId="{4F430E1E-5879-4CED-B3AE-75B5397599C8}" type="presParOf" srcId="{C2CEF4E9-2D8A-4202-859F-9FC77A2089A5}" destId="{7759CD8A-9771-46AB-8FD2-D41B2E66CA86}" srcOrd="1" destOrd="0" presId="urn:microsoft.com/office/officeart/2018/2/layout/IconVerticalSolidList"/>
    <dgm:cxn modelId="{612D29AF-0450-45E0-BAC2-08FFEA117D10}" type="presParOf" srcId="{C2CEF4E9-2D8A-4202-859F-9FC77A2089A5}" destId="{9E9FB4C6-57D6-48FB-B72B-A83EA1512928}" srcOrd="2" destOrd="0" presId="urn:microsoft.com/office/officeart/2018/2/layout/IconVerticalSolidList"/>
    <dgm:cxn modelId="{7F5D2A8B-D904-4939-B3DD-612238DFB93E}" type="presParOf" srcId="{C2CEF4E9-2D8A-4202-859F-9FC77A2089A5}" destId="{AFB841F1-E6F1-47BF-84C7-EA33949CC83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67884-D442-48D3-BABE-1E63CD063AEA}">
      <dsp:nvSpPr>
        <dsp:cNvPr id="0" name=""/>
        <dsp:cNvSpPr/>
      </dsp:nvSpPr>
      <dsp:spPr>
        <a:xfrm>
          <a:off x="913472" y="417720"/>
          <a:ext cx="1261526" cy="1261526"/>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977677-079A-44F6-80FF-459C8BEC3F80}">
      <dsp:nvSpPr>
        <dsp:cNvPr id="0" name=""/>
        <dsp:cNvSpPr/>
      </dsp:nvSpPr>
      <dsp:spPr>
        <a:xfrm>
          <a:off x="1182322" y="686570"/>
          <a:ext cx="723826" cy="723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72ABD0-D5B6-45B6-9C0A-67B47521B8B3}">
      <dsp:nvSpPr>
        <dsp:cNvPr id="0" name=""/>
        <dsp:cNvSpPr/>
      </dsp:nvSpPr>
      <dsp:spPr>
        <a:xfrm>
          <a:off x="510197" y="2072181"/>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US" sz="1900" kern="1200"/>
            <a:t>Introduction</a:t>
          </a:r>
        </a:p>
      </dsp:txBody>
      <dsp:txXfrm>
        <a:off x="510197" y="2072181"/>
        <a:ext cx="2068076" cy="720000"/>
      </dsp:txXfrm>
    </dsp:sp>
    <dsp:sp modelId="{DB830A33-F066-4312-802A-F3E08CB037E6}">
      <dsp:nvSpPr>
        <dsp:cNvPr id="0" name=""/>
        <dsp:cNvSpPr/>
      </dsp:nvSpPr>
      <dsp:spPr>
        <a:xfrm>
          <a:off x="3343461" y="417720"/>
          <a:ext cx="1261526" cy="1261526"/>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074C90-FCF0-4157-B266-FA2B599273FC}">
      <dsp:nvSpPr>
        <dsp:cNvPr id="0" name=""/>
        <dsp:cNvSpPr/>
      </dsp:nvSpPr>
      <dsp:spPr>
        <a:xfrm>
          <a:off x="3612311" y="686570"/>
          <a:ext cx="723826" cy="723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1772A7-BCD8-4CAC-AC82-772F61A5DB85}">
      <dsp:nvSpPr>
        <dsp:cNvPr id="0" name=""/>
        <dsp:cNvSpPr/>
      </dsp:nvSpPr>
      <dsp:spPr>
        <a:xfrm>
          <a:off x="2940187" y="2072181"/>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US" sz="1900" kern="1200"/>
            <a:t>Proposed Methodology</a:t>
          </a:r>
        </a:p>
      </dsp:txBody>
      <dsp:txXfrm>
        <a:off x="2940187" y="2072181"/>
        <a:ext cx="2068076" cy="720000"/>
      </dsp:txXfrm>
    </dsp:sp>
    <dsp:sp modelId="{5126184D-C31C-4459-86BC-B7DAEA57F3A9}">
      <dsp:nvSpPr>
        <dsp:cNvPr id="0" name=""/>
        <dsp:cNvSpPr/>
      </dsp:nvSpPr>
      <dsp:spPr>
        <a:xfrm>
          <a:off x="5773451" y="417720"/>
          <a:ext cx="1261526" cy="1261526"/>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2486A5-B2FB-41A3-BCBD-656F8F67EBC3}">
      <dsp:nvSpPr>
        <dsp:cNvPr id="0" name=""/>
        <dsp:cNvSpPr/>
      </dsp:nvSpPr>
      <dsp:spPr>
        <a:xfrm>
          <a:off x="6042301" y="686570"/>
          <a:ext cx="723826" cy="723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C7E7A7-5AC1-4058-9AF8-1D950B861BB2}">
      <dsp:nvSpPr>
        <dsp:cNvPr id="0" name=""/>
        <dsp:cNvSpPr/>
      </dsp:nvSpPr>
      <dsp:spPr>
        <a:xfrm>
          <a:off x="5370176" y="2072181"/>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US" sz="1900" kern="1200"/>
            <a:t>Results &amp; Discussion</a:t>
          </a:r>
        </a:p>
      </dsp:txBody>
      <dsp:txXfrm>
        <a:off x="5370176" y="2072181"/>
        <a:ext cx="2068076" cy="720000"/>
      </dsp:txXfrm>
    </dsp:sp>
    <dsp:sp modelId="{179EA544-0025-44E3-BBF8-7B49CB10AC68}">
      <dsp:nvSpPr>
        <dsp:cNvPr id="0" name=""/>
        <dsp:cNvSpPr/>
      </dsp:nvSpPr>
      <dsp:spPr>
        <a:xfrm>
          <a:off x="8203441" y="417720"/>
          <a:ext cx="1261526" cy="1261526"/>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13855F-4EB5-4E60-8B2A-E8D7086B345C}">
      <dsp:nvSpPr>
        <dsp:cNvPr id="0" name=""/>
        <dsp:cNvSpPr/>
      </dsp:nvSpPr>
      <dsp:spPr>
        <a:xfrm>
          <a:off x="8472291" y="686570"/>
          <a:ext cx="723826" cy="72382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A000BB-34A5-477B-814A-2ACAD5A6593A}">
      <dsp:nvSpPr>
        <dsp:cNvPr id="0" name=""/>
        <dsp:cNvSpPr/>
      </dsp:nvSpPr>
      <dsp:spPr>
        <a:xfrm>
          <a:off x="7800166" y="2072181"/>
          <a:ext cx="206807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100000"/>
            </a:lnSpc>
            <a:spcBef>
              <a:spcPct val="0"/>
            </a:spcBef>
            <a:spcAft>
              <a:spcPct val="35000"/>
            </a:spcAft>
            <a:buNone/>
            <a:defRPr cap="all"/>
          </a:pPr>
          <a:r>
            <a:rPr lang="en-US" sz="1900" kern="1200" dirty="0"/>
            <a:t>Challenges and future work</a:t>
          </a:r>
        </a:p>
      </dsp:txBody>
      <dsp:txXfrm>
        <a:off x="7800166" y="2072181"/>
        <a:ext cx="2068076"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A8772-2411-4019-BA5B-9D3BA15AF058}">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DD9B2B-D90E-4FD4-9A4E-3180FB6490FB}">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91790E-BBD2-4E8C-806F-F120E44499B3}">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1" kern="1200" dirty="0"/>
            <a:t>Building footprint segmentation </a:t>
          </a:r>
          <a:r>
            <a:rPr lang="en-US" sz="2100" kern="1200" dirty="0"/>
            <a:t>involves identifying and outlining the location and shape of buildings from aerial or satellite imagery. </a:t>
          </a:r>
        </a:p>
      </dsp:txBody>
      <dsp:txXfrm>
        <a:off x="1435590" y="531"/>
        <a:ext cx="9080009" cy="1242935"/>
      </dsp:txXfrm>
    </dsp:sp>
    <dsp:sp modelId="{C0F4027D-FA48-4B6D-8602-21FE83845F00}">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801F58-A211-4378-8A37-BD26C7A367C2}">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E7B2E2-01FD-40F9-95AF-C1F1C53A8834}">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Building footprints are important for many applications, like urban planning, infrastructure management, and land use analysis. </a:t>
          </a:r>
        </a:p>
      </dsp:txBody>
      <dsp:txXfrm>
        <a:off x="1435590" y="1554201"/>
        <a:ext cx="9080009" cy="1242935"/>
      </dsp:txXfrm>
    </dsp:sp>
    <dsp:sp modelId="{41F164F7-4724-4B11-9D7D-5BF1AB761533}">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48E2F0-BA71-4813-8223-EF22B253DB15}">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FD97FB-BFA4-4ABB-92AE-647D6D70BCD7}">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Accurate segmentation of building footprints is needed for change detection, which enables the identification of new constructions, demolitions, or building alterations over time.</a:t>
          </a: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1DA78F-FB0D-42ED-84F2-F55C2A66015C}">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0C403B-34E2-4336-B4D0-CCB41225D7E1}">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ACCB89-1CAE-4FA5-8D71-15C2A1F2B4FB}">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dirty="0"/>
            <a:t>Co-registration:</a:t>
          </a:r>
          <a:r>
            <a:rPr lang="en-US" sz="2300" kern="1200" dirty="0"/>
            <a:t> Ensure the images are perfectly aligned pixel-to-pixel. If one image is shifted even slightly, the model will flag the edges of </a:t>
          </a:r>
          <a:r>
            <a:rPr lang="en-US" sz="2300" i="1" kern="1200" dirty="0"/>
            <a:t>every</a:t>
          </a:r>
          <a:r>
            <a:rPr lang="en-US" sz="2300" kern="1200" dirty="0"/>
            <a:t> building as a change.</a:t>
          </a:r>
        </a:p>
      </dsp:txBody>
      <dsp:txXfrm>
        <a:off x="1437631" y="531"/>
        <a:ext cx="9077968" cy="1244702"/>
      </dsp:txXfrm>
    </dsp:sp>
    <dsp:sp modelId="{F8253C76-F85F-466C-B90C-8068F66BB17E}">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84CDC4-0AE0-487F-948D-A35BC29E471C}">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CE38F-CF67-47F7-BE71-11B3AFADA1CB}">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dirty="0"/>
            <a:t>Tiling (Patching):</a:t>
          </a:r>
          <a:r>
            <a:rPr lang="en-US" sz="2300" kern="1200" dirty="0"/>
            <a:t> Slice both images into smaller, manageable patches (256x256 pixels) using a sliding window to fit GPU memory.</a:t>
          </a:r>
        </a:p>
      </dsp:txBody>
      <dsp:txXfrm>
        <a:off x="1437631" y="1556410"/>
        <a:ext cx="9077968" cy="1244702"/>
      </dsp:txXfrm>
    </dsp:sp>
    <dsp:sp modelId="{2D6664FA-55D5-47DC-835E-89CC836FBB53}">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59CD8A-9771-46AB-8FD2-D41B2E66CA86}">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B841F1-E6F1-47BF-84C7-EA33949CC834}">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b="1" kern="1200"/>
            <a:t>Normalization:</a:t>
          </a:r>
          <a:r>
            <a:rPr lang="en-US" sz="2300" kern="1200"/>
            <a:t> Scale the RGB pixel values (0-255) to a standard range (0 to 1) so the model processes the data efficiently.</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7F863-51E6-4E10-9F0D-F94AFA49F22F}" type="datetimeFigureOut">
              <a:rPr lang="en-AE" smtClean="0"/>
              <a:t>07/05/2026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D33D50-54E0-41A9-9F8C-EAA7ABE870B5}" type="slidenum">
              <a:rPr lang="en-AE" smtClean="0"/>
              <a:t>‹#›</a:t>
            </a:fld>
            <a:endParaRPr lang="en-AE"/>
          </a:p>
        </p:txBody>
      </p:sp>
    </p:spTree>
    <p:extLst>
      <p:ext uri="{BB962C8B-B14F-4D97-AF65-F5344CB8AC3E}">
        <p14:creationId xmlns:p14="http://schemas.microsoft.com/office/powerpoint/2010/main" val="980619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8</a:t>
            </a:fld>
            <a:endParaRPr lang="en-AE"/>
          </a:p>
        </p:txBody>
      </p:sp>
    </p:spTree>
    <p:extLst>
      <p:ext uri="{BB962C8B-B14F-4D97-AF65-F5344CB8AC3E}">
        <p14:creationId xmlns:p14="http://schemas.microsoft.com/office/powerpoint/2010/main" val="3028430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23</a:t>
            </a:fld>
            <a:endParaRPr lang="en-AE"/>
          </a:p>
        </p:txBody>
      </p:sp>
    </p:spTree>
    <p:extLst>
      <p:ext uri="{BB962C8B-B14F-4D97-AF65-F5344CB8AC3E}">
        <p14:creationId xmlns:p14="http://schemas.microsoft.com/office/powerpoint/2010/main" val="351302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117E8-A0C4-4F75-D152-9DF2AE031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07523-D9D6-42EC-36FA-CDDAB42C9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41CEF-BA4F-F237-8BD7-2D88595F8F30}"/>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7C6B1219-E624-85E3-5F52-73EF6DAD950B}"/>
              </a:ext>
            </a:extLst>
          </p:cNvPr>
          <p:cNvSpPr>
            <a:spLocks noGrp="1"/>
          </p:cNvSpPr>
          <p:nvPr>
            <p:ph type="sldNum" sz="quarter" idx="5"/>
          </p:nvPr>
        </p:nvSpPr>
        <p:spPr/>
        <p:txBody>
          <a:bodyPr/>
          <a:lstStyle/>
          <a:p>
            <a:fld id="{71D33D50-54E0-41A9-9F8C-EAA7ABE870B5}" type="slidenum">
              <a:rPr lang="en-AE" smtClean="0"/>
              <a:t>24</a:t>
            </a:fld>
            <a:endParaRPr lang="en-AE"/>
          </a:p>
        </p:txBody>
      </p:sp>
    </p:spTree>
    <p:extLst>
      <p:ext uri="{BB962C8B-B14F-4D97-AF65-F5344CB8AC3E}">
        <p14:creationId xmlns:p14="http://schemas.microsoft.com/office/powerpoint/2010/main" val="722373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29</a:t>
            </a:fld>
            <a:endParaRPr lang="en-AE"/>
          </a:p>
        </p:txBody>
      </p:sp>
    </p:spTree>
    <p:extLst>
      <p:ext uri="{BB962C8B-B14F-4D97-AF65-F5344CB8AC3E}">
        <p14:creationId xmlns:p14="http://schemas.microsoft.com/office/powerpoint/2010/main" val="764989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30</a:t>
            </a:fld>
            <a:endParaRPr lang="en-AE"/>
          </a:p>
        </p:txBody>
      </p:sp>
    </p:spTree>
    <p:extLst>
      <p:ext uri="{BB962C8B-B14F-4D97-AF65-F5344CB8AC3E}">
        <p14:creationId xmlns:p14="http://schemas.microsoft.com/office/powerpoint/2010/main" val="891206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34</a:t>
            </a:fld>
            <a:endParaRPr lang="en-AE"/>
          </a:p>
        </p:txBody>
      </p:sp>
    </p:spTree>
    <p:extLst>
      <p:ext uri="{BB962C8B-B14F-4D97-AF65-F5344CB8AC3E}">
        <p14:creationId xmlns:p14="http://schemas.microsoft.com/office/powerpoint/2010/main" val="3086677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37</a:t>
            </a:fld>
            <a:endParaRPr lang="en-AE"/>
          </a:p>
        </p:txBody>
      </p:sp>
    </p:spTree>
    <p:extLst>
      <p:ext uri="{BB962C8B-B14F-4D97-AF65-F5344CB8AC3E}">
        <p14:creationId xmlns:p14="http://schemas.microsoft.com/office/powerpoint/2010/main" val="4274796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40</a:t>
            </a:fld>
            <a:endParaRPr lang="en-AE"/>
          </a:p>
        </p:txBody>
      </p:sp>
    </p:spTree>
    <p:extLst>
      <p:ext uri="{BB962C8B-B14F-4D97-AF65-F5344CB8AC3E}">
        <p14:creationId xmlns:p14="http://schemas.microsoft.com/office/powerpoint/2010/main" val="644488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1D33D50-54E0-41A9-9F8C-EAA7ABE870B5}" type="slidenum">
              <a:rPr lang="en-AE" smtClean="0"/>
              <a:t>43</a:t>
            </a:fld>
            <a:endParaRPr lang="en-AE"/>
          </a:p>
        </p:txBody>
      </p:sp>
    </p:spTree>
    <p:extLst>
      <p:ext uri="{BB962C8B-B14F-4D97-AF65-F5344CB8AC3E}">
        <p14:creationId xmlns:p14="http://schemas.microsoft.com/office/powerpoint/2010/main" val="3728691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B9EF6-6A38-1308-5236-DF51FD8690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E"/>
          </a:p>
        </p:txBody>
      </p:sp>
      <p:sp>
        <p:nvSpPr>
          <p:cNvPr id="3" name="Subtitle 2">
            <a:extLst>
              <a:ext uri="{FF2B5EF4-FFF2-40B4-BE49-F238E27FC236}">
                <a16:creationId xmlns:a16="http://schemas.microsoft.com/office/drawing/2014/main" id="{A438E15A-D02C-0F63-26E6-7298367AE0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E"/>
          </a:p>
        </p:txBody>
      </p:sp>
      <p:sp>
        <p:nvSpPr>
          <p:cNvPr id="4" name="Date Placeholder 3">
            <a:extLst>
              <a:ext uri="{FF2B5EF4-FFF2-40B4-BE49-F238E27FC236}">
                <a16:creationId xmlns:a16="http://schemas.microsoft.com/office/drawing/2014/main" id="{E90491E9-A514-D745-5509-49500B8A3351}"/>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947C2659-B8C7-29B7-69AC-C7FF0D410CD9}"/>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891A652A-AC7E-6400-2814-D1A16E2F85D6}"/>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3397173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23E33-5433-0CFC-1666-53E7E5FD7F46}"/>
              </a:ext>
            </a:extLst>
          </p:cNvPr>
          <p:cNvSpPr>
            <a:spLocks noGrp="1"/>
          </p:cNvSpPr>
          <p:nvPr>
            <p:ph type="title"/>
          </p:nvPr>
        </p:nvSpPr>
        <p:spPr/>
        <p:txBody>
          <a:bodyPr/>
          <a:lstStyle/>
          <a:p>
            <a:r>
              <a:rPr lang="en-GB"/>
              <a:t>Click to edit Master title style</a:t>
            </a:r>
            <a:endParaRPr lang="en-AE"/>
          </a:p>
        </p:txBody>
      </p:sp>
      <p:sp>
        <p:nvSpPr>
          <p:cNvPr id="3" name="Content Placeholder 2">
            <a:extLst>
              <a:ext uri="{FF2B5EF4-FFF2-40B4-BE49-F238E27FC236}">
                <a16:creationId xmlns:a16="http://schemas.microsoft.com/office/drawing/2014/main" id="{0B9E0920-9A83-BE9B-0708-E9DFF115EDB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A6CA249F-2B22-6AF7-2CF4-4A3E1DA1482A}"/>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9CF077B9-5B6A-16C1-E95D-29F1ABBB0AC3}"/>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936E16B-5AE3-389D-20C3-FC06054C32D6}"/>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320993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C15D-9E21-350E-5AEA-5F0170E44C0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E"/>
          </a:p>
        </p:txBody>
      </p:sp>
      <p:sp>
        <p:nvSpPr>
          <p:cNvPr id="3" name="Text Placeholder 2">
            <a:extLst>
              <a:ext uri="{FF2B5EF4-FFF2-40B4-BE49-F238E27FC236}">
                <a16:creationId xmlns:a16="http://schemas.microsoft.com/office/drawing/2014/main" id="{352DF433-0031-3A0E-2833-E19D0CCA11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307894-102F-925C-DC6A-63999DFF154A}"/>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8C11AFE8-502A-1890-0A48-9F697A704DE7}"/>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8A86584-BA4E-D730-FAE1-F12281594DBC}"/>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2793765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85FA-72A3-537B-81E6-45FDB0B75D3E}"/>
              </a:ext>
            </a:extLst>
          </p:cNvPr>
          <p:cNvSpPr>
            <a:spLocks noGrp="1"/>
          </p:cNvSpPr>
          <p:nvPr>
            <p:ph type="title"/>
          </p:nvPr>
        </p:nvSpPr>
        <p:spPr/>
        <p:txBody>
          <a:bodyPr/>
          <a:lstStyle/>
          <a:p>
            <a:r>
              <a:rPr lang="en-GB"/>
              <a:t>Click to edit Master title style</a:t>
            </a:r>
            <a:endParaRPr lang="en-AE"/>
          </a:p>
        </p:txBody>
      </p:sp>
      <p:sp>
        <p:nvSpPr>
          <p:cNvPr id="3" name="Content Placeholder 2">
            <a:extLst>
              <a:ext uri="{FF2B5EF4-FFF2-40B4-BE49-F238E27FC236}">
                <a16:creationId xmlns:a16="http://schemas.microsoft.com/office/drawing/2014/main" id="{C87FCE21-91D7-2734-4BCD-A6A8FBCADA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Content Placeholder 3">
            <a:extLst>
              <a:ext uri="{FF2B5EF4-FFF2-40B4-BE49-F238E27FC236}">
                <a16:creationId xmlns:a16="http://schemas.microsoft.com/office/drawing/2014/main" id="{080EC1E6-D55F-89EA-6FE3-B22B1782B46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5" name="Date Placeholder 4">
            <a:extLst>
              <a:ext uri="{FF2B5EF4-FFF2-40B4-BE49-F238E27FC236}">
                <a16:creationId xmlns:a16="http://schemas.microsoft.com/office/drawing/2014/main" id="{74847F99-6218-01A5-244C-2E6E11B5940D}"/>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6" name="Footer Placeholder 5">
            <a:extLst>
              <a:ext uri="{FF2B5EF4-FFF2-40B4-BE49-F238E27FC236}">
                <a16:creationId xmlns:a16="http://schemas.microsoft.com/office/drawing/2014/main" id="{3DA2C406-CCEB-1D0B-D88C-8D2727F92119}"/>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7E1D46A9-3DC1-F021-5AA9-E4D27A9AA566}"/>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2976968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A1463-A208-CAA8-D471-3F1B09B3DC88}"/>
              </a:ext>
            </a:extLst>
          </p:cNvPr>
          <p:cNvSpPr>
            <a:spLocks noGrp="1"/>
          </p:cNvSpPr>
          <p:nvPr>
            <p:ph type="title"/>
          </p:nvPr>
        </p:nvSpPr>
        <p:spPr>
          <a:xfrm>
            <a:off x="839788" y="365125"/>
            <a:ext cx="10515600" cy="1325563"/>
          </a:xfrm>
        </p:spPr>
        <p:txBody>
          <a:bodyPr/>
          <a:lstStyle/>
          <a:p>
            <a:r>
              <a:rPr lang="en-GB"/>
              <a:t>Click to edit Master title style</a:t>
            </a:r>
            <a:endParaRPr lang="en-AE"/>
          </a:p>
        </p:txBody>
      </p:sp>
      <p:sp>
        <p:nvSpPr>
          <p:cNvPr id="3" name="Text Placeholder 2">
            <a:extLst>
              <a:ext uri="{FF2B5EF4-FFF2-40B4-BE49-F238E27FC236}">
                <a16:creationId xmlns:a16="http://schemas.microsoft.com/office/drawing/2014/main" id="{04A431B2-7B08-86A9-2D93-E153CA82C9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3CE07FB-95C6-2AD5-3962-0FF88E95F47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5" name="Text Placeholder 4">
            <a:extLst>
              <a:ext uri="{FF2B5EF4-FFF2-40B4-BE49-F238E27FC236}">
                <a16:creationId xmlns:a16="http://schemas.microsoft.com/office/drawing/2014/main" id="{C9224384-45B2-B73C-BF89-18014D16C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E7171DD-C58A-3456-C4B9-6144ED985FF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7" name="Date Placeholder 6">
            <a:extLst>
              <a:ext uri="{FF2B5EF4-FFF2-40B4-BE49-F238E27FC236}">
                <a16:creationId xmlns:a16="http://schemas.microsoft.com/office/drawing/2014/main" id="{C1FD1D93-32A4-382C-94B2-D678C68AC417}"/>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8" name="Footer Placeholder 7">
            <a:extLst>
              <a:ext uri="{FF2B5EF4-FFF2-40B4-BE49-F238E27FC236}">
                <a16:creationId xmlns:a16="http://schemas.microsoft.com/office/drawing/2014/main" id="{B291943C-A2D7-0E71-0EC3-D883F1BB79A6}"/>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863EF522-6A9B-F9FC-8178-0EC44862F99E}"/>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49118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D829B-4247-7AC1-6D07-CB4CC76989DB}"/>
              </a:ext>
            </a:extLst>
          </p:cNvPr>
          <p:cNvSpPr>
            <a:spLocks noGrp="1"/>
          </p:cNvSpPr>
          <p:nvPr>
            <p:ph type="title"/>
          </p:nvPr>
        </p:nvSpPr>
        <p:spPr/>
        <p:txBody>
          <a:bodyPr/>
          <a:lstStyle/>
          <a:p>
            <a:r>
              <a:rPr lang="en-GB"/>
              <a:t>Click to edit Master title style</a:t>
            </a:r>
            <a:endParaRPr lang="en-AE"/>
          </a:p>
        </p:txBody>
      </p:sp>
      <p:sp>
        <p:nvSpPr>
          <p:cNvPr id="3" name="Date Placeholder 2">
            <a:extLst>
              <a:ext uri="{FF2B5EF4-FFF2-40B4-BE49-F238E27FC236}">
                <a16:creationId xmlns:a16="http://schemas.microsoft.com/office/drawing/2014/main" id="{F8014EF1-9E09-E582-0AB4-E01151C4E4A9}"/>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4" name="Footer Placeholder 3">
            <a:extLst>
              <a:ext uri="{FF2B5EF4-FFF2-40B4-BE49-F238E27FC236}">
                <a16:creationId xmlns:a16="http://schemas.microsoft.com/office/drawing/2014/main" id="{72F05003-DA2A-0D93-B425-30F269F72A59}"/>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A8CC1601-1055-316D-3471-472B8FA8015C}"/>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664180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DAD1C5-9C79-4779-5523-13A6EB75122D}"/>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3" name="Footer Placeholder 2">
            <a:extLst>
              <a:ext uri="{FF2B5EF4-FFF2-40B4-BE49-F238E27FC236}">
                <a16:creationId xmlns:a16="http://schemas.microsoft.com/office/drawing/2014/main" id="{2D994898-7FA3-A6B7-CA25-892596F570E1}"/>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D59BBA2D-DD6A-5C3C-0285-D350D432EE35}"/>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395331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16C7-7C92-B8B5-E94C-71A2D82F7CB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E"/>
          </a:p>
        </p:txBody>
      </p:sp>
      <p:sp>
        <p:nvSpPr>
          <p:cNvPr id="3" name="Content Placeholder 2">
            <a:extLst>
              <a:ext uri="{FF2B5EF4-FFF2-40B4-BE49-F238E27FC236}">
                <a16:creationId xmlns:a16="http://schemas.microsoft.com/office/drawing/2014/main" id="{ECE87414-F5BF-E7DE-248C-CDFFDA392B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Text Placeholder 3">
            <a:extLst>
              <a:ext uri="{FF2B5EF4-FFF2-40B4-BE49-F238E27FC236}">
                <a16:creationId xmlns:a16="http://schemas.microsoft.com/office/drawing/2014/main" id="{627576F0-EDC9-6759-240D-3EB98FDEDE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8A2690-D42A-8293-6829-8711361DDA7E}"/>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6" name="Footer Placeholder 5">
            <a:extLst>
              <a:ext uri="{FF2B5EF4-FFF2-40B4-BE49-F238E27FC236}">
                <a16:creationId xmlns:a16="http://schemas.microsoft.com/office/drawing/2014/main" id="{1EF37594-403D-E08B-2A97-B796E1F89A69}"/>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01100B3A-54FD-FC28-25AB-BF6669677171}"/>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271231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6FE1-2E25-A9A0-2194-AEA218F421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E"/>
          </a:p>
        </p:txBody>
      </p:sp>
      <p:sp>
        <p:nvSpPr>
          <p:cNvPr id="3" name="Picture Placeholder 2">
            <a:extLst>
              <a:ext uri="{FF2B5EF4-FFF2-40B4-BE49-F238E27FC236}">
                <a16:creationId xmlns:a16="http://schemas.microsoft.com/office/drawing/2014/main" id="{4F37855C-3727-3469-65DD-8DFD2463D1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C9BEE42E-7482-EFE6-92D1-7C7404137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C2CD565-E879-1584-476C-AFB569B9F10C}"/>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6" name="Footer Placeholder 5">
            <a:extLst>
              <a:ext uri="{FF2B5EF4-FFF2-40B4-BE49-F238E27FC236}">
                <a16:creationId xmlns:a16="http://schemas.microsoft.com/office/drawing/2014/main" id="{3AD5D3E5-9A11-E7CE-E560-A77165F929BB}"/>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E2BED817-EBF0-BF47-1C0B-9778A9DEBC07}"/>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3702091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E0501-DEDF-4007-B22B-3FB70120A1A3}"/>
              </a:ext>
            </a:extLst>
          </p:cNvPr>
          <p:cNvSpPr>
            <a:spLocks noGrp="1"/>
          </p:cNvSpPr>
          <p:nvPr>
            <p:ph type="title"/>
          </p:nvPr>
        </p:nvSpPr>
        <p:spPr/>
        <p:txBody>
          <a:bodyPr/>
          <a:lstStyle/>
          <a:p>
            <a:r>
              <a:rPr lang="en-GB"/>
              <a:t>Click to edit Master title style</a:t>
            </a:r>
            <a:endParaRPr lang="en-AE"/>
          </a:p>
        </p:txBody>
      </p:sp>
      <p:sp>
        <p:nvSpPr>
          <p:cNvPr id="3" name="Vertical Text Placeholder 2">
            <a:extLst>
              <a:ext uri="{FF2B5EF4-FFF2-40B4-BE49-F238E27FC236}">
                <a16:creationId xmlns:a16="http://schemas.microsoft.com/office/drawing/2014/main" id="{A3B1BFA2-93FF-2EF4-4D19-ADAC2B70731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A8E541E9-CBEB-4F75-2F05-6AE155305BFA}"/>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B3DF5E40-E756-3D9C-CBF0-5EA2DACC2EF7}"/>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20C97689-A728-9C81-6A4D-9CA404777F90}"/>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1531569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BB87BB-E023-AA9E-557F-1C4C1F245D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E"/>
          </a:p>
        </p:txBody>
      </p:sp>
      <p:sp>
        <p:nvSpPr>
          <p:cNvPr id="3" name="Vertical Text Placeholder 2">
            <a:extLst>
              <a:ext uri="{FF2B5EF4-FFF2-40B4-BE49-F238E27FC236}">
                <a16:creationId xmlns:a16="http://schemas.microsoft.com/office/drawing/2014/main" id="{1B45B554-4934-7A87-7A39-8736ADF6504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4B09A6D9-598A-9EAC-B312-5AF270D1B37E}"/>
              </a:ext>
            </a:extLst>
          </p:cNvPr>
          <p:cNvSpPr>
            <a:spLocks noGrp="1"/>
          </p:cNvSpPr>
          <p:nvPr>
            <p:ph type="dt" sz="half" idx="10"/>
          </p:nvPr>
        </p:nvSpPr>
        <p:spPr/>
        <p:txBody>
          <a:body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DD7DFC35-E2CC-AD08-2BD4-C50C058BB074}"/>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1EC6A154-6651-9FC6-EC34-4AA7342B2EE8}"/>
              </a:ext>
            </a:extLst>
          </p:cNvPr>
          <p:cNvSpPr>
            <a:spLocks noGrp="1"/>
          </p:cNvSpPr>
          <p:nvPr>
            <p:ph type="sldNum" sz="quarter" idx="12"/>
          </p:nvPr>
        </p:nvSpPr>
        <p:spPr/>
        <p:txBody>
          <a:bodyPr/>
          <a:lstStyle/>
          <a:p>
            <a:fld id="{D53D827C-92F3-4FDC-B433-FCDF3670A021}" type="slidenum">
              <a:rPr lang="en-AE" smtClean="0"/>
              <a:t>‹#›</a:t>
            </a:fld>
            <a:endParaRPr lang="en-AE"/>
          </a:p>
        </p:txBody>
      </p:sp>
    </p:spTree>
    <p:extLst>
      <p:ext uri="{BB962C8B-B14F-4D97-AF65-F5344CB8AC3E}">
        <p14:creationId xmlns:p14="http://schemas.microsoft.com/office/powerpoint/2010/main" val="2541565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D72DC1-86D9-A840-8D8D-F7F2DD0860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E"/>
          </a:p>
        </p:txBody>
      </p:sp>
      <p:sp>
        <p:nvSpPr>
          <p:cNvPr id="3" name="Text Placeholder 2">
            <a:extLst>
              <a:ext uri="{FF2B5EF4-FFF2-40B4-BE49-F238E27FC236}">
                <a16:creationId xmlns:a16="http://schemas.microsoft.com/office/drawing/2014/main" id="{9C103FBE-E1A0-C9A8-D0E2-B7A42E4EF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E"/>
          </a:p>
        </p:txBody>
      </p:sp>
      <p:sp>
        <p:nvSpPr>
          <p:cNvPr id="4" name="Date Placeholder 3">
            <a:extLst>
              <a:ext uri="{FF2B5EF4-FFF2-40B4-BE49-F238E27FC236}">
                <a16:creationId xmlns:a16="http://schemas.microsoft.com/office/drawing/2014/main" id="{0F21DACE-3AD8-49CC-D6F4-F0FFCE6D1E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D6574B-B3DA-4A7F-8F8D-6F88F6845949}" type="datetimeFigureOut">
              <a:rPr lang="en-AE" smtClean="0"/>
              <a:t>07/05/2026</a:t>
            </a:fld>
            <a:endParaRPr lang="en-AE"/>
          </a:p>
        </p:txBody>
      </p:sp>
      <p:sp>
        <p:nvSpPr>
          <p:cNvPr id="5" name="Footer Placeholder 4">
            <a:extLst>
              <a:ext uri="{FF2B5EF4-FFF2-40B4-BE49-F238E27FC236}">
                <a16:creationId xmlns:a16="http://schemas.microsoft.com/office/drawing/2014/main" id="{F964E60D-2A3D-89B6-C084-0D12643DE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A12D6838-CFA0-107F-39B7-6C1ED88864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3D827C-92F3-4FDC-B433-FCDF3670A021}" type="slidenum">
              <a:rPr lang="en-AE" smtClean="0"/>
              <a:t>‹#›</a:t>
            </a:fld>
            <a:endParaRPr lang="en-AE"/>
          </a:p>
        </p:txBody>
      </p:sp>
    </p:spTree>
    <p:extLst>
      <p:ext uri="{BB962C8B-B14F-4D97-AF65-F5344CB8AC3E}">
        <p14:creationId xmlns:p14="http://schemas.microsoft.com/office/powerpoint/2010/main" val="3903561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doi.org/10.1038/s41598-024-64231-0"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4.gif"/></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007/978-3-031-72215-8_1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sv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doi.org/10.1038/s41598-024-64231-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6C701-F661-BC05-7341-BF83DEA7A0E2}"/>
              </a:ext>
            </a:extLst>
          </p:cNvPr>
          <p:cNvSpPr>
            <a:spLocks noGrp="1"/>
          </p:cNvSpPr>
          <p:nvPr>
            <p:ph type="ctrTitle"/>
          </p:nvPr>
        </p:nvSpPr>
        <p:spPr>
          <a:xfrm>
            <a:off x="1524000" y="1584683"/>
            <a:ext cx="9144000" cy="2551829"/>
          </a:xfrm>
        </p:spPr>
        <p:txBody>
          <a:bodyPr anchor="ctr">
            <a:normAutofit/>
          </a:bodyPr>
          <a:lstStyle/>
          <a:p>
            <a:r>
              <a:rPr lang="en-GB" sz="5600"/>
              <a:t> Automated Change Detection of Building Footprints in Dubai</a:t>
            </a:r>
            <a:endParaRPr lang="en-AE" sz="5600" dirty="0"/>
          </a:p>
        </p:txBody>
      </p:sp>
      <p:sp>
        <p:nvSpPr>
          <p:cNvPr id="3" name="TextBox 2">
            <a:extLst>
              <a:ext uri="{FF2B5EF4-FFF2-40B4-BE49-F238E27FC236}">
                <a16:creationId xmlns:a16="http://schemas.microsoft.com/office/drawing/2014/main" id="{9111DA5B-C93C-F6E5-3D91-1C068C4C0F20}"/>
              </a:ext>
            </a:extLst>
          </p:cNvPr>
          <p:cNvSpPr txBox="1"/>
          <p:nvPr/>
        </p:nvSpPr>
        <p:spPr>
          <a:xfrm>
            <a:off x="0" y="0"/>
            <a:ext cx="633507" cy="369332"/>
          </a:xfrm>
          <a:prstGeom prst="rect">
            <a:avLst/>
          </a:prstGeom>
          <a:noFill/>
        </p:spPr>
        <p:txBody>
          <a:bodyPr wrap="none" rtlCol="0">
            <a:spAutoFit/>
          </a:bodyPr>
          <a:lstStyle/>
          <a:p>
            <a:r>
              <a:rPr lang="en-US" dirty="0"/>
              <a:t>1/47</a:t>
            </a:r>
            <a:endParaRPr lang="en-AE" dirty="0"/>
          </a:p>
        </p:txBody>
      </p:sp>
    </p:spTree>
    <p:extLst>
      <p:ext uri="{BB962C8B-B14F-4D97-AF65-F5344CB8AC3E}">
        <p14:creationId xmlns:p14="http://schemas.microsoft.com/office/powerpoint/2010/main" val="38499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B1C93E-54C0-A638-6AA3-5A56C6325586}"/>
              </a:ext>
            </a:extLst>
          </p:cNvPr>
          <p:cNvSpPr>
            <a:spLocks noGrp="1"/>
          </p:cNvSpPr>
          <p:nvPr>
            <p:ph type="title"/>
          </p:nvPr>
        </p:nvSpPr>
        <p:spPr>
          <a:xfrm>
            <a:off x="1043631" y="809898"/>
            <a:ext cx="10173010" cy="1554480"/>
          </a:xfrm>
        </p:spPr>
        <p:txBody>
          <a:bodyPr anchor="ctr">
            <a:normAutofit/>
          </a:bodyPr>
          <a:lstStyle/>
          <a:p>
            <a:r>
              <a:rPr lang="en-US" sz="4800"/>
              <a:t>Agenda</a:t>
            </a:r>
            <a:endParaRPr lang="en-AE"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2">
            <a:extLst>
              <a:ext uri="{FF2B5EF4-FFF2-40B4-BE49-F238E27FC236}">
                <a16:creationId xmlns:a16="http://schemas.microsoft.com/office/drawing/2014/main" id="{6B99FD9E-A5D5-D3E1-FFB3-5F14DA99A8B6}"/>
              </a:ext>
            </a:extLst>
          </p:cNvPr>
          <p:cNvGraphicFramePr>
            <a:graphicFrameLocks noGrp="1"/>
          </p:cNvGraphicFramePr>
          <p:nvPr>
            <p:ph idx="1"/>
            <p:extLst>
              <p:ext uri="{D42A27DB-BD31-4B8C-83A1-F6EECF244321}">
                <p14:modId xmlns:p14="http://schemas.microsoft.com/office/powerpoint/2010/main" val="174748564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6859F49A-B9A7-5183-64D3-686DB6AF5D0B}"/>
              </a:ext>
            </a:extLst>
          </p:cNvPr>
          <p:cNvSpPr txBox="1"/>
          <p:nvPr/>
        </p:nvSpPr>
        <p:spPr>
          <a:xfrm>
            <a:off x="0" y="0"/>
            <a:ext cx="633507" cy="369332"/>
          </a:xfrm>
          <a:prstGeom prst="rect">
            <a:avLst/>
          </a:prstGeom>
          <a:noFill/>
        </p:spPr>
        <p:txBody>
          <a:bodyPr wrap="none" rtlCol="0">
            <a:spAutoFit/>
          </a:bodyPr>
          <a:lstStyle/>
          <a:p>
            <a:r>
              <a:rPr lang="en-US" dirty="0"/>
              <a:t>2/47</a:t>
            </a:r>
            <a:endParaRPr lang="en-AE" dirty="0"/>
          </a:p>
        </p:txBody>
      </p:sp>
    </p:spTree>
    <p:extLst>
      <p:ext uri="{BB962C8B-B14F-4D97-AF65-F5344CB8AC3E}">
        <p14:creationId xmlns:p14="http://schemas.microsoft.com/office/powerpoint/2010/main" val="1318932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2CC403-21CD-41DF-BAC4-329D7FF03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84B99A-A1AC-1DAD-99D1-71439B066475}"/>
              </a:ext>
            </a:extLst>
          </p:cNvPr>
          <p:cNvSpPr>
            <a:spLocks noGrp="1"/>
          </p:cNvSpPr>
          <p:nvPr>
            <p:ph type="title"/>
          </p:nvPr>
        </p:nvSpPr>
        <p:spPr>
          <a:xfrm>
            <a:off x="1078828" y="1147158"/>
            <a:ext cx="6038470" cy="4713316"/>
          </a:xfrm>
        </p:spPr>
        <p:txBody>
          <a:bodyPr vert="horz" lIns="91440" tIns="45720" rIns="91440" bIns="45720" rtlCol="0" anchor="ctr">
            <a:normAutofit/>
          </a:bodyPr>
          <a:lstStyle/>
          <a:p>
            <a:r>
              <a:rPr lang="en-US" kern="1200">
                <a:solidFill>
                  <a:schemeClr val="tx1"/>
                </a:solidFill>
                <a:latin typeface="+mj-lt"/>
                <a:ea typeface="+mj-ea"/>
                <a:cs typeface="+mj-cs"/>
              </a:rPr>
              <a:t>Introduction</a:t>
            </a:r>
          </a:p>
        </p:txBody>
      </p:sp>
      <p:grpSp>
        <p:nvGrpSpPr>
          <p:cNvPr id="10" name="Group 9">
            <a:extLst>
              <a:ext uri="{FF2B5EF4-FFF2-40B4-BE49-F238E27FC236}">
                <a16:creationId xmlns:a16="http://schemas.microsoft.com/office/drawing/2014/main" id="{B13AA5FE-3FFC-4725-9ADD-E428544EC6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4FA70700-3F72-44D4-8175-FEB2B9B23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093C0F6-5741-4C9D-90FF-A25824BFC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21B2E1B-E962-432C-ADA1-2934CE3C54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7653717E-6F8C-43E0-9893-C03AE87D1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5BB14B4-EC3F-47C7-9AF3-B0E017B75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66160" y="391886"/>
            <a:ext cx="402901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2F6C301-1A82-F58B-F187-9EF9C28103CA}"/>
              </a:ext>
            </a:extLst>
          </p:cNvPr>
          <p:cNvSpPr>
            <a:spLocks noGrp="1"/>
          </p:cNvSpPr>
          <p:nvPr>
            <p:ph type="body" idx="1"/>
          </p:nvPr>
        </p:nvSpPr>
        <p:spPr>
          <a:xfrm>
            <a:off x="8030590" y="1687486"/>
            <a:ext cx="3300156" cy="3636818"/>
          </a:xfrm>
        </p:spPr>
        <p:txBody>
          <a:bodyPr vert="horz" lIns="91440" tIns="45720" rIns="91440" bIns="45720" rtlCol="0" anchor="ctr">
            <a:normAutofit/>
          </a:bodyPr>
          <a:lstStyle/>
          <a:p>
            <a:r>
              <a:rPr lang="en-US" kern="1200">
                <a:solidFill>
                  <a:schemeClr val="tx1"/>
                </a:solidFill>
                <a:latin typeface="+mn-lt"/>
                <a:ea typeface="+mn-ea"/>
                <a:cs typeface="+mn-cs"/>
              </a:rPr>
              <a:t>Building Footprints, Change Detection, Siamese Networks</a:t>
            </a:r>
          </a:p>
        </p:txBody>
      </p:sp>
      <p:sp>
        <p:nvSpPr>
          <p:cNvPr id="4" name="TextBox 3">
            <a:extLst>
              <a:ext uri="{FF2B5EF4-FFF2-40B4-BE49-F238E27FC236}">
                <a16:creationId xmlns:a16="http://schemas.microsoft.com/office/drawing/2014/main" id="{35DBAB1D-9C1E-071A-1C57-32DC83235A0B}"/>
              </a:ext>
            </a:extLst>
          </p:cNvPr>
          <p:cNvSpPr txBox="1"/>
          <p:nvPr/>
        </p:nvSpPr>
        <p:spPr>
          <a:xfrm>
            <a:off x="0" y="0"/>
            <a:ext cx="633507" cy="369332"/>
          </a:xfrm>
          <a:prstGeom prst="rect">
            <a:avLst/>
          </a:prstGeom>
          <a:noFill/>
        </p:spPr>
        <p:txBody>
          <a:bodyPr wrap="none" rtlCol="0">
            <a:spAutoFit/>
          </a:bodyPr>
          <a:lstStyle/>
          <a:p>
            <a:r>
              <a:rPr lang="en-US" dirty="0"/>
              <a:t>3/47</a:t>
            </a:r>
            <a:endParaRPr lang="en-AE" dirty="0"/>
          </a:p>
        </p:txBody>
      </p:sp>
    </p:spTree>
    <p:extLst>
      <p:ext uri="{BB962C8B-B14F-4D97-AF65-F5344CB8AC3E}">
        <p14:creationId xmlns:p14="http://schemas.microsoft.com/office/powerpoint/2010/main" val="210693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E2A62-0B53-51A2-C3A7-CE30D0211982}"/>
              </a:ext>
            </a:extLst>
          </p:cNvPr>
          <p:cNvSpPr>
            <a:spLocks noGrp="1"/>
          </p:cNvSpPr>
          <p:nvPr>
            <p:ph type="title"/>
          </p:nvPr>
        </p:nvSpPr>
        <p:spPr/>
        <p:txBody>
          <a:bodyPr/>
          <a:lstStyle/>
          <a:p>
            <a:r>
              <a:rPr lang="en-US" dirty="0"/>
              <a:t>Introduction</a:t>
            </a:r>
            <a:endParaRPr lang="en-AE" dirty="0"/>
          </a:p>
        </p:txBody>
      </p:sp>
      <p:graphicFrame>
        <p:nvGraphicFramePr>
          <p:cNvPr id="5" name="Content Placeholder 2">
            <a:extLst>
              <a:ext uri="{FF2B5EF4-FFF2-40B4-BE49-F238E27FC236}">
                <a16:creationId xmlns:a16="http://schemas.microsoft.com/office/drawing/2014/main" id="{ACBA9754-8025-B055-FE34-3A3742A85408}"/>
              </a:ext>
            </a:extLst>
          </p:cNvPr>
          <p:cNvGraphicFramePr>
            <a:graphicFrameLocks noGrp="1"/>
          </p:cNvGraphicFramePr>
          <p:nvPr>
            <p:ph idx="1"/>
            <p:extLst>
              <p:ext uri="{D42A27DB-BD31-4B8C-83A1-F6EECF244321}">
                <p14:modId xmlns:p14="http://schemas.microsoft.com/office/powerpoint/2010/main" val="32025364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extBox 15">
            <a:extLst>
              <a:ext uri="{FF2B5EF4-FFF2-40B4-BE49-F238E27FC236}">
                <a16:creationId xmlns:a16="http://schemas.microsoft.com/office/drawing/2014/main" id="{B05E904A-3E95-3898-388D-12A783849FDF}"/>
              </a:ext>
            </a:extLst>
          </p:cNvPr>
          <p:cNvSpPr txBox="1"/>
          <p:nvPr/>
        </p:nvSpPr>
        <p:spPr>
          <a:xfrm>
            <a:off x="0" y="6311900"/>
            <a:ext cx="12192000" cy="553998"/>
          </a:xfrm>
          <a:prstGeom prst="rect">
            <a:avLst/>
          </a:prstGeom>
          <a:noFill/>
        </p:spPr>
        <p:txBody>
          <a:bodyPr wrap="square">
            <a:spAutoFit/>
          </a:bodyPr>
          <a:lstStyle/>
          <a:p>
            <a:pPr marL="171450" indent="-171450">
              <a:buFont typeface="Arial" panose="020B0604020202020204" pitchFamily="34" charset="0"/>
              <a:buChar char="•"/>
            </a:pPr>
            <a:r>
              <a:rPr lang="en-US" sz="1000" b="0" i="0" dirty="0" err="1">
                <a:solidFill>
                  <a:srgbClr val="222222"/>
                </a:solidFill>
                <a:effectLst/>
                <a:latin typeface="Times New Roman" panose="02020603050405020304" pitchFamily="18" charset="0"/>
                <a:cs typeface="Times New Roman" panose="02020603050405020304" pitchFamily="18" charset="0"/>
              </a:rPr>
              <a:t>Dabove</a:t>
            </a:r>
            <a:r>
              <a:rPr lang="en-US" sz="1000" b="0" i="0" dirty="0">
                <a:solidFill>
                  <a:srgbClr val="222222"/>
                </a:solidFill>
                <a:effectLst/>
                <a:latin typeface="Times New Roman" panose="02020603050405020304" pitchFamily="18" charset="0"/>
                <a:cs typeface="Times New Roman" panose="02020603050405020304" pitchFamily="18" charset="0"/>
              </a:rPr>
              <a:t>, P., Daud, M. &amp; </a:t>
            </a:r>
            <a:r>
              <a:rPr lang="en-US" sz="1000" b="0" i="0" dirty="0" err="1">
                <a:solidFill>
                  <a:srgbClr val="222222"/>
                </a:solidFill>
                <a:effectLst/>
                <a:latin typeface="Times New Roman" panose="02020603050405020304" pitchFamily="18" charset="0"/>
                <a:cs typeface="Times New Roman" panose="02020603050405020304" pitchFamily="18" charset="0"/>
              </a:rPr>
              <a:t>Olivotto</a:t>
            </a:r>
            <a:r>
              <a:rPr lang="en-US" sz="1000" b="0" i="0" dirty="0">
                <a:solidFill>
                  <a:srgbClr val="222222"/>
                </a:solidFill>
                <a:effectLst/>
                <a:latin typeface="Times New Roman" panose="02020603050405020304" pitchFamily="18" charset="0"/>
                <a:cs typeface="Times New Roman" panose="02020603050405020304" pitchFamily="18" charset="0"/>
              </a:rPr>
              <a:t>, L. Revolutionizing urban mapping: deep learning and data fusion strategies for accurate building footprint segmentation. </a:t>
            </a:r>
            <a:r>
              <a:rPr lang="en-US" sz="1000" b="0" i="1" dirty="0">
                <a:solidFill>
                  <a:srgbClr val="222222"/>
                </a:solidFill>
                <a:effectLst/>
                <a:latin typeface="Times New Roman" panose="02020603050405020304" pitchFamily="18" charset="0"/>
                <a:cs typeface="Times New Roman" panose="02020603050405020304" pitchFamily="18" charset="0"/>
              </a:rPr>
              <a:t>Sci Rep</a:t>
            </a:r>
            <a:r>
              <a:rPr lang="en-US" sz="1000" b="0" i="0" dirty="0">
                <a:solidFill>
                  <a:srgbClr val="222222"/>
                </a:solidFill>
                <a:effectLst/>
                <a:latin typeface="Times New Roman" panose="02020603050405020304" pitchFamily="18" charset="0"/>
                <a:cs typeface="Times New Roman" panose="02020603050405020304" pitchFamily="18" charset="0"/>
              </a:rPr>
              <a:t> </a:t>
            </a:r>
            <a:r>
              <a:rPr lang="en-US" sz="1000" b="1" i="0" dirty="0">
                <a:solidFill>
                  <a:srgbClr val="222222"/>
                </a:solidFill>
                <a:effectLst/>
                <a:latin typeface="Times New Roman" panose="02020603050405020304" pitchFamily="18" charset="0"/>
                <a:cs typeface="Times New Roman" panose="02020603050405020304" pitchFamily="18" charset="0"/>
              </a:rPr>
              <a:t>14</a:t>
            </a:r>
            <a:r>
              <a:rPr lang="en-US" sz="1000" b="0" i="0" dirty="0">
                <a:solidFill>
                  <a:srgbClr val="222222"/>
                </a:solidFill>
                <a:effectLst/>
                <a:latin typeface="Times New Roman" panose="02020603050405020304" pitchFamily="18" charset="0"/>
                <a:cs typeface="Times New Roman" panose="02020603050405020304" pitchFamily="18" charset="0"/>
              </a:rPr>
              <a:t>, 13510 (2024). </a:t>
            </a:r>
            <a:r>
              <a:rPr lang="en-US" sz="1000" b="0" i="0" dirty="0">
                <a:solidFill>
                  <a:srgbClr val="222222"/>
                </a:solidFill>
                <a:effectLst/>
                <a:latin typeface="Times New Roman" panose="02020603050405020304" pitchFamily="18" charset="0"/>
                <a:cs typeface="Times New Roman" panose="02020603050405020304" pitchFamily="18" charset="0"/>
                <a:hlinkClick r:id="rId7"/>
              </a:rPr>
              <a:t>https://doi.org/10.1038/s41598-024-64231-0</a:t>
            </a:r>
            <a:endParaRPr lang="en-US" sz="1000" b="0" i="0" dirty="0">
              <a:solidFill>
                <a:srgbClr val="222222"/>
              </a:solidFill>
              <a:effectLst/>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W. Liu et al., "Building Footprint Extraction From Unmanned Aerial Vehicle Images Via PRU-Net: Application to Change Detection," in IEEE Journal of Selected Topics in Applied Earth Observations and Remote Sensing, vol. 14, pp. 2236-2248, 2021, </a:t>
            </a:r>
            <a:r>
              <a:rPr lang="en-US" sz="1000" dirty="0" err="1">
                <a:latin typeface="Times New Roman" panose="02020603050405020304" pitchFamily="18" charset="0"/>
                <a:cs typeface="Times New Roman" panose="02020603050405020304" pitchFamily="18" charset="0"/>
              </a:rPr>
              <a:t>doi</a:t>
            </a:r>
            <a:r>
              <a:rPr lang="en-US" sz="1000" dirty="0">
                <a:latin typeface="Times New Roman" panose="02020603050405020304" pitchFamily="18" charset="0"/>
                <a:cs typeface="Times New Roman" panose="02020603050405020304" pitchFamily="18" charset="0"/>
              </a:rPr>
              <a:t>: 10.1109/JSTARS.2021.3052495.</a:t>
            </a:r>
            <a:endParaRPr lang="en-AE" sz="1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9D87C59-2405-2608-21BE-A71CAABA8A28}"/>
              </a:ext>
            </a:extLst>
          </p:cNvPr>
          <p:cNvSpPr txBox="1"/>
          <p:nvPr/>
        </p:nvSpPr>
        <p:spPr>
          <a:xfrm>
            <a:off x="0" y="0"/>
            <a:ext cx="633507" cy="369332"/>
          </a:xfrm>
          <a:prstGeom prst="rect">
            <a:avLst/>
          </a:prstGeom>
          <a:noFill/>
        </p:spPr>
        <p:txBody>
          <a:bodyPr wrap="none" rtlCol="0">
            <a:spAutoFit/>
          </a:bodyPr>
          <a:lstStyle/>
          <a:p>
            <a:r>
              <a:rPr lang="en-US" dirty="0"/>
              <a:t>4/47</a:t>
            </a:r>
            <a:endParaRPr lang="en-AE" dirty="0"/>
          </a:p>
        </p:txBody>
      </p:sp>
    </p:spTree>
    <p:extLst>
      <p:ext uri="{BB962C8B-B14F-4D97-AF65-F5344CB8AC3E}">
        <p14:creationId xmlns:p14="http://schemas.microsoft.com/office/powerpoint/2010/main" val="2708022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1C4D17-1717-E127-88ED-46660CC73EC1}"/>
              </a:ext>
            </a:extLst>
          </p:cNvPr>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a:solidFill>
                  <a:schemeClr val="tx1"/>
                </a:solidFill>
                <a:latin typeface="+mj-lt"/>
                <a:ea typeface="+mj-ea"/>
                <a:cs typeface="+mj-cs"/>
              </a:rPr>
              <a:t>Related Work</a:t>
            </a:r>
          </a:p>
        </p:txBody>
      </p:sp>
      <p:sp>
        <p:nvSpPr>
          <p:cNvPr id="39" name="Content Placeholder 2">
            <a:extLst>
              <a:ext uri="{FF2B5EF4-FFF2-40B4-BE49-F238E27FC236}">
                <a16:creationId xmlns:a16="http://schemas.microsoft.com/office/drawing/2014/main" id="{5B71F1CE-DCF4-3D5C-76B5-5BEAEAAFFDA3}"/>
              </a:ext>
            </a:extLst>
          </p:cNvPr>
          <p:cNvSpPr>
            <a:spLocks noGrp="1"/>
          </p:cNvSpPr>
          <p:nvPr>
            <p:ph idx="1"/>
          </p:nvPr>
        </p:nvSpPr>
        <p:spPr>
          <a:xfrm>
            <a:off x="1452655" y="2486642"/>
            <a:ext cx="4613411" cy="3297631"/>
          </a:xfrm>
        </p:spPr>
        <p:txBody>
          <a:bodyPr vert="horz" lIns="91440" tIns="45720" rIns="91440" bIns="45720" rtlCol="0">
            <a:normAutofit lnSpcReduction="10000"/>
          </a:bodyPr>
          <a:lstStyle/>
          <a:p>
            <a:pPr algn="just"/>
            <a:r>
              <a:rPr lang="en-US" sz="1400" b="1" dirty="0"/>
              <a:t>Rule-Based Approaches: </a:t>
            </a:r>
            <a:r>
              <a:rPr lang="en-US" sz="1400" dirty="0"/>
              <a:t>use predefined geometric thresholds to extract footprints, but lack adaptability for complex, high-resolution urban environments.</a:t>
            </a:r>
          </a:p>
          <a:p>
            <a:pPr algn="just"/>
            <a:r>
              <a:rPr lang="en-US" sz="1400" b="1" dirty="0"/>
              <a:t>Machine Learning Approaches: </a:t>
            </a:r>
            <a:r>
              <a:rPr lang="en-US" sz="1400" dirty="0"/>
              <a:t>Use feature-based algorithms (e.g. Random Forest) to classify buildings based on color, texture, or shape, but require manual feature extraction and struggle with varying urban complexities.</a:t>
            </a:r>
          </a:p>
          <a:p>
            <a:pPr algn="just"/>
            <a:r>
              <a:rPr lang="en-US" sz="1400" b="1" dirty="0"/>
              <a:t>Deep Learning Approaches:</a:t>
            </a:r>
            <a:r>
              <a:rPr lang="en-US" sz="1400" dirty="0"/>
              <a:t> CNNs achieve highly accurate and robust semantic segmentation but demand high computational resources and face generalization challenges across diverse datasets.</a:t>
            </a:r>
          </a:p>
          <a:p>
            <a:pPr algn="just"/>
            <a:r>
              <a:rPr lang="en-US" sz="1400" b="1" dirty="0"/>
              <a:t>Data Fusion Approaches: </a:t>
            </a:r>
            <a:r>
              <a:rPr lang="en-US" sz="1400" dirty="0"/>
              <a:t>multiple data sources (RGB imagery with elevation models) enhance boundary detection and accuracy, depends on data alignment and compatibility.</a:t>
            </a:r>
          </a:p>
        </p:txBody>
      </p:sp>
      <p:sp>
        <p:nvSpPr>
          <p:cNvPr id="7" name="TextBox 6">
            <a:extLst>
              <a:ext uri="{FF2B5EF4-FFF2-40B4-BE49-F238E27FC236}">
                <a16:creationId xmlns:a16="http://schemas.microsoft.com/office/drawing/2014/main" id="{04CF330A-A0DC-6F2F-DED1-D0AA9BAC5210}"/>
              </a:ext>
            </a:extLst>
          </p:cNvPr>
          <p:cNvSpPr txBox="1"/>
          <p:nvPr/>
        </p:nvSpPr>
        <p:spPr>
          <a:xfrm>
            <a:off x="6256020" y="2701427"/>
            <a:ext cx="4799907" cy="26999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b="0" i="0" dirty="0" err="1">
                <a:effectLst/>
              </a:rPr>
              <a:t>Dabove</a:t>
            </a:r>
            <a:r>
              <a:rPr lang="en-US" sz="2000" b="0" i="0" dirty="0">
                <a:effectLst/>
              </a:rPr>
              <a:t>, P., Daud, M. &amp; </a:t>
            </a:r>
            <a:r>
              <a:rPr lang="en-US" sz="2000" b="0" i="0" dirty="0" err="1">
                <a:effectLst/>
              </a:rPr>
              <a:t>Olivotto</a:t>
            </a:r>
            <a:r>
              <a:rPr lang="en-US" sz="2000" b="0" i="0" dirty="0">
                <a:effectLst/>
              </a:rPr>
              <a:t>, L. Revolutionizing urban mapping: deep learning and data fusion strategies for accurate building footprint segmentation. </a:t>
            </a:r>
            <a:r>
              <a:rPr lang="en-US" sz="2000" b="0" i="1" dirty="0">
                <a:effectLst/>
              </a:rPr>
              <a:t>Sci Rep</a:t>
            </a:r>
            <a:r>
              <a:rPr lang="en-US" sz="2000" b="0" i="0" dirty="0">
                <a:effectLst/>
              </a:rPr>
              <a:t> </a:t>
            </a:r>
            <a:r>
              <a:rPr lang="en-US" sz="2000" b="1" i="0" dirty="0">
                <a:effectLst/>
              </a:rPr>
              <a:t>14</a:t>
            </a:r>
            <a:r>
              <a:rPr lang="en-US" sz="2000" b="0" i="0" dirty="0">
                <a:effectLst/>
              </a:rPr>
              <a:t>, 13510 (2024). https://doi.org/10.1038/s41598-024-64231-0</a:t>
            </a:r>
            <a:endParaRPr lang="en-US" sz="2000" dirty="0"/>
          </a:p>
        </p:txBody>
      </p:sp>
      <p:sp>
        <p:nvSpPr>
          <p:cNvPr id="3" name="TextBox 2">
            <a:extLst>
              <a:ext uri="{FF2B5EF4-FFF2-40B4-BE49-F238E27FC236}">
                <a16:creationId xmlns:a16="http://schemas.microsoft.com/office/drawing/2014/main" id="{01CE09C8-30D0-1180-1DE3-2EC3E2088E09}"/>
              </a:ext>
            </a:extLst>
          </p:cNvPr>
          <p:cNvSpPr txBox="1"/>
          <p:nvPr/>
        </p:nvSpPr>
        <p:spPr>
          <a:xfrm>
            <a:off x="0" y="0"/>
            <a:ext cx="633507" cy="369332"/>
          </a:xfrm>
          <a:prstGeom prst="rect">
            <a:avLst/>
          </a:prstGeom>
          <a:noFill/>
        </p:spPr>
        <p:txBody>
          <a:bodyPr wrap="none" rtlCol="0">
            <a:spAutoFit/>
          </a:bodyPr>
          <a:lstStyle/>
          <a:p>
            <a:r>
              <a:rPr lang="en-US" dirty="0"/>
              <a:t>5/47</a:t>
            </a:r>
            <a:endParaRPr lang="en-AE" dirty="0"/>
          </a:p>
        </p:txBody>
      </p:sp>
    </p:spTree>
    <p:extLst>
      <p:ext uri="{BB962C8B-B14F-4D97-AF65-F5344CB8AC3E}">
        <p14:creationId xmlns:p14="http://schemas.microsoft.com/office/powerpoint/2010/main" val="181294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7D2494-7AEA-C91C-1439-FFF91EABE9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0D7A57-3384-3669-A339-79EE84B52FFA}"/>
              </a:ext>
            </a:extLst>
          </p:cNvPr>
          <p:cNvSpPr>
            <a:spLocks noGrp="1"/>
          </p:cNvSpPr>
          <p:nvPr>
            <p:ph type="title"/>
          </p:nvPr>
        </p:nvSpPr>
        <p:spPr>
          <a:xfrm>
            <a:off x="808638" y="386930"/>
            <a:ext cx="9236700" cy="1188950"/>
          </a:xfrm>
        </p:spPr>
        <p:txBody>
          <a:bodyPr anchor="b">
            <a:normAutofit/>
          </a:bodyPr>
          <a:lstStyle/>
          <a:p>
            <a:r>
              <a:rPr lang="en-US" sz="5400"/>
              <a:t>Siamese Networks</a:t>
            </a:r>
            <a:endParaRPr lang="en-AE"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7BC3D9-6856-D5AB-AB83-681E93E3AC65}"/>
              </a:ext>
            </a:extLst>
          </p:cNvPr>
          <p:cNvSpPr>
            <a:spLocks noGrp="1"/>
          </p:cNvSpPr>
          <p:nvPr>
            <p:ph idx="1"/>
          </p:nvPr>
        </p:nvSpPr>
        <p:spPr>
          <a:xfrm>
            <a:off x="793660" y="2266951"/>
            <a:ext cx="10143668" cy="3768090"/>
          </a:xfrm>
        </p:spPr>
        <p:txBody>
          <a:bodyPr anchor="ctr">
            <a:normAutofit/>
          </a:bodyPr>
          <a:lstStyle/>
          <a:p>
            <a:r>
              <a:rPr lang="en-US" sz="2400" dirty="0"/>
              <a:t>Siamese networks compare remote sensing images across different time periods by extracting their features and calculating differences between feature vectors to detect change regions.</a:t>
            </a:r>
          </a:p>
          <a:p>
            <a:r>
              <a:rPr lang="en-US" sz="2400" dirty="0"/>
              <a:t>Siamese Network consists of two twin subnetworks that share weights. Each subnetwork takes one input, and the outputs of both are compared to determine the similarity using a distance metric. </a:t>
            </a:r>
          </a:p>
        </p:txBody>
      </p:sp>
      <p:sp>
        <p:nvSpPr>
          <p:cNvPr id="4" name="TextBox 3">
            <a:extLst>
              <a:ext uri="{FF2B5EF4-FFF2-40B4-BE49-F238E27FC236}">
                <a16:creationId xmlns:a16="http://schemas.microsoft.com/office/drawing/2014/main" id="{E1B91BE1-40F7-EBD8-02D8-1248960A31EE}"/>
              </a:ext>
            </a:extLst>
          </p:cNvPr>
          <p:cNvSpPr txBox="1"/>
          <p:nvPr/>
        </p:nvSpPr>
        <p:spPr>
          <a:xfrm>
            <a:off x="-2" y="5643038"/>
            <a:ext cx="11398342" cy="707886"/>
          </a:xfrm>
          <a:prstGeom prst="rect">
            <a:avLst/>
          </a:prstGeom>
          <a:noFill/>
        </p:spPr>
        <p:txBody>
          <a:bodyPr wrap="square">
            <a:spAutoFit/>
          </a:bodyPr>
          <a:lstStyle/>
          <a:p>
            <a:pPr marL="171450" indent="-171450">
              <a:buFont typeface="Arial" panose="020B0604020202020204" pitchFamily="34" charset="0"/>
              <a:buChar char="•"/>
            </a:pPr>
            <a:r>
              <a:rPr lang="en-AE" sz="800" dirty="0"/>
              <a:t>T. Wu, Z. Sun, Z. Zhao, J. Wang, R. Yu and J. Ji, "SFCF-Net: A Cross-Hierarchical Progressive Feature Integration Network for UAV Image Change Detection," in IEEE Journal of Selected Topics in Applied Earth Observations and Remote Sensing, vol. 19, pp. 9127-9143, 2026, </a:t>
            </a:r>
            <a:r>
              <a:rPr lang="en-AE" sz="800" dirty="0" err="1"/>
              <a:t>doi</a:t>
            </a:r>
            <a:r>
              <a:rPr lang="en-AE" sz="800" dirty="0"/>
              <a:t>: 10.1109/JSTARS.2026.3664258.</a:t>
            </a:r>
          </a:p>
          <a:p>
            <a:pPr marL="171450" indent="-171450">
              <a:buFont typeface="Arial" panose="020B0604020202020204" pitchFamily="34" charset="0"/>
              <a:buChar char="•"/>
            </a:pPr>
            <a:r>
              <a:rPr lang="en-US" sz="800" dirty="0"/>
              <a:t>Y. Li, C. L. P. Chen and T. Zhang, "A Survey on Siamese Network: Methodologies, Applications, and Opportunities," in IEEE Transactions on Artificial Intelligence, vol. 3, no. 6, pp. 994-1014, Dec. 2022, </a:t>
            </a:r>
            <a:r>
              <a:rPr lang="en-US" sz="800" dirty="0" err="1"/>
              <a:t>doi</a:t>
            </a:r>
            <a:r>
              <a:rPr lang="en-US" sz="800" dirty="0"/>
              <a:t>: 10.1109/TAI.2022.3207112.</a:t>
            </a:r>
          </a:p>
          <a:p>
            <a:pPr marL="171450" indent="-171450">
              <a:buFont typeface="Arial" panose="020B0604020202020204" pitchFamily="34" charset="0"/>
              <a:buChar char="•"/>
            </a:pPr>
            <a:r>
              <a:rPr lang="en-US" sz="800" dirty="0"/>
              <a:t>T. Chen, Z. Lu, Y. Yang, Y. Zhang, B. Du and A. Plaza, "A Siamese Network Based U-Net for Change Detection in High Resolution Remote Sensing Images," in IEEE Journal of Selected Topics in Applied Earth Observations and Remote Sensing, vol. 15, pp. 2357-2369, 2022</a:t>
            </a:r>
          </a:p>
        </p:txBody>
      </p:sp>
      <p:sp>
        <p:nvSpPr>
          <p:cNvPr id="5" name="TextBox 4">
            <a:extLst>
              <a:ext uri="{FF2B5EF4-FFF2-40B4-BE49-F238E27FC236}">
                <a16:creationId xmlns:a16="http://schemas.microsoft.com/office/drawing/2014/main" id="{66B0C2EF-1920-E036-C624-199DE2155C9F}"/>
              </a:ext>
            </a:extLst>
          </p:cNvPr>
          <p:cNvSpPr txBox="1"/>
          <p:nvPr/>
        </p:nvSpPr>
        <p:spPr>
          <a:xfrm>
            <a:off x="0" y="0"/>
            <a:ext cx="633507" cy="369332"/>
          </a:xfrm>
          <a:prstGeom prst="rect">
            <a:avLst/>
          </a:prstGeom>
          <a:noFill/>
        </p:spPr>
        <p:txBody>
          <a:bodyPr wrap="none" rtlCol="0">
            <a:spAutoFit/>
          </a:bodyPr>
          <a:lstStyle/>
          <a:p>
            <a:r>
              <a:rPr lang="en-US" dirty="0"/>
              <a:t>6/47</a:t>
            </a:r>
            <a:endParaRPr lang="en-AE" dirty="0"/>
          </a:p>
        </p:txBody>
      </p:sp>
    </p:spTree>
    <p:extLst>
      <p:ext uri="{BB962C8B-B14F-4D97-AF65-F5344CB8AC3E}">
        <p14:creationId xmlns:p14="http://schemas.microsoft.com/office/powerpoint/2010/main" val="3580170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305A6-CA0C-9620-53EC-5D673BD5647E}"/>
              </a:ext>
            </a:extLst>
          </p:cNvPr>
          <p:cNvSpPr>
            <a:spLocks noGrp="1"/>
          </p:cNvSpPr>
          <p:nvPr>
            <p:ph type="title"/>
          </p:nvPr>
        </p:nvSpPr>
        <p:spPr>
          <a:xfrm>
            <a:off x="1285241" y="1008993"/>
            <a:ext cx="9231410" cy="3542045"/>
          </a:xfrm>
        </p:spPr>
        <p:txBody>
          <a:bodyPr vert="horz" lIns="91440" tIns="45720" rIns="91440" bIns="45720" rtlCol="0" anchor="b">
            <a:normAutofit/>
          </a:bodyPr>
          <a:lstStyle/>
          <a:p>
            <a:r>
              <a:rPr lang="en-US" sz="11500" kern="1200">
                <a:solidFill>
                  <a:schemeClr val="tx1"/>
                </a:solidFill>
                <a:latin typeface="+mj-lt"/>
                <a:ea typeface="+mj-ea"/>
                <a:cs typeface="+mj-cs"/>
              </a:rPr>
              <a:t>Proposed Methodology</a:t>
            </a:r>
          </a:p>
        </p:txBody>
      </p:sp>
      <p:sp>
        <p:nvSpPr>
          <p:cNvPr id="3" name="Text Placeholder 2">
            <a:extLst>
              <a:ext uri="{FF2B5EF4-FFF2-40B4-BE49-F238E27FC236}">
                <a16:creationId xmlns:a16="http://schemas.microsoft.com/office/drawing/2014/main" id="{6A62F440-6706-FBE8-97DA-3330AA729437}"/>
              </a:ext>
            </a:extLst>
          </p:cNvPr>
          <p:cNvSpPr>
            <a:spLocks noGrp="1"/>
          </p:cNvSpPr>
          <p:nvPr>
            <p:ph type="body" idx="1"/>
          </p:nvPr>
        </p:nvSpPr>
        <p:spPr>
          <a:xfrm>
            <a:off x="1285241" y="4582814"/>
            <a:ext cx="7132335" cy="1312657"/>
          </a:xfrm>
        </p:spPr>
        <p:txBody>
          <a:bodyPr vert="horz" lIns="91440" tIns="45720" rIns="91440" bIns="45720" rtlCol="0" anchor="t">
            <a:normAutofit/>
          </a:bodyPr>
          <a:lstStyle/>
          <a:p>
            <a:r>
              <a:rPr lang="en-US" kern="1200">
                <a:solidFill>
                  <a:schemeClr val="tx1"/>
                </a:solidFill>
                <a:latin typeface="+mn-lt"/>
                <a:ea typeface="+mn-ea"/>
                <a:cs typeface="+mn-cs"/>
              </a:rPr>
              <a:t>Dataset Preprocessing, Model Training, Model Evaluation   </a:t>
            </a:r>
          </a:p>
        </p:txBody>
      </p:sp>
      <p:sp>
        <p:nvSpPr>
          <p:cNvPr id="4" name="TextBox 3">
            <a:extLst>
              <a:ext uri="{FF2B5EF4-FFF2-40B4-BE49-F238E27FC236}">
                <a16:creationId xmlns:a16="http://schemas.microsoft.com/office/drawing/2014/main" id="{76AF6DDF-95A3-1620-F3D0-4C414C0FF20A}"/>
              </a:ext>
            </a:extLst>
          </p:cNvPr>
          <p:cNvSpPr txBox="1"/>
          <p:nvPr/>
        </p:nvSpPr>
        <p:spPr>
          <a:xfrm>
            <a:off x="0" y="0"/>
            <a:ext cx="633507" cy="369332"/>
          </a:xfrm>
          <a:prstGeom prst="rect">
            <a:avLst/>
          </a:prstGeom>
          <a:noFill/>
        </p:spPr>
        <p:txBody>
          <a:bodyPr wrap="none" rtlCol="0">
            <a:spAutoFit/>
          </a:bodyPr>
          <a:lstStyle/>
          <a:p>
            <a:r>
              <a:rPr lang="en-US" dirty="0"/>
              <a:t>7/47</a:t>
            </a:r>
            <a:endParaRPr lang="en-AE" dirty="0"/>
          </a:p>
        </p:txBody>
      </p:sp>
    </p:spTree>
    <p:extLst>
      <p:ext uri="{BB962C8B-B14F-4D97-AF65-F5344CB8AC3E}">
        <p14:creationId xmlns:p14="http://schemas.microsoft.com/office/powerpoint/2010/main" val="163334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E1DEA1-947D-044D-D5E8-56DA32555171}"/>
              </a:ext>
            </a:extLst>
          </p:cNvPr>
          <p:cNvSpPr>
            <a:spLocks noGrp="1"/>
          </p:cNvSpPr>
          <p:nvPr>
            <p:ph type="title"/>
          </p:nvPr>
        </p:nvSpPr>
        <p:spPr>
          <a:xfrm>
            <a:off x="1282963" y="1238080"/>
            <a:ext cx="9849751" cy="1349671"/>
          </a:xfrm>
        </p:spPr>
        <p:txBody>
          <a:bodyPr anchor="b">
            <a:normAutofit/>
          </a:bodyPr>
          <a:lstStyle/>
          <a:p>
            <a:r>
              <a:rPr lang="en-US" sz="5400"/>
              <a:t>Proposed Methodology</a:t>
            </a:r>
            <a:endParaRPr lang="en-AE" sz="5400"/>
          </a:p>
        </p:txBody>
      </p:sp>
      <p:sp>
        <p:nvSpPr>
          <p:cNvPr id="3" name="Content Placeholder 2">
            <a:extLst>
              <a:ext uri="{FF2B5EF4-FFF2-40B4-BE49-F238E27FC236}">
                <a16:creationId xmlns:a16="http://schemas.microsoft.com/office/drawing/2014/main" id="{DE29CB0F-22BB-3CDD-71D3-5CA5CF0D81A4}"/>
              </a:ext>
            </a:extLst>
          </p:cNvPr>
          <p:cNvSpPr>
            <a:spLocks noGrp="1"/>
          </p:cNvSpPr>
          <p:nvPr>
            <p:ph idx="1"/>
          </p:nvPr>
        </p:nvSpPr>
        <p:spPr>
          <a:xfrm>
            <a:off x="1289304" y="2902913"/>
            <a:ext cx="9849751" cy="3032168"/>
          </a:xfrm>
        </p:spPr>
        <p:txBody>
          <a:bodyPr anchor="ctr">
            <a:normAutofit fontScale="92500" lnSpcReduction="20000"/>
          </a:bodyPr>
          <a:lstStyle/>
          <a:p>
            <a:pPr marL="342900" indent="-342900">
              <a:buFont typeface="+mj-lt"/>
              <a:buAutoNum type="arabicPeriod"/>
            </a:pPr>
            <a:r>
              <a:rPr lang="en-US" sz="1600" dirty="0"/>
              <a:t>Dataset Preprocessing</a:t>
            </a:r>
          </a:p>
          <a:p>
            <a:pPr lvl="1"/>
            <a:r>
              <a:rPr lang="en-US" sz="1600" dirty="0"/>
              <a:t>Co-registration</a:t>
            </a:r>
          </a:p>
          <a:p>
            <a:pPr lvl="1"/>
            <a:r>
              <a:rPr lang="en-US" sz="1600" dirty="0"/>
              <a:t>Tiling and Normalization</a:t>
            </a:r>
          </a:p>
          <a:p>
            <a:pPr lvl="1"/>
            <a:r>
              <a:rPr lang="en-US" sz="1600" dirty="0"/>
              <a:t>Manual Annotation</a:t>
            </a:r>
          </a:p>
          <a:p>
            <a:pPr marL="342900" indent="-342900">
              <a:buFont typeface="+mj-lt"/>
              <a:buAutoNum type="arabicPeriod"/>
            </a:pPr>
            <a:r>
              <a:rPr lang="en-US" sz="1600" dirty="0"/>
              <a:t>Model Training:</a:t>
            </a:r>
          </a:p>
          <a:p>
            <a:pPr lvl="1"/>
            <a:r>
              <a:rPr lang="en-US" sz="1600" dirty="0"/>
              <a:t>Supervised Training of VGG16 on LEVIR-CD Dataset</a:t>
            </a:r>
          </a:p>
          <a:p>
            <a:pPr lvl="1"/>
            <a:r>
              <a:rPr lang="en-US" sz="1600" dirty="0"/>
              <a:t>Run LEVIR-CD-trained Model Inference on Dubai Data</a:t>
            </a:r>
          </a:p>
          <a:p>
            <a:pPr lvl="1"/>
            <a:r>
              <a:rPr lang="en-US" sz="1600" dirty="0"/>
              <a:t>Manually Label Sample Buildings for Ground-Truth Values</a:t>
            </a:r>
          </a:p>
          <a:p>
            <a:pPr lvl="1"/>
            <a:r>
              <a:rPr lang="en-US" sz="1600" dirty="0"/>
              <a:t>Semi-Supervised Fine-Tuning of Pretrained Model</a:t>
            </a:r>
          </a:p>
          <a:p>
            <a:pPr marL="342900" indent="-342900">
              <a:buFont typeface="+mj-lt"/>
              <a:buAutoNum type="arabicPeriod"/>
            </a:pPr>
            <a:r>
              <a:rPr lang="en-US" sz="1600" dirty="0"/>
              <a:t>Model Evaluation</a:t>
            </a:r>
          </a:p>
          <a:p>
            <a:pPr lvl="1"/>
            <a:r>
              <a:rPr lang="en-US" sz="1600" dirty="0"/>
              <a:t>Evaluate Model on Ground-Truth Test Split</a:t>
            </a:r>
          </a:p>
          <a:p>
            <a:pPr lvl="1"/>
            <a:r>
              <a:rPr lang="en-US" sz="1600" dirty="0"/>
              <a:t>Visual Inspection</a:t>
            </a:r>
          </a:p>
        </p:txBody>
      </p:sp>
      <p:sp>
        <p:nvSpPr>
          <p:cNvPr id="4" name="TextBox 3">
            <a:extLst>
              <a:ext uri="{FF2B5EF4-FFF2-40B4-BE49-F238E27FC236}">
                <a16:creationId xmlns:a16="http://schemas.microsoft.com/office/drawing/2014/main" id="{23C4B13F-F583-1A88-077B-9C0EE319ACCF}"/>
              </a:ext>
            </a:extLst>
          </p:cNvPr>
          <p:cNvSpPr txBox="1"/>
          <p:nvPr/>
        </p:nvSpPr>
        <p:spPr>
          <a:xfrm>
            <a:off x="0" y="0"/>
            <a:ext cx="633507" cy="369332"/>
          </a:xfrm>
          <a:prstGeom prst="rect">
            <a:avLst/>
          </a:prstGeom>
          <a:noFill/>
        </p:spPr>
        <p:txBody>
          <a:bodyPr wrap="none" rtlCol="0">
            <a:spAutoFit/>
          </a:bodyPr>
          <a:lstStyle/>
          <a:p>
            <a:r>
              <a:rPr lang="en-US" dirty="0"/>
              <a:t>8/47</a:t>
            </a:r>
            <a:endParaRPr lang="en-AE" dirty="0"/>
          </a:p>
        </p:txBody>
      </p:sp>
    </p:spTree>
    <p:extLst>
      <p:ext uri="{BB962C8B-B14F-4D97-AF65-F5344CB8AC3E}">
        <p14:creationId xmlns:p14="http://schemas.microsoft.com/office/powerpoint/2010/main" val="3374506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3F1306-57C5-BDC3-8D6B-7AF9AAFE1C2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B55597-BE57-305D-429E-1E88216F2106}"/>
              </a:ext>
            </a:extLst>
          </p:cNvPr>
          <p:cNvSpPr>
            <a:spLocks noGrp="1"/>
          </p:cNvSpPr>
          <p:nvPr>
            <p:ph type="title"/>
          </p:nvPr>
        </p:nvSpPr>
        <p:spPr>
          <a:xfrm>
            <a:off x="841248" y="256032"/>
            <a:ext cx="10506456" cy="1014984"/>
          </a:xfrm>
        </p:spPr>
        <p:txBody>
          <a:bodyPr anchor="b">
            <a:normAutofit/>
          </a:bodyPr>
          <a:lstStyle/>
          <a:p>
            <a:r>
              <a:rPr lang="en-US" dirty="0"/>
              <a:t>Dataset Preprocessing</a:t>
            </a:r>
            <a:endParaRPr lang="en-AE"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AB33A54-1226-7DA6-801E-34AB266B419F}"/>
              </a:ext>
            </a:extLst>
          </p:cNvPr>
          <p:cNvGraphicFramePr>
            <a:graphicFrameLocks noGrp="1"/>
          </p:cNvGraphicFramePr>
          <p:nvPr>
            <p:ph idx="1"/>
            <p:extLst>
              <p:ext uri="{D42A27DB-BD31-4B8C-83A1-F6EECF244321}">
                <p14:modId xmlns:p14="http://schemas.microsoft.com/office/powerpoint/2010/main" val="330086918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84357E06-B28D-7AC3-EE6E-0143331997EB}"/>
              </a:ext>
            </a:extLst>
          </p:cNvPr>
          <p:cNvSpPr txBox="1"/>
          <p:nvPr/>
        </p:nvSpPr>
        <p:spPr>
          <a:xfrm>
            <a:off x="0" y="0"/>
            <a:ext cx="633507" cy="369332"/>
          </a:xfrm>
          <a:prstGeom prst="rect">
            <a:avLst/>
          </a:prstGeom>
          <a:noFill/>
        </p:spPr>
        <p:txBody>
          <a:bodyPr wrap="none" rtlCol="0">
            <a:spAutoFit/>
          </a:bodyPr>
          <a:lstStyle/>
          <a:p>
            <a:r>
              <a:rPr lang="en-US" dirty="0"/>
              <a:t>9/47</a:t>
            </a:r>
            <a:endParaRPr lang="en-AE" dirty="0"/>
          </a:p>
        </p:txBody>
      </p:sp>
    </p:spTree>
    <p:extLst>
      <p:ext uri="{BB962C8B-B14F-4D97-AF65-F5344CB8AC3E}">
        <p14:creationId xmlns:p14="http://schemas.microsoft.com/office/powerpoint/2010/main" val="2544344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77A32-1FA9-169E-A7FB-1111975F095B}"/>
              </a:ext>
            </a:extLst>
          </p:cNvPr>
          <p:cNvSpPr>
            <a:spLocks noGrp="1"/>
          </p:cNvSpPr>
          <p:nvPr>
            <p:ph type="title"/>
          </p:nvPr>
        </p:nvSpPr>
        <p:spPr/>
        <p:txBody>
          <a:bodyPr/>
          <a:lstStyle/>
          <a:p>
            <a:r>
              <a:rPr lang="en-US" dirty="0"/>
              <a:t>Dataset Preprocessing – Co-Registration</a:t>
            </a:r>
            <a:endParaRPr lang="en-AE" dirty="0"/>
          </a:p>
        </p:txBody>
      </p:sp>
      <p:pic>
        <p:nvPicPr>
          <p:cNvPr id="5" name="Picture 4">
            <a:extLst>
              <a:ext uri="{FF2B5EF4-FFF2-40B4-BE49-F238E27FC236}">
                <a16:creationId xmlns:a16="http://schemas.microsoft.com/office/drawing/2014/main" id="{44EC0C06-A5D7-A2C0-1388-7770889A97C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34989" y="2026406"/>
            <a:ext cx="4744072" cy="4110071"/>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79BEDB57-5244-7F76-EE24-64185EE18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2941" y="2026406"/>
            <a:ext cx="4744072" cy="4107873"/>
          </a:xfrm>
          <a:prstGeom prst="rect">
            <a:avLst/>
          </a:prstGeom>
        </p:spPr>
        <p:style>
          <a:lnRef idx="2">
            <a:schemeClr val="dk1"/>
          </a:lnRef>
          <a:fillRef idx="1">
            <a:schemeClr val="lt1"/>
          </a:fillRef>
          <a:effectRef idx="0">
            <a:schemeClr val="dk1"/>
          </a:effectRef>
          <a:fontRef idx="minor">
            <a:schemeClr val="dk1"/>
          </a:fontRef>
        </p:style>
      </p:pic>
      <p:sp>
        <p:nvSpPr>
          <p:cNvPr id="10" name="TextBox 9">
            <a:extLst>
              <a:ext uri="{FF2B5EF4-FFF2-40B4-BE49-F238E27FC236}">
                <a16:creationId xmlns:a16="http://schemas.microsoft.com/office/drawing/2014/main" id="{2A4978E6-65E2-E1F5-47FB-C460B640B276}"/>
              </a:ext>
            </a:extLst>
          </p:cNvPr>
          <p:cNvSpPr txBox="1"/>
          <p:nvPr/>
        </p:nvSpPr>
        <p:spPr>
          <a:xfrm>
            <a:off x="2829904" y="1572491"/>
            <a:ext cx="1510146" cy="369332"/>
          </a:xfrm>
          <a:prstGeom prst="rect">
            <a:avLst/>
          </a:prstGeom>
          <a:noFill/>
        </p:spPr>
        <p:txBody>
          <a:bodyPr wrap="square" rtlCol="0">
            <a:spAutoFit/>
          </a:bodyPr>
          <a:lstStyle/>
          <a:p>
            <a:r>
              <a:rPr lang="en-US" dirty="0"/>
              <a:t>Dubai, 2019</a:t>
            </a:r>
            <a:endParaRPr lang="en-AE" dirty="0"/>
          </a:p>
        </p:txBody>
      </p:sp>
      <p:sp>
        <p:nvSpPr>
          <p:cNvPr id="11" name="TextBox 10">
            <a:extLst>
              <a:ext uri="{FF2B5EF4-FFF2-40B4-BE49-F238E27FC236}">
                <a16:creationId xmlns:a16="http://schemas.microsoft.com/office/drawing/2014/main" id="{1FF83B70-99B7-C335-904B-775B774B5490}"/>
              </a:ext>
            </a:extLst>
          </p:cNvPr>
          <p:cNvSpPr txBox="1"/>
          <p:nvPr/>
        </p:nvSpPr>
        <p:spPr>
          <a:xfrm>
            <a:off x="7851952" y="1572491"/>
            <a:ext cx="1510146" cy="369332"/>
          </a:xfrm>
          <a:prstGeom prst="rect">
            <a:avLst/>
          </a:prstGeom>
          <a:noFill/>
        </p:spPr>
        <p:txBody>
          <a:bodyPr wrap="square" rtlCol="0">
            <a:spAutoFit/>
          </a:bodyPr>
          <a:lstStyle/>
          <a:p>
            <a:r>
              <a:rPr lang="en-US" dirty="0"/>
              <a:t>Dubai, 2023</a:t>
            </a:r>
            <a:endParaRPr lang="en-AE" dirty="0"/>
          </a:p>
        </p:txBody>
      </p:sp>
      <p:sp>
        <p:nvSpPr>
          <p:cNvPr id="3" name="TextBox 2">
            <a:extLst>
              <a:ext uri="{FF2B5EF4-FFF2-40B4-BE49-F238E27FC236}">
                <a16:creationId xmlns:a16="http://schemas.microsoft.com/office/drawing/2014/main" id="{579F3E76-79EC-A795-E873-71D5F0D7C2FE}"/>
              </a:ext>
            </a:extLst>
          </p:cNvPr>
          <p:cNvSpPr txBox="1"/>
          <p:nvPr/>
        </p:nvSpPr>
        <p:spPr>
          <a:xfrm>
            <a:off x="0" y="0"/>
            <a:ext cx="756938" cy="369332"/>
          </a:xfrm>
          <a:prstGeom prst="rect">
            <a:avLst/>
          </a:prstGeom>
          <a:noFill/>
        </p:spPr>
        <p:txBody>
          <a:bodyPr wrap="none" rtlCol="0">
            <a:spAutoFit/>
          </a:bodyPr>
          <a:lstStyle/>
          <a:p>
            <a:r>
              <a:rPr lang="en-US" dirty="0"/>
              <a:t>10/47</a:t>
            </a:r>
            <a:endParaRPr lang="en-AE" dirty="0"/>
          </a:p>
        </p:txBody>
      </p:sp>
    </p:spTree>
    <p:extLst>
      <p:ext uri="{BB962C8B-B14F-4D97-AF65-F5344CB8AC3E}">
        <p14:creationId xmlns:p14="http://schemas.microsoft.com/office/powerpoint/2010/main" val="2373790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E5CD6-D1B7-DE74-993A-A3FF13FA1630}"/>
              </a:ext>
            </a:extLst>
          </p:cNvPr>
          <p:cNvSpPr>
            <a:spLocks noGrp="1"/>
          </p:cNvSpPr>
          <p:nvPr>
            <p:ph type="title"/>
          </p:nvPr>
        </p:nvSpPr>
        <p:spPr/>
        <p:txBody>
          <a:bodyPr/>
          <a:lstStyle/>
          <a:p>
            <a:r>
              <a:rPr lang="en-US" dirty="0"/>
              <a:t>Dataset Preprocessing – Co-Registration</a:t>
            </a:r>
            <a:endParaRPr lang="en-AE" dirty="0"/>
          </a:p>
        </p:txBody>
      </p:sp>
      <p:pic>
        <p:nvPicPr>
          <p:cNvPr id="5" name="Content Placeholder 4">
            <a:extLst>
              <a:ext uri="{FF2B5EF4-FFF2-40B4-BE49-F238E27FC236}">
                <a16:creationId xmlns:a16="http://schemas.microsoft.com/office/drawing/2014/main" id="{00579BD7-E823-05A5-EA06-BF576212FAAD}"/>
              </a:ext>
            </a:extLst>
          </p:cNvPr>
          <p:cNvPicPr>
            <a:picLocks noGrp="1" noChangeAspect="1"/>
          </p:cNvPicPr>
          <p:nvPr>
            <p:ph idx="1"/>
          </p:nvPr>
        </p:nvPicPr>
        <p:blipFill>
          <a:blip r:embed="rId2"/>
          <a:stretch>
            <a:fillRect/>
          </a:stretch>
        </p:blipFill>
        <p:spPr>
          <a:xfrm>
            <a:off x="137894" y="1859292"/>
            <a:ext cx="4962940" cy="3832144"/>
          </a:xfrm>
          <a:prstGeom prst="rect">
            <a:avLst/>
          </a:prstGeom>
        </p:spPr>
      </p:pic>
      <p:pic>
        <p:nvPicPr>
          <p:cNvPr id="7" name="Picture 6">
            <a:extLst>
              <a:ext uri="{FF2B5EF4-FFF2-40B4-BE49-F238E27FC236}">
                <a16:creationId xmlns:a16="http://schemas.microsoft.com/office/drawing/2014/main" id="{614B3C33-00BC-A2E6-F94D-E2BC4799EAA2}"/>
              </a:ext>
            </a:extLst>
          </p:cNvPr>
          <p:cNvPicPr>
            <a:picLocks noChangeAspect="1"/>
          </p:cNvPicPr>
          <p:nvPr/>
        </p:nvPicPr>
        <p:blipFill>
          <a:blip r:embed="rId3"/>
          <a:stretch>
            <a:fillRect/>
          </a:stretch>
        </p:blipFill>
        <p:spPr>
          <a:xfrm>
            <a:off x="5249571" y="1859292"/>
            <a:ext cx="4230619" cy="3832144"/>
          </a:xfrm>
          <a:prstGeom prst="rect">
            <a:avLst/>
          </a:prstGeom>
        </p:spPr>
      </p:pic>
      <p:pic>
        <p:nvPicPr>
          <p:cNvPr id="6" name="Picture 5">
            <a:extLst>
              <a:ext uri="{FF2B5EF4-FFF2-40B4-BE49-F238E27FC236}">
                <a16:creationId xmlns:a16="http://schemas.microsoft.com/office/drawing/2014/main" id="{A3619E99-F2DD-C767-2AC6-9CBCFDA5BB24}"/>
              </a:ext>
            </a:extLst>
          </p:cNvPr>
          <p:cNvPicPr>
            <a:picLocks noChangeAspect="1"/>
          </p:cNvPicPr>
          <p:nvPr/>
        </p:nvPicPr>
        <p:blipFill>
          <a:blip r:embed="rId4"/>
          <a:stretch>
            <a:fillRect/>
          </a:stretch>
        </p:blipFill>
        <p:spPr>
          <a:xfrm>
            <a:off x="9628927" y="2616199"/>
            <a:ext cx="2417047" cy="2201239"/>
          </a:xfrm>
          <a:prstGeom prst="rect">
            <a:avLst/>
          </a:prstGeom>
        </p:spPr>
      </p:pic>
      <p:sp>
        <p:nvSpPr>
          <p:cNvPr id="9" name="TextBox 8">
            <a:extLst>
              <a:ext uri="{FF2B5EF4-FFF2-40B4-BE49-F238E27FC236}">
                <a16:creationId xmlns:a16="http://schemas.microsoft.com/office/drawing/2014/main" id="{47984E41-5489-32C5-17EF-9F97B5356D65}"/>
              </a:ext>
            </a:extLst>
          </p:cNvPr>
          <p:cNvSpPr txBox="1"/>
          <p:nvPr/>
        </p:nvSpPr>
        <p:spPr>
          <a:xfrm>
            <a:off x="137894" y="5785535"/>
            <a:ext cx="12054106" cy="646331"/>
          </a:xfrm>
          <a:prstGeom prst="rect">
            <a:avLst/>
          </a:prstGeom>
          <a:noFill/>
        </p:spPr>
        <p:txBody>
          <a:bodyPr wrap="square">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Precise co-registration</a:t>
            </a:r>
            <a:r>
              <a:rPr lang="en-US" dirty="0">
                <a:latin typeface="Times New Roman" panose="02020603050405020304" pitchFamily="18" charset="0"/>
                <a:cs typeface="Times New Roman" panose="02020603050405020304" pitchFamily="18" charset="0"/>
              </a:rPr>
              <a:t>/layer alignment</a:t>
            </a:r>
            <a:r>
              <a:rPr lang="en-US" sz="1800" dirty="0">
                <a:latin typeface="Times New Roman" panose="02020603050405020304" pitchFamily="18" charset="0"/>
                <a:cs typeface="Times New Roman" panose="02020603050405020304" pitchFamily="18" charset="0"/>
              </a:rPr>
              <a:t> is important for direct pixel-to-pixel analysis.</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 inspection of the two satellite images show slight misalignment.</a:t>
            </a:r>
            <a:endParaRPr lang="en-US"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E724C5F-A387-68D1-BC2F-142E6871B805}"/>
              </a:ext>
            </a:extLst>
          </p:cNvPr>
          <p:cNvSpPr txBox="1"/>
          <p:nvPr/>
        </p:nvSpPr>
        <p:spPr>
          <a:xfrm>
            <a:off x="0" y="0"/>
            <a:ext cx="756938" cy="369332"/>
          </a:xfrm>
          <a:prstGeom prst="rect">
            <a:avLst/>
          </a:prstGeom>
          <a:noFill/>
        </p:spPr>
        <p:txBody>
          <a:bodyPr wrap="none" rtlCol="0">
            <a:spAutoFit/>
          </a:bodyPr>
          <a:lstStyle/>
          <a:p>
            <a:r>
              <a:rPr lang="en-US" dirty="0"/>
              <a:t>11/47</a:t>
            </a:r>
            <a:endParaRPr lang="en-AE" dirty="0"/>
          </a:p>
        </p:txBody>
      </p:sp>
    </p:spTree>
    <p:extLst>
      <p:ext uri="{BB962C8B-B14F-4D97-AF65-F5344CB8AC3E}">
        <p14:creationId xmlns:p14="http://schemas.microsoft.com/office/powerpoint/2010/main" val="3049508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518370-212D-F1A6-A114-8C649EFE327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96000" y="1794165"/>
            <a:ext cx="5438021" cy="3692236"/>
          </a:xfrm>
          <a:prstGeom prst="rect">
            <a:avLst/>
          </a:prstGeom>
        </p:spPr>
      </p:pic>
      <p:pic>
        <p:nvPicPr>
          <p:cNvPr id="7" name="Picture 6">
            <a:extLst>
              <a:ext uri="{FF2B5EF4-FFF2-40B4-BE49-F238E27FC236}">
                <a16:creationId xmlns:a16="http://schemas.microsoft.com/office/drawing/2014/main" id="{ADBEEC6F-1C62-C648-320C-4F81A46DC3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7872" y="1794165"/>
            <a:ext cx="5729661" cy="3692236"/>
          </a:xfrm>
          <a:prstGeom prst="rect">
            <a:avLst/>
          </a:prstGeom>
        </p:spPr>
      </p:pic>
      <p:sp>
        <p:nvSpPr>
          <p:cNvPr id="8" name="TextBox 7">
            <a:extLst>
              <a:ext uri="{FF2B5EF4-FFF2-40B4-BE49-F238E27FC236}">
                <a16:creationId xmlns:a16="http://schemas.microsoft.com/office/drawing/2014/main" id="{C8E1CDB0-62A1-BF21-4A0D-12BAF7A03AE1}"/>
              </a:ext>
            </a:extLst>
          </p:cNvPr>
          <p:cNvSpPr txBox="1"/>
          <p:nvPr/>
        </p:nvSpPr>
        <p:spPr>
          <a:xfrm>
            <a:off x="297871" y="1371599"/>
            <a:ext cx="5729661" cy="369332"/>
          </a:xfrm>
          <a:prstGeom prst="rect">
            <a:avLst/>
          </a:prstGeom>
          <a:noFill/>
        </p:spPr>
        <p:txBody>
          <a:bodyPr wrap="square" rtlCol="0">
            <a:spAutoFit/>
          </a:bodyPr>
          <a:lstStyle/>
          <a:p>
            <a:pPr algn="ctr"/>
            <a:r>
              <a:rPr lang="en-US" b="1" dirty="0"/>
              <a:t>Dubai, 2019 -&gt; Reference Layer</a:t>
            </a:r>
            <a:endParaRPr lang="en-AE" b="1" dirty="0"/>
          </a:p>
        </p:txBody>
      </p:sp>
      <p:sp>
        <p:nvSpPr>
          <p:cNvPr id="9" name="TextBox 8">
            <a:extLst>
              <a:ext uri="{FF2B5EF4-FFF2-40B4-BE49-F238E27FC236}">
                <a16:creationId xmlns:a16="http://schemas.microsoft.com/office/drawing/2014/main" id="{192269B6-90F0-5EE9-C2AC-AA706B1DECEF}"/>
              </a:ext>
            </a:extLst>
          </p:cNvPr>
          <p:cNvSpPr txBox="1"/>
          <p:nvPr/>
        </p:nvSpPr>
        <p:spPr>
          <a:xfrm>
            <a:off x="6096000" y="1371599"/>
            <a:ext cx="5438021" cy="369332"/>
          </a:xfrm>
          <a:prstGeom prst="rect">
            <a:avLst/>
          </a:prstGeom>
          <a:noFill/>
        </p:spPr>
        <p:txBody>
          <a:bodyPr wrap="square" rtlCol="0">
            <a:spAutoFit/>
          </a:bodyPr>
          <a:lstStyle/>
          <a:p>
            <a:pPr algn="ctr"/>
            <a:r>
              <a:rPr lang="en-US" b="1" dirty="0"/>
              <a:t>Dubai, 2023 -&gt; we align this layer</a:t>
            </a:r>
            <a:endParaRPr lang="en-AE" b="1" dirty="0"/>
          </a:p>
        </p:txBody>
      </p:sp>
      <p:sp>
        <p:nvSpPr>
          <p:cNvPr id="10" name="TextBox 9">
            <a:extLst>
              <a:ext uri="{FF2B5EF4-FFF2-40B4-BE49-F238E27FC236}">
                <a16:creationId xmlns:a16="http://schemas.microsoft.com/office/drawing/2014/main" id="{9DE69F83-4B66-3D61-1447-97D6844FE62C}"/>
              </a:ext>
            </a:extLst>
          </p:cNvPr>
          <p:cNvSpPr txBox="1"/>
          <p:nvPr/>
        </p:nvSpPr>
        <p:spPr>
          <a:xfrm>
            <a:off x="137894" y="5785535"/>
            <a:ext cx="11922488" cy="369332"/>
          </a:xfrm>
          <a:prstGeom prst="rect">
            <a:avLst/>
          </a:prstGeom>
          <a:noFill/>
        </p:spPr>
        <p:txBody>
          <a:bodyPr wrap="square">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Compare both satellite images to an </a:t>
            </a:r>
            <a:r>
              <a:rPr lang="en-US" sz="1800" dirty="0" err="1">
                <a:latin typeface="Times New Roman" panose="02020603050405020304" pitchFamily="18" charset="0"/>
                <a:cs typeface="Times New Roman" panose="02020603050405020304" pitchFamily="18" charset="0"/>
              </a:rPr>
              <a:t>esri</a:t>
            </a:r>
            <a:r>
              <a:rPr lang="en-US" sz="1800" dirty="0">
                <a:latin typeface="Times New Roman" panose="02020603050405020304" pitchFamily="18" charset="0"/>
                <a:cs typeface="Times New Roman" panose="02020603050405020304" pitchFamily="18" charset="0"/>
              </a:rPr>
              <a:t> imagery basemap to find the correctly aligned reference layer.</a:t>
            </a:r>
          </a:p>
        </p:txBody>
      </p:sp>
      <p:sp>
        <p:nvSpPr>
          <p:cNvPr id="2" name="TextBox 1">
            <a:extLst>
              <a:ext uri="{FF2B5EF4-FFF2-40B4-BE49-F238E27FC236}">
                <a16:creationId xmlns:a16="http://schemas.microsoft.com/office/drawing/2014/main" id="{39651B27-5B2D-91EB-DF54-36EF4DA49FAC}"/>
              </a:ext>
            </a:extLst>
          </p:cNvPr>
          <p:cNvSpPr txBox="1"/>
          <p:nvPr/>
        </p:nvSpPr>
        <p:spPr>
          <a:xfrm>
            <a:off x="0" y="0"/>
            <a:ext cx="756938" cy="369332"/>
          </a:xfrm>
          <a:prstGeom prst="rect">
            <a:avLst/>
          </a:prstGeom>
          <a:noFill/>
        </p:spPr>
        <p:txBody>
          <a:bodyPr wrap="none" rtlCol="0">
            <a:spAutoFit/>
          </a:bodyPr>
          <a:lstStyle/>
          <a:p>
            <a:r>
              <a:rPr lang="en-US" dirty="0"/>
              <a:t>12/47</a:t>
            </a:r>
            <a:endParaRPr lang="en-AE" dirty="0"/>
          </a:p>
        </p:txBody>
      </p:sp>
    </p:spTree>
    <p:extLst>
      <p:ext uri="{BB962C8B-B14F-4D97-AF65-F5344CB8AC3E}">
        <p14:creationId xmlns:p14="http://schemas.microsoft.com/office/powerpoint/2010/main" val="175837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CB9A7-0586-4005-76FC-590839ED75D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39EE9D9-2991-A8B0-02F9-8F20240FED31}"/>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 Preprocessing – Co-Registration</a:t>
            </a:r>
            <a:endParaRPr lang="en-AE" dirty="0"/>
          </a:p>
        </p:txBody>
      </p:sp>
      <p:sp>
        <p:nvSpPr>
          <p:cNvPr id="12" name="TextBox 11">
            <a:extLst>
              <a:ext uri="{FF2B5EF4-FFF2-40B4-BE49-F238E27FC236}">
                <a16:creationId xmlns:a16="http://schemas.microsoft.com/office/drawing/2014/main" id="{AB0489EA-804D-78A5-411C-855BD525963F}"/>
              </a:ext>
            </a:extLst>
          </p:cNvPr>
          <p:cNvSpPr txBox="1"/>
          <p:nvPr/>
        </p:nvSpPr>
        <p:spPr>
          <a:xfrm>
            <a:off x="0" y="1161427"/>
            <a:ext cx="12192000" cy="461665"/>
          </a:xfrm>
          <a:prstGeom prst="rect">
            <a:avLst/>
          </a:prstGeom>
          <a:noFill/>
        </p:spPr>
        <p:txBody>
          <a:bodyPr wrap="square" lIns="91440" tIns="45720" rIns="91440" bIns="45720" anchor="t">
            <a:spAutoFit/>
          </a:bodyPr>
          <a:lstStyle/>
          <a:p>
            <a:pPr algn="ctr"/>
            <a:r>
              <a:rPr lang="en-US" sz="2400">
                <a:latin typeface="Times New Roman"/>
                <a:cs typeface="Times New Roman"/>
              </a:rPr>
              <a:t>After Georeferencing using manual control points on ArcGIS.</a:t>
            </a:r>
          </a:p>
        </p:txBody>
      </p:sp>
      <p:pic>
        <p:nvPicPr>
          <p:cNvPr id="4" name="Picture 3">
            <a:extLst>
              <a:ext uri="{FF2B5EF4-FFF2-40B4-BE49-F238E27FC236}">
                <a16:creationId xmlns:a16="http://schemas.microsoft.com/office/drawing/2014/main" id="{A97FA81E-9EF1-3B00-D5EA-4128C405C09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11038" y="2158649"/>
            <a:ext cx="5938062" cy="3865385"/>
          </a:xfrm>
          <a:prstGeom prst="rect">
            <a:avLst/>
          </a:prstGeom>
        </p:spPr>
      </p:pic>
      <p:pic>
        <p:nvPicPr>
          <p:cNvPr id="8" name="Content Placeholder 4">
            <a:extLst>
              <a:ext uri="{FF2B5EF4-FFF2-40B4-BE49-F238E27FC236}">
                <a16:creationId xmlns:a16="http://schemas.microsoft.com/office/drawing/2014/main" id="{35311E2F-E443-74EC-08CB-413B2F9E6D9A}"/>
              </a:ext>
            </a:extLst>
          </p:cNvPr>
          <p:cNvPicPr>
            <a:picLocks noChangeAspect="1"/>
          </p:cNvPicPr>
          <p:nvPr/>
        </p:nvPicPr>
        <p:blipFill>
          <a:blip r:embed="rId3"/>
          <a:stretch>
            <a:fillRect/>
          </a:stretch>
        </p:blipFill>
        <p:spPr>
          <a:xfrm>
            <a:off x="137894" y="2191891"/>
            <a:ext cx="4962940" cy="3832144"/>
          </a:xfrm>
          <a:prstGeom prst="rect">
            <a:avLst/>
          </a:prstGeom>
        </p:spPr>
      </p:pic>
      <p:sp>
        <p:nvSpPr>
          <p:cNvPr id="9" name="Arrow: Right 8">
            <a:extLst>
              <a:ext uri="{FF2B5EF4-FFF2-40B4-BE49-F238E27FC236}">
                <a16:creationId xmlns:a16="http://schemas.microsoft.com/office/drawing/2014/main" id="{36F5A19E-C469-0808-8246-4E4D9213E329}"/>
              </a:ext>
            </a:extLst>
          </p:cNvPr>
          <p:cNvSpPr/>
          <p:nvPr/>
        </p:nvSpPr>
        <p:spPr>
          <a:xfrm>
            <a:off x="5182572" y="3879850"/>
            <a:ext cx="646728" cy="7556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2" name="TextBox 1">
            <a:extLst>
              <a:ext uri="{FF2B5EF4-FFF2-40B4-BE49-F238E27FC236}">
                <a16:creationId xmlns:a16="http://schemas.microsoft.com/office/drawing/2014/main" id="{E6ED100C-0F2C-1F93-BC39-2DC1D342A393}"/>
              </a:ext>
            </a:extLst>
          </p:cNvPr>
          <p:cNvSpPr txBox="1"/>
          <p:nvPr/>
        </p:nvSpPr>
        <p:spPr>
          <a:xfrm>
            <a:off x="0" y="0"/>
            <a:ext cx="756938" cy="369332"/>
          </a:xfrm>
          <a:prstGeom prst="rect">
            <a:avLst/>
          </a:prstGeom>
          <a:noFill/>
        </p:spPr>
        <p:txBody>
          <a:bodyPr wrap="none" rtlCol="0">
            <a:spAutoFit/>
          </a:bodyPr>
          <a:lstStyle/>
          <a:p>
            <a:r>
              <a:rPr lang="en-US" dirty="0"/>
              <a:t>13/47</a:t>
            </a:r>
            <a:endParaRPr lang="en-AE" dirty="0"/>
          </a:p>
        </p:txBody>
      </p:sp>
    </p:spTree>
    <p:extLst>
      <p:ext uri="{BB962C8B-B14F-4D97-AF65-F5344CB8AC3E}">
        <p14:creationId xmlns:p14="http://schemas.microsoft.com/office/powerpoint/2010/main" val="94589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780A-DEA2-88BD-141A-8F6EB7AAF5A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8C80DB2A-E763-8D3F-22C0-201BEB14A7E7}"/>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 Preprocessing – Co-Registration</a:t>
            </a:r>
            <a:endParaRPr lang="en-AE" dirty="0"/>
          </a:p>
        </p:txBody>
      </p:sp>
      <p:sp>
        <p:nvSpPr>
          <p:cNvPr id="12" name="TextBox 11">
            <a:extLst>
              <a:ext uri="{FF2B5EF4-FFF2-40B4-BE49-F238E27FC236}">
                <a16:creationId xmlns:a16="http://schemas.microsoft.com/office/drawing/2014/main" id="{40106BB8-1E9F-A298-6730-C278EACB9360}"/>
              </a:ext>
            </a:extLst>
          </p:cNvPr>
          <p:cNvSpPr txBox="1"/>
          <p:nvPr/>
        </p:nvSpPr>
        <p:spPr>
          <a:xfrm>
            <a:off x="0" y="1129677"/>
            <a:ext cx="12192000" cy="461665"/>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After Georeferencing using manual control points.</a:t>
            </a:r>
          </a:p>
        </p:txBody>
      </p:sp>
      <p:sp>
        <p:nvSpPr>
          <p:cNvPr id="9" name="Arrow: Right 8">
            <a:extLst>
              <a:ext uri="{FF2B5EF4-FFF2-40B4-BE49-F238E27FC236}">
                <a16:creationId xmlns:a16="http://schemas.microsoft.com/office/drawing/2014/main" id="{429CF4CC-C56E-0C2F-9236-98286EACE0FC}"/>
              </a:ext>
            </a:extLst>
          </p:cNvPr>
          <p:cNvSpPr/>
          <p:nvPr/>
        </p:nvSpPr>
        <p:spPr>
          <a:xfrm>
            <a:off x="5182572" y="3879850"/>
            <a:ext cx="646728" cy="7556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2" name="Picture 1">
            <a:extLst>
              <a:ext uri="{FF2B5EF4-FFF2-40B4-BE49-F238E27FC236}">
                <a16:creationId xmlns:a16="http://schemas.microsoft.com/office/drawing/2014/main" id="{778E8EB9-B6C8-90B3-E805-3CD6404D9CA6}"/>
              </a:ext>
            </a:extLst>
          </p:cNvPr>
          <p:cNvPicPr>
            <a:picLocks noChangeAspect="1"/>
          </p:cNvPicPr>
          <p:nvPr/>
        </p:nvPicPr>
        <p:blipFill>
          <a:blip r:embed="rId2"/>
          <a:stretch>
            <a:fillRect/>
          </a:stretch>
        </p:blipFill>
        <p:spPr>
          <a:xfrm>
            <a:off x="531521" y="2132342"/>
            <a:ext cx="4230619" cy="3832144"/>
          </a:xfrm>
          <a:prstGeom prst="rect">
            <a:avLst/>
          </a:prstGeom>
        </p:spPr>
      </p:pic>
      <p:pic>
        <p:nvPicPr>
          <p:cNvPr id="5" name="Picture 4">
            <a:extLst>
              <a:ext uri="{FF2B5EF4-FFF2-40B4-BE49-F238E27FC236}">
                <a16:creationId xmlns:a16="http://schemas.microsoft.com/office/drawing/2014/main" id="{44B8571B-9168-169D-262C-08DFBBCC32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132342"/>
            <a:ext cx="4826964" cy="3864083"/>
          </a:xfrm>
          <a:prstGeom prst="rect">
            <a:avLst/>
          </a:prstGeom>
        </p:spPr>
      </p:pic>
      <p:sp>
        <p:nvSpPr>
          <p:cNvPr id="3" name="TextBox 2">
            <a:extLst>
              <a:ext uri="{FF2B5EF4-FFF2-40B4-BE49-F238E27FC236}">
                <a16:creationId xmlns:a16="http://schemas.microsoft.com/office/drawing/2014/main" id="{6DF50B60-C7AF-0165-BC2A-A22618DA7280}"/>
              </a:ext>
            </a:extLst>
          </p:cNvPr>
          <p:cNvSpPr txBox="1"/>
          <p:nvPr/>
        </p:nvSpPr>
        <p:spPr>
          <a:xfrm>
            <a:off x="0" y="0"/>
            <a:ext cx="756938" cy="369332"/>
          </a:xfrm>
          <a:prstGeom prst="rect">
            <a:avLst/>
          </a:prstGeom>
          <a:noFill/>
        </p:spPr>
        <p:txBody>
          <a:bodyPr wrap="none" rtlCol="0">
            <a:spAutoFit/>
          </a:bodyPr>
          <a:lstStyle/>
          <a:p>
            <a:r>
              <a:rPr lang="en-US" dirty="0"/>
              <a:t>14/47</a:t>
            </a:r>
            <a:endParaRPr lang="en-AE" dirty="0"/>
          </a:p>
        </p:txBody>
      </p:sp>
    </p:spTree>
    <p:extLst>
      <p:ext uri="{BB962C8B-B14F-4D97-AF65-F5344CB8AC3E}">
        <p14:creationId xmlns:p14="http://schemas.microsoft.com/office/powerpoint/2010/main" val="158046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EBCECC-E386-E469-2E3F-DA8A5948AD9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8211993" y="2172853"/>
            <a:ext cx="3910157" cy="3608670"/>
          </a:xfrm>
          <a:prstGeom prst="rect">
            <a:avLst/>
          </a:prstGeom>
        </p:spPr>
        <p:style>
          <a:lnRef idx="2">
            <a:schemeClr val="dk1"/>
          </a:lnRef>
          <a:fillRef idx="1">
            <a:schemeClr val="lt1"/>
          </a:fillRef>
          <a:effectRef idx="0">
            <a:schemeClr val="dk1"/>
          </a:effectRef>
          <a:fontRef idx="minor">
            <a:schemeClr val="dk1"/>
          </a:fontRef>
        </p:style>
      </p:pic>
      <p:pic>
        <p:nvPicPr>
          <p:cNvPr id="5" name="Picture 4">
            <a:extLst>
              <a:ext uri="{FF2B5EF4-FFF2-40B4-BE49-F238E27FC236}">
                <a16:creationId xmlns:a16="http://schemas.microsoft.com/office/drawing/2014/main" id="{775A64ED-1C5C-A004-DA89-D45D9C141AC7}"/>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254933" y="2170810"/>
            <a:ext cx="3847234" cy="3612755"/>
          </a:xfrm>
          <a:prstGeom prst="rect">
            <a:avLst/>
          </a:prstGeom>
        </p:spPr>
        <p:style>
          <a:lnRef idx="2">
            <a:schemeClr val="dk1"/>
          </a:lnRef>
          <a:fillRef idx="1">
            <a:schemeClr val="lt1"/>
          </a:fillRef>
          <a:effectRef idx="0">
            <a:schemeClr val="dk1"/>
          </a:effectRef>
          <a:fontRef idx="minor">
            <a:schemeClr val="dk1"/>
          </a:fontRef>
        </p:style>
      </p:pic>
      <p:sp>
        <p:nvSpPr>
          <p:cNvPr id="6" name="TextBox 5">
            <a:extLst>
              <a:ext uri="{FF2B5EF4-FFF2-40B4-BE49-F238E27FC236}">
                <a16:creationId xmlns:a16="http://schemas.microsoft.com/office/drawing/2014/main" id="{F4D1C936-17EF-F429-49A1-C2EE4662EDC5}"/>
              </a:ext>
            </a:extLst>
          </p:cNvPr>
          <p:cNvSpPr txBox="1"/>
          <p:nvPr/>
        </p:nvSpPr>
        <p:spPr>
          <a:xfrm>
            <a:off x="5423477" y="1799436"/>
            <a:ext cx="1510146" cy="369332"/>
          </a:xfrm>
          <a:prstGeom prst="rect">
            <a:avLst/>
          </a:prstGeom>
          <a:noFill/>
        </p:spPr>
        <p:txBody>
          <a:bodyPr wrap="square" rtlCol="0">
            <a:spAutoFit/>
          </a:bodyPr>
          <a:lstStyle/>
          <a:p>
            <a:r>
              <a:rPr lang="en-US" dirty="0"/>
              <a:t>Dubai, 2019</a:t>
            </a:r>
            <a:endParaRPr lang="en-AE" dirty="0"/>
          </a:p>
        </p:txBody>
      </p:sp>
      <p:sp>
        <p:nvSpPr>
          <p:cNvPr id="7" name="TextBox 6">
            <a:extLst>
              <a:ext uri="{FF2B5EF4-FFF2-40B4-BE49-F238E27FC236}">
                <a16:creationId xmlns:a16="http://schemas.microsoft.com/office/drawing/2014/main" id="{ABC6F0D2-C5EE-F302-233F-BA3040492EB1}"/>
              </a:ext>
            </a:extLst>
          </p:cNvPr>
          <p:cNvSpPr txBox="1"/>
          <p:nvPr/>
        </p:nvSpPr>
        <p:spPr>
          <a:xfrm>
            <a:off x="9411998" y="1799436"/>
            <a:ext cx="1510146" cy="369332"/>
          </a:xfrm>
          <a:prstGeom prst="rect">
            <a:avLst/>
          </a:prstGeom>
          <a:noFill/>
        </p:spPr>
        <p:txBody>
          <a:bodyPr wrap="square" rtlCol="0">
            <a:spAutoFit/>
          </a:bodyPr>
          <a:lstStyle/>
          <a:p>
            <a:r>
              <a:rPr lang="en-US" dirty="0"/>
              <a:t>Dubai, 2023</a:t>
            </a:r>
            <a:endParaRPr lang="en-AE" dirty="0"/>
          </a:p>
        </p:txBody>
      </p:sp>
      <p:sp>
        <p:nvSpPr>
          <p:cNvPr id="10" name="Title 1">
            <a:extLst>
              <a:ext uri="{FF2B5EF4-FFF2-40B4-BE49-F238E27FC236}">
                <a16:creationId xmlns:a16="http://schemas.microsoft.com/office/drawing/2014/main" id="{37F7B3E2-4D2F-83DB-19CC-69505437E44E}"/>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Dataset Preprocessing – Co-Registration</a:t>
            </a:r>
            <a:endParaRPr lang="en-AE" dirty="0"/>
          </a:p>
        </p:txBody>
      </p:sp>
      <p:sp>
        <p:nvSpPr>
          <p:cNvPr id="12" name="TextBox 11">
            <a:extLst>
              <a:ext uri="{FF2B5EF4-FFF2-40B4-BE49-F238E27FC236}">
                <a16:creationId xmlns:a16="http://schemas.microsoft.com/office/drawing/2014/main" id="{DAEF5C8C-2399-1782-56BB-6E8D2A3B7ABA}"/>
              </a:ext>
            </a:extLst>
          </p:cNvPr>
          <p:cNvSpPr txBox="1"/>
          <p:nvPr/>
        </p:nvSpPr>
        <p:spPr>
          <a:xfrm>
            <a:off x="48636" y="1463124"/>
            <a:ext cx="4096471" cy="2462213"/>
          </a:xfrm>
          <a:prstGeom prst="rect">
            <a:avLst/>
          </a:prstGeom>
          <a:noFill/>
        </p:spPr>
        <p:txBody>
          <a:bodyPr wrap="square">
            <a:spAutoFit/>
          </a:bodyPr>
          <a:lstStyle/>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raster on the left </a:t>
            </a:r>
            <a:r>
              <a:rPr lang="en-US" sz="1400" b="1" dirty="0">
                <a:latin typeface="Times New Roman" panose="02020603050405020304" pitchFamily="18" charset="0"/>
                <a:cs typeface="Times New Roman" panose="02020603050405020304" pitchFamily="18" charset="0"/>
              </a:rPr>
              <a:t>(2019)</a:t>
            </a:r>
            <a:r>
              <a:rPr lang="en-US" sz="1400" dirty="0">
                <a:latin typeface="Times New Roman" panose="02020603050405020304" pitchFamily="18" charset="0"/>
                <a:cs typeface="Times New Roman" panose="02020603050405020304" pitchFamily="18" charset="0"/>
              </a:rPr>
              <a:t> has a cell size of </a:t>
            </a:r>
            <a:r>
              <a:rPr lang="en-US" sz="1400" b="1" dirty="0">
                <a:latin typeface="Times New Roman" panose="02020603050405020304" pitchFamily="18" charset="0"/>
                <a:cs typeface="Times New Roman" panose="02020603050405020304" pitchFamily="18" charset="0"/>
              </a:rPr>
              <a:t>0.729994</a:t>
            </a:r>
            <a:r>
              <a:rPr lang="en-US" sz="1400" dirty="0">
                <a:latin typeface="Times New Roman" panose="02020603050405020304" pitchFamily="18" charset="0"/>
                <a:cs typeface="Times New Roman" panose="02020603050405020304" pitchFamily="18" charset="0"/>
              </a:rPr>
              <a:t>, while the raster on the right </a:t>
            </a:r>
            <a:r>
              <a:rPr lang="en-US" sz="1400" b="1" dirty="0">
                <a:latin typeface="Times New Roman" panose="02020603050405020304" pitchFamily="18" charset="0"/>
                <a:cs typeface="Times New Roman" panose="02020603050405020304" pitchFamily="18" charset="0"/>
              </a:rPr>
              <a:t>(2023)</a:t>
            </a:r>
            <a:r>
              <a:rPr lang="en-US" sz="1400" dirty="0">
                <a:latin typeface="Times New Roman" panose="02020603050405020304" pitchFamily="18" charset="0"/>
                <a:cs typeface="Times New Roman" panose="02020603050405020304" pitchFamily="18" charset="0"/>
              </a:rPr>
              <a:t> is </a:t>
            </a:r>
            <a:r>
              <a:rPr lang="en-US" sz="1400" b="1" dirty="0">
                <a:latin typeface="Times New Roman" panose="02020603050405020304" pitchFamily="18" charset="0"/>
                <a:cs typeface="Times New Roman" panose="02020603050405020304" pitchFamily="18" charset="0"/>
              </a:rPr>
              <a:t>0.7</a:t>
            </a:r>
            <a:r>
              <a:rPr lang="en-US" sz="14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Because their pixels represent different physical dimensions on the ground, the pixel grids cannot perfectly align, even if they are placed over the exact same geographic location.</a:t>
            </a:r>
          </a:p>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left image is </a:t>
            </a:r>
            <a:r>
              <a:rPr lang="en-US" sz="1400" b="1" dirty="0">
                <a:latin typeface="Times New Roman" panose="02020603050405020304" pitchFamily="18" charset="0"/>
                <a:cs typeface="Times New Roman" panose="02020603050405020304" pitchFamily="18" charset="0"/>
              </a:rPr>
              <a:t>8986 x 7718 pixels</a:t>
            </a:r>
            <a:r>
              <a:rPr lang="en-US" sz="1400" dirty="0">
                <a:latin typeface="Times New Roman" panose="02020603050405020304" pitchFamily="18" charset="0"/>
                <a:cs typeface="Times New Roman" panose="02020603050405020304" pitchFamily="18" charset="0"/>
              </a:rPr>
              <a:t>, and the right is </a:t>
            </a:r>
            <a:r>
              <a:rPr lang="en-US" sz="1400" b="1" dirty="0">
                <a:latin typeface="Times New Roman" panose="02020603050405020304" pitchFamily="18" charset="0"/>
                <a:cs typeface="Times New Roman" panose="02020603050405020304" pitchFamily="18" charset="0"/>
              </a:rPr>
              <a:t>9371 x 8048 pixels</a:t>
            </a:r>
            <a:r>
              <a:rPr lang="en-US" sz="14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fact that both resolution and dimensions differ reflects misalignment.</a:t>
            </a:r>
          </a:p>
        </p:txBody>
      </p:sp>
      <p:pic>
        <p:nvPicPr>
          <p:cNvPr id="2" name="Picture 1">
            <a:extLst>
              <a:ext uri="{FF2B5EF4-FFF2-40B4-BE49-F238E27FC236}">
                <a16:creationId xmlns:a16="http://schemas.microsoft.com/office/drawing/2014/main" id="{6162642F-FFCF-4B73-2786-880C4FDB6D0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278677" y="4057650"/>
            <a:ext cx="3714750" cy="2435225"/>
          </a:xfrm>
          <a:prstGeom prst="rect">
            <a:avLst/>
          </a:prstGeom>
        </p:spPr>
        <p:style>
          <a:lnRef idx="2">
            <a:schemeClr val="dk1"/>
          </a:lnRef>
          <a:fillRef idx="1">
            <a:schemeClr val="lt1"/>
          </a:fillRef>
          <a:effectRef idx="0">
            <a:schemeClr val="dk1"/>
          </a:effectRef>
          <a:fontRef idx="minor">
            <a:schemeClr val="dk1"/>
          </a:fontRef>
        </p:style>
      </p:pic>
      <p:sp>
        <p:nvSpPr>
          <p:cNvPr id="4" name="TextBox 3">
            <a:extLst>
              <a:ext uri="{FF2B5EF4-FFF2-40B4-BE49-F238E27FC236}">
                <a16:creationId xmlns:a16="http://schemas.microsoft.com/office/drawing/2014/main" id="{5192557F-1BB3-72B7-D36F-1DC6E970866A}"/>
              </a:ext>
            </a:extLst>
          </p:cNvPr>
          <p:cNvSpPr txBox="1"/>
          <p:nvPr/>
        </p:nvSpPr>
        <p:spPr>
          <a:xfrm>
            <a:off x="0" y="0"/>
            <a:ext cx="756938" cy="369332"/>
          </a:xfrm>
          <a:prstGeom prst="rect">
            <a:avLst/>
          </a:prstGeom>
          <a:noFill/>
        </p:spPr>
        <p:txBody>
          <a:bodyPr wrap="none" rtlCol="0">
            <a:spAutoFit/>
          </a:bodyPr>
          <a:lstStyle/>
          <a:p>
            <a:r>
              <a:rPr lang="en-US" dirty="0"/>
              <a:t>15/47</a:t>
            </a:r>
            <a:endParaRPr lang="en-AE" dirty="0"/>
          </a:p>
        </p:txBody>
      </p:sp>
    </p:spTree>
    <p:extLst>
      <p:ext uri="{BB962C8B-B14F-4D97-AF65-F5344CB8AC3E}">
        <p14:creationId xmlns:p14="http://schemas.microsoft.com/office/powerpoint/2010/main" val="468907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7B13-D2A0-2225-DD5C-234FD99D101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77FF1FD-15EE-B689-B0AE-ECDF850BED4B}"/>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 Preprocessing – Co-Registration</a:t>
            </a:r>
            <a:endParaRPr lang="en-AE" dirty="0"/>
          </a:p>
        </p:txBody>
      </p:sp>
      <p:sp>
        <p:nvSpPr>
          <p:cNvPr id="12" name="TextBox 11">
            <a:extLst>
              <a:ext uri="{FF2B5EF4-FFF2-40B4-BE49-F238E27FC236}">
                <a16:creationId xmlns:a16="http://schemas.microsoft.com/office/drawing/2014/main" id="{787DACE7-8944-E099-B564-ECC81FC0F22B}"/>
              </a:ext>
            </a:extLst>
          </p:cNvPr>
          <p:cNvSpPr txBox="1"/>
          <p:nvPr/>
        </p:nvSpPr>
        <p:spPr>
          <a:xfrm>
            <a:off x="87818" y="2168768"/>
            <a:ext cx="4096471" cy="1815882"/>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Resampled the </a:t>
            </a:r>
            <a:r>
              <a:rPr lang="en-US" sz="1600" b="1" dirty="0">
                <a:latin typeface="Times New Roman" panose="02020603050405020304" pitchFamily="18" charset="0"/>
                <a:cs typeface="Times New Roman" panose="02020603050405020304" pitchFamily="18" charset="0"/>
              </a:rPr>
              <a:t>0.729994 </a:t>
            </a:r>
            <a:r>
              <a:rPr lang="en-US" sz="1600" dirty="0">
                <a:latin typeface="Times New Roman" panose="02020603050405020304" pitchFamily="18" charset="0"/>
                <a:cs typeface="Times New Roman" panose="02020603050405020304" pitchFamily="18" charset="0"/>
              </a:rPr>
              <a:t>resolution raster </a:t>
            </a:r>
            <a:r>
              <a:rPr lang="en-US" sz="1600" b="1" dirty="0">
                <a:latin typeface="Times New Roman" panose="02020603050405020304" pitchFamily="18" charset="0"/>
                <a:cs typeface="Times New Roman" panose="02020603050405020304" pitchFamily="18" charset="0"/>
              </a:rPr>
              <a:t>(2019)</a:t>
            </a:r>
            <a:r>
              <a:rPr lang="en-US" sz="1600" dirty="0">
                <a:latin typeface="Times New Roman" panose="02020603050405020304" pitchFamily="18" charset="0"/>
                <a:cs typeface="Times New Roman" panose="02020603050405020304" pitchFamily="18" charset="0"/>
              </a:rPr>
              <a:t> to </a:t>
            </a:r>
            <a:r>
              <a:rPr lang="en-US" sz="1600" b="1" dirty="0">
                <a:latin typeface="Times New Roman" panose="02020603050405020304" pitchFamily="18" charset="0"/>
                <a:cs typeface="Times New Roman" panose="02020603050405020304" pitchFamily="18" charset="0"/>
              </a:rPr>
              <a:t>0.7 (matching 2023) </a:t>
            </a:r>
            <a:r>
              <a:rPr lang="en-US" sz="1600" dirty="0">
                <a:latin typeface="Times New Roman" panose="02020603050405020304" pitchFamily="18" charset="0"/>
                <a:cs typeface="Times New Roman" panose="02020603050405020304" pitchFamily="18" charset="0"/>
              </a:rPr>
              <a:t>using </a:t>
            </a:r>
            <a:r>
              <a:rPr lang="en-US" sz="1600" b="1" dirty="0">
                <a:latin typeface="Times New Roman" panose="02020603050405020304" pitchFamily="18" charset="0"/>
                <a:cs typeface="Times New Roman" panose="02020603050405020304" pitchFamily="18" charset="0"/>
              </a:rPr>
              <a:t>Cubic Convolution </a:t>
            </a:r>
            <a:r>
              <a:rPr lang="en-US" sz="1600" dirty="0">
                <a:latin typeface="Times New Roman" panose="02020603050405020304" pitchFamily="18" charset="0"/>
                <a:cs typeface="Times New Roman" panose="02020603050405020304" pitchFamily="18" charset="0"/>
              </a:rPr>
              <a:t>with the </a:t>
            </a:r>
            <a:r>
              <a:rPr lang="en-US" sz="1600" b="1" dirty="0">
                <a:latin typeface="Times New Roman" panose="02020603050405020304" pitchFamily="18" charset="0"/>
                <a:cs typeface="Times New Roman" panose="02020603050405020304" pitchFamily="18" charset="0"/>
              </a:rPr>
              <a:t>Resample </a:t>
            </a:r>
            <a:r>
              <a:rPr lang="en-US" sz="1600" dirty="0">
                <a:latin typeface="Times New Roman" panose="02020603050405020304" pitchFamily="18" charset="0"/>
                <a:cs typeface="Times New Roman" panose="02020603050405020304" pitchFamily="18" charset="0"/>
              </a:rPr>
              <a:t>tool</a:t>
            </a:r>
            <a:r>
              <a:rPr lang="en-US" sz="1600" b="1"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Match the dimensions of the 2023 raster (</a:t>
            </a:r>
            <a:r>
              <a:rPr lang="en-US" sz="1600" b="1" dirty="0">
                <a:latin typeface="Times New Roman" panose="02020603050405020304" pitchFamily="18" charset="0"/>
                <a:cs typeface="Times New Roman" panose="02020603050405020304" pitchFamily="18" charset="0"/>
              </a:rPr>
              <a:t>8986 x 7718)</a:t>
            </a:r>
            <a:r>
              <a:rPr lang="en-US" sz="1600" dirty="0">
                <a:latin typeface="Times New Roman" panose="02020603050405020304" pitchFamily="18" charset="0"/>
                <a:cs typeface="Times New Roman" panose="02020603050405020304" pitchFamily="18" charset="0"/>
              </a:rPr>
              <a:t> to the same extent as the 2019 raster (</a:t>
            </a:r>
            <a:r>
              <a:rPr lang="en-US" sz="1600" b="1" dirty="0">
                <a:latin typeface="Times New Roman" panose="02020603050405020304" pitchFamily="18" charset="0"/>
                <a:cs typeface="Times New Roman" panose="02020603050405020304" pitchFamily="18" charset="0"/>
              </a:rPr>
              <a:t>9371 x 8048) </a:t>
            </a:r>
            <a:r>
              <a:rPr lang="en-US" sz="1600" dirty="0">
                <a:latin typeface="Times New Roman" panose="02020603050405020304" pitchFamily="18" charset="0"/>
                <a:cs typeface="Times New Roman" panose="02020603050405020304" pitchFamily="18" charset="0"/>
              </a:rPr>
              <a:t>with the </a:t>
            </a:r>
            <a:r>
              <a:rPr lang="en-US" sz="1600" b="1" dirty="0">
                <a:latin typeface="Times New Roman" panose="02020603050405020304" pitchFamily="18" charset="0"/>
                <a:cs typeface="Times New Roman" panose="02020603050405020304" pitchFamily="18" charset="0"/>
              </a:rPr>
              <a:t>Clip Raster </a:t>
            </a:r>
            <a:r>
              <a:rPr lang="en-US" sz="1600" dirty="0">
                <a:latin typeface="Times New Roman" panose="02020603050405020304" pitchFamily="18" charset="0"/>
                <a:cs typeface="Times New Roman" panose="02020603050405020304" pitchFamily="18" charset="0"/>
              </a:rPr>
              <a:t>tool.</a:t>
            </a:r>
            <a:endParaRPr lang="en-US" sz="1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1535560-BB44-E299-4F2E-58A246EF0944}"/>
              </a:ext>
            </a:extLst>
          </p:cNvPr>
          <p:cNvPicPr>
            <a:picLocks noChangeAspect="1"/>
          </p:cNvPicPr>
          <p:nvPr/>
        </p:nvPicPr>
        <p:blipFill>
          <a:blip r:embed="rId2"/>
          <a:stretch>
            <a:fillRect/>
          </a:stretch>
        </p:blipFill>
        <p:spPr>
          <a:xfrm>
            <a:off x="4621034" y="1158692"/>
            <a:ext cx="6567233" cy="4662487"/>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E9F29324-9D71-1903-2DC1-E9D7DAB9665C}"/>
              </a:ext>
            </a:extLst>
          </p:cNvPr>
          <p:cNvPicPr>
            <a:picLocks noChangeAspect="1"/>
          </p:cNvPicPr>
          <p:nvPr/>
        </p:nvPicPr>
        <p:blipFill>
          <a:blip r:embed="rId3"/>
          <a:stretch>
            <a:fillRect/>
          </a:stretch>
        </p:blipFill>
        <p:spPr>
          <a:xfrm>
            <a:off x="6218725" y="5960879"/>
            <a:ext cx="3371850" cy="714375"/>
          </a:xfrm>
          <a:prstGeom prst="rect">
            <a:avLst/>
          </a:prstGeom>
        </p:spPr>
        <p:style>
          <a:lnRef idx="2">
            <a:schemeClr val="dk1"/>
          </a:lnRef>
          <a:fillRef idx="1">
            <a:schemeClr val="lt1"/>
          </a:fillRef>
          <a:effectRef idx="0">
            <a:schemeClr val="dk1"/>
          </a:effectRef>
          <a:fontRef idx="minor">
            <a:schemeClr val="dk1"/>
          </a:fontRef>
        </p:style>
      </p:pic>
      <p:sp>
        <p:nvSpPr>
          <p:cNvPr id="2" name="TextBox 1">
            <a:extLst>
              <a:ext uri="{FF2B5EF4-FFF2-40B4-BE49-F238E27FC236}">
                <a16:creationId xmlns:a16="http://schemas.microsoft.com/office/drawing/2014/main" id="{3CD4D6EF-DE35-E222-5A4C-CC3D22CAF14F}"/>
              </a:ext>
            </a:extLst>
          </p:cNvPr>
          <p:cNvSpPr txBox="1"/>
          <p:nvPr/>
        </p:nvSpPr>
        <p:spPr>
          <a:xfrm>
            <a:off x="0" y="0"/>
            <a:ext cx="756938" cy="369332"/>
          </a:xfrm>
          <a:prstGeom prst="rect">
            <a:avLst/>
          </a:prstGeom>
          <a:noFill/>
        </p:spPr>
        <p:txBody>
          <a:bodyPr wrap="none" rtlCol="0">
            <a:spAutoFit/>
          </a:bodyPr>
          <a:lstStyle/>
          <a:p>
            <a:r>
              <a:rPr lang="en-US" dirty="0"/>
              <a:t>16/47</a:t>
            </a:r>
            <a:endParaRPr lang="en-AE" dirty="0"/>
          </a:p>
        </p:txBody>
      </p:sp>
    </p:spTree>
    <p:extLst>
      <p:ext uri="{BB962C8B-B14F-4D97-AF65-F5344CB8AC3E}">
        <p14:creationId xmlns:p14="http://schemas.microsoft.com/office/powerpoint/2010/main" val="4293411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E533E-5945-8079-615B-73D6549B323D}"/>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93460C0-820F-5DC5-FE4B-BB47144CE181}"/>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 Preprocessing – Co-Registration</a:t>
            </a:r>
            <a:endParaRPr lang="en-AE" dirty="0"/>
          </a:p>
        </p:txBody>
      </p:sp>
      <p:sp>
        <p:nvSpPr>
          <p:cNvPr id="2" name="TextBox 1">
            <a:extLst>
              <a:ext uri="{FF2B5EF4-FFF2-40B4-BE49-F238E27FC236}">
                <a16:creationId xmlns:a16="http://schemas.microsoft.com/office/drawing/2014/main" id="{A4A1E079-EEF2-E958-0524-7BCE3AC9BAA7}"/>
              </a:ext>
            </a:extLst>
          </p:cNvPr>
          <p:cNvSpPr txBox="1"/>
          <p:nvPr/>
        </p:nvSpPr>
        <p:spPr>
          <a:xfrm>
            <a:off x="3340676" y="2241520"/>
            <a:ext cx="1510146" cy="369332"/>
          </a:xfrm>
          <a:prstGeom prst="rect">
            <a:avLst/>
          </a:prstGeom>
          <a:noFill/>
        </p:spPr>
        <p:txBody>
          <a:bodyPr wrap="square" rtlCol="0">
            <a:spAutoFit/>
          </a:bodyPr>
          <a:lstStyle/>
          <a:p>
            <a:r>
              <a:rPr lang="en-US" dirty="0"/>
              <a:t>Dubai, 2019</a:t>
            </a:r>
            <a:endParaRPr lang="en-AE" dirty="0"/>
          </a:p>
        </p:txBody>
      </p:sp>
      <p:sp>
        <p:nvSpPr>
          <p:cNvPr id="4" name="TextBox 3">
            <a:extLst>
              <a:ext uri="{FF2B5EF4-FFF2-40B4-BE49-F238E27FC236}">
                <a16:creationId xmlns:a16="http://schemas.microsoft.com/office/drawing/2014/main" id="{9E4F6465-7692-69D2-0736-1B199C5C0436}"/>
              </a:ext>
            </a:extLst>
          </p:cNvPr>
          <p:cNvSpPr txBox="1"/>
          <p:nvPr/>
        </p:nvSpPr>
        <p:spPr>
          <a:xfrm>
            <a:off x="7374517" y="2241520"/>
            <a:ext cx="1510146" cy="369332"/>
          </a:xfrm>
          <a:prstGeom prst="rect">
            <a:avLst/>
          </a:prstGeom>
          <a:noFill/>
        </p:spPr>
        <p:txBody>
          <a:bodyPr wrap="square" rtlCol="0">
            <a:spAutoFit/>
          </a:bodyPr>
          <a:lstStyle/>
          <a:p>
            <a:r>
              <a:rPr lang="en-US" dirty="0"/>
              <a:t>Dubai, 2023</a:t>
            </a:r>
            <a:endParaRPr lang="en-AE" dirty="0"/>
          </a:p>
        </p:txBody>
      </p:sp>
      <p:pic>
        <p:nvPicPr>
          <p:cNvPr id="14" name="Picture 13">
            <a:extLst>
              <a:ext uri="{FF2B5EF4-FFF2-40B4-BE49-F238E27FC236}">
                <a16:creationId xmlns:a16="http://schemas.microsoft.com/office/drawing/2014/main" id="{F8F0B8E6-71C3-C3DF-34F0-704E969DFBFA}"/>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205540" y="2714626"/>
            <a:ext cx="3848100" cy="1577974"/>
          </a:xfrm>
          <a:prstGeom prst="rect">
            <a:avLst/>
          </a:prstGeom>
        </p:spPr>
        <p:style>
          <a:lnRef idx="2">
            <a:schemeClr val="dk1"/>
          </a:lnRef>
          <a:fillRef idx="1">
            <a:schemeClr val="lt1"/>
          </a:fillRef>
          <a:effectRef idx="0">
            <a:schemeClr val="dk1"/>
          </a:effectRef>
          <a:fontRef idx="minor">
            <a:schemeClr val="dk1"/>
          </a:fontRef>
        </p:style>
      </p:pic>
      <p:pic>
        <p:nvPicPr>
          <p:cNvPr id="16" name="Picture 15">
            <a:extLst>
              <a:ext uri="{FF2B5EF4-FFF2-40B4-BE49-F238E27FC236}">
                <a16:creationId xmlns:a16="http://schemas.microsoft.com/office/drawing/2014/main" id="{0DC35EB1-6CB7-7861-A87E-FEDC53415F4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236325" y="2714625"/>
            <a:ext cx="3814540" cy="1577975"/>
          </a:xfrm>
          <a:prstGeom prst="rect">
            <a:avLst/>
          </a:prstGeom>
        </p:spPr>
        <p:style>
          <a:lnRef idx="2">
            <a:schemeClr val="dk1"/>
          </a:lnRef>
          <a:fillRef idx="1">
            <a:schemeClr val="lt1"/>
          </a:fillRef>
          <a:effectRef idx="0">
            <a:schemeClr val="dk1"/>
          </a:effectRef>
          <a:fontRef idx="minor">
            <a:schemeClr val="dk1"/>
          </a:fontRef>
        </p:style>
      </p:pic>
      <p:sp>
        <p:nvSpPr>
          <p:cNvPr id="3" name="TextBox 2">
            <a:extLst>
              <a:ext uri="{FF2B5EF4-FFF2-40B4-BE49-F238E27FC236}">
                <a16:creationId xmlns:a16="http://schemas.microsoft.com/office/drawing/2014/main" id="{754930F7-A224-2259-18E7-6D03DC7D6278}"/>
              </a:ext>
            </a:extLst>
          </p:cNvPr>
          <p:cNvSpPr txBox="1"/>
          <p:nvPr/>
        </p:nvSpPr>
        <p:spPr>
          <a:xfrm>
            <a:off x="0" y="0"/>
            <a:ext cx="756938" cy="369332"/>
          </a:xfrm>
          <a:prstGeom prst="rect">
            <a:avLst/>
          </a:prstGeom>
          <a:noFill/>
        </p:spPr>
        <p:txBody>
          <a:bodyPr wrap="none" rtlCol="0">
            <a:spAutoFit/>
          </a:bodyPr>
          <a:lstStyle/>
          <a:p>
            <a:r>
              <a:rPr lang="en-US" dirty="0"/>
              <a:t>17/47</a:t>
            </a:r>
            <a:endParaRPr lang="en-AE" dirty="0"/>
          </a:p>
        </p:txBody>
      </p:sp>
    </p:spTree>
    <p:extLst>
      <p:ext uri="{BB962C8B-B14F-4D97-AF65-F5344CB8AC3E}">
        <p14:creationId xmlns:p14="http://schemas.microsoft.com/office/powerpoint/2010/main" val="3038213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1D0BF-7D46-C6DF-230D-783B9D90DF8D}"/>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B1A8028-E783-3267-7BCB-1FBF3C14D9F9}"/>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Dataset Preprocessing – Bit Conversion</a:t>
            </a:r>
            <a:endParaRPr lang="en-AE" dirty="0"/>
          </a:p>
        </p:txBody>
      </p:sp>
      <p:sp>
        <p:nvSpPr>
          <p:cNvPr id="2" name="TextBox 1">
            <a:extLst>
              <a:ext uri="{FF2B5EF4-FFF2-40B4-BE49-F238E27FC236}">
                <a16:creationId xmlns:a16="http://schemas.microsoft.com/office/drawing/2014/main" id="{4A5DACA3-775F-11D2-27B6-F0F19CAE35E8}"/>
              </a:ext>
            </a:extLst>
          </p:cNvPr>
          <p:cNvSpPr txBox="1"/>
          <p:nvPr/>
        </p:nvSpPr>
        <p:spPr>
          <a:xfrm>
            <a:off x="3340676" y="2241520"/>
            <a:ext cx="1510146" cy="369332"/>
          </a:xfrm>
          <a:prstGeom prst="rect">
            <a:avLst/>
          </a:prstGeom>
          <a:noFill/>
        </p:spPr>
        <p:txBody>
          <a:bodyPr wrap="square" rtlCol="0">
            <a:spAutoFit/>
          </a:bodyPr>
          <a:lstStyle/>
          <a:p>
            <a:r>
              <a:rPr lang="en-US" dirty="0"/>
              <a:t>Dubai, 2019</a:t>
            </a:r>
            <a:endParaRPr lang="en-AE" dirty="0"/>
          </a:p>
        </p:txBody>
      </p:sp>
      <p:sp>
        <p:nvSpPr>
          <p:cNvPr id="4" name="TextBox 3">
            <a:extLst>
              <a:ext uri="{FF2B5EF4-FFF2-40B4-BE49-F238E27FC236}">
                <a16:creationId xmlns:a16="http://schemas.microsoft.com/office/drawing/2014/main" id="{B3FDA604-EA01-47EB-360E-5D8FD5BB0AD6}"/>
              </a:ext>
            </a:extLst>
          </p:cNvPr>
          <p:cNvSpPr txBox="1"/>
          <p:nvPr/>
        </p:nvSpPr>
        <p:spPr>
          <a:xfrm>
            <a:off x="7374517" y="2241520"/>
            <a:ext cx="1510146" cy="369332"/>
          </a:xfrm>
          <a:prstGeom prst="rect">
            <a:avLst/>
          </a:prstGeom>
          <a:noFill/>
        </p:spPr>
        <p:txBody>
          <a:bodyPr wrap="square" rtlCol="0">
            <a:spAutoFit/>
          </a:bodyPr>
          <a:lstStyle/>
          <a:p>
            <a:r>
              <a:rPr lang="en-US" dirty="0"/>
              <a:t>Dubai, 2023</a:t>
            </a:r>
            <a:endParaRPr lang="en-AE" dirty="0"/>
          </a:p>
        </p:txBody>
      </p:sp>
      <p:pic>
        <p:nvPicPr>
          <p:cNvPr id="5" name="Picture 4">
            <a:extLst>
              <a:ext uri="{FF2B5EF4-FFF2-40B4-BE49-F238E27FC236}">
                <a16:creationId xmlns:a16="http://schemas.microsoft.com/office/drawing/2014/main" id="{939E0422-CDBF-B740-42D0-027991EE7A2C}"/>
              </a:ext>
            </a:extLst>
          </p:cNvPr>
          <p:cNvPicPr>
            <a:picLocks noChangeAspect="1"/>
          </p:cNvPicPr>
          <p:nvPr/>
        </p:nvPicPr>
        <p:blipFill>
          <a:blip r:embed="rId2"/>
          <a:stretch>
            <a:fillRect/>
          </a:stretch>
        </p:blipFill>
        <p:spPr>
          <a:xfrm>
            <a:off x="2245520" y="2610852"/>
            <a:ext cx="3867150" cy="349567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AD949D15-9000-AE27-5DFE-4CFE00D8C229}"/>
              </a:ext>
            </a:extLst>
          </p:cNvPr>
          <p:cNvPicPr>
            <a:picLocks noChangeAspect="1"/>
          </p:cNvPicPr>
          <p:nvPr/>
        </p:nvPicPr>
        <p:blipFill>
          <a:blip r:embed="rId3"/>
          <a:stretch>
            <a:fillRect/>
          </a:stretch>
        </p:blipFill>
        <p:spPr>
          <a:xfrm>
            <a:off x="6467475" y="2610852"/>
            <a:ext cx="3790950" cy="3505200"/>
          </a:xfrm>
          <a:prstGeom prst="rect">
            <a:avLst/>
          </a:prstGeom>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956F4659-3B8F-5EAB-3E09-44210AE06F0A}"/>
              </a:ext>
            </a:extLst>
          </p:cNvPr>
          <p:cNvSpPr txBox="1"/>
          <p:nvPr/>
        </p:nvSpPr>
        <p:spPr>
          <a:xfrm>
            <a:off x="838200" y="1358900"/>
            <a:ext cx="9943214"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The 2019 image has a pixel depth of 16 bits, while 2023 is 8 bits. </a:t>
            </a:r>
          </a:p>
          <a:p>
            <a:pPr marL="285750" indent="-285750">
              <a:buFont typeface="Arial" panose="020B0604020202020204" pitchFamily="34" charset="0"/>
              <a:buChar char="•"/>
            </a:pPr>
            <a:r>
              <a:rPr lang="en-US" dirty="0"/>
              <a:t>Thus we convert the 2019 image to 8 bits to address potential misalignment.</a:t>
            </a:r>
            <a:endParaRPr lang="en-AE" dirty="0"/>
          </a:p>
        </p:txBody>
      </p:sp>
      <p:sp>
        <p:nvSpPr>
          <p:cNvPr id="3" name="TextBox 2">
            <a:extLst>
              <a:ext uri="{FF2B5EF4-FFF2-40B4-BE49-F238E27FC236}">
                <a16:creationId xmlns:a16="http://schemas.microsoft.com/office/drawing/2014/main" id="{14280AC6-D46E-D696-1A02-B052C30BE347}"/>
              </a:ext>
            </a:extLst>
          </p:cNvPr>
          <p:cNvSpPr txBox="1"/>
          <p:nvPr/>
        </p:nvSpPr>
        <p:spPr>
          <a:xfrm>
            <a:off x="0" y="0"/>
            <a:ext cx="756938" cy="369332"/>
          </a:xfrm>
          <a:prstGeom prst="rect">
            <a:avLst/>
          </a:prstGeom>
          <a:noFill/>
        </p:spPr>
        <p:txBody>
          <a:bodyPr wrap="none" rtlCol="0">
            <a:spAutoFit/>
          </a:bodyPr>
          <a:lstStyle/>
          <a:p>
            <a:r>
              <a:rPr lang="en-US" dirty="0"/>
              <a:t>18/47</a:t>
            </a:r>
            <a:endParaRPr lang="en-AE" dirty="0"/>
          </a:p>
        </p:txBody>
      </p:sp>
    </p:spTree>
    <p:extLst>
      <p:ext uri="{BB962C8B-B14F-4D97-AF65-F5344CB8AC3E}">
        <p14:creationId xmlns:p14="http://schemas.microsoft.com/office/powerpoint/2010/main" val="172203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FC736A-5FE0-AC6F-12BE-F21C1B112130}"/>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E5FF2801-C62C-5EA7-1704-91C27EF9425C}"/>
              </a:ext>
            </a:extLst>
          </p:cNvPr>
          <p:cNvSpPr txBox="1">
            <a:spLocks/>
          </p:cNvSpPr>
          <p:nvPr/>
        </p:nvSpPr>
        <p:spPr>
          <a:xfrm>
            <a:off x="4463682" y="620142"/>
            <a:ext cx="7165416" cy="16402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5600" kern="1200" dirty="0">
                <a:solidFill>
                  <a:schemeClr val="tx1"/>
                </a:solidFill>
                <a:latin typeface="+mj-lt"/>
                <a:ea typeface="+mj-ea"/>
                <a:cs typeface="+mj-cs"/>
              </a:rPr>
              <a:t>Dataset Preprocessing Tiling (256x256)</a:t>
            </a:r>
          </a:p>
        </p:txBody>
      </p:sp>
      <p:sp>
        <p:nvSpPr>
          <p:cNvPr id="205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D0325CBB-9124-E421-7B78-786495C32F76}"/>
              </a:ext>
            </a:extLst>
          </p:cNvPr>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4541651" y="2260410"/>
            <a:ext cx="7214616" cy="37876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1E38612-9B71-1495-3E70-0728D47DF70D}"/>
              </a:ext>
            </a:extLst>
          </p:cNvPr>
          <p:cNvPicPr>
            <a:picLocks noChangeAspect="1"/>
          </p:cNvPicPr>
          <p:nvPr/>
        </p:nvPicPr>
        <p:blipFill>
          <a:blip r:embed="rId3"/>
          <a:srcRect t="1000"/>
          <a:stretch>
            <a:fillRect/>
          </a:stretch>
        </p:blipFill>
        <p:spPr>
          <a:xfrm>
            <a:off x="695674" y="204070"/>
            <a:ext cx="3202699" cy="6449859"/>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9A059C9C-04FE-86CA-3185-EF623D44CEE2}"/>
              </a:ext>
            </a:extLst>
          </p:cNvPr>
          <p:cNvSpPr txBox="1"/>
          <p:nvPr/>
        </p:nvSpPr>
        <p:spPr>
          <a:xfrm>
            <a:off x="4594047" y="6099659"/>
            <a:ext cx="7162220" cy="369332"/>
          </a:xfrm>
          <a:prstGeom prst="rect">
            <a:avLst/>
          </a:prstGeom>
          <a:noFill/>
        </p:spPr>
        <p:txBody>
          <a:bodyPr wrap="square" rtlCol="0">
            <a:spAutoFit/>
          </a:bodyPr>
          <a:lstStyle/>
          <a:p>
            <a:pPr algn="ctr"/>
            <a:r>
              <a:rPr lang="en-US" dirty="0"/>
              <a:t>684 non-overlapping tiles of 256x256 resolution.</a:t>
            </a:r>
            <a:endParaRPr lang="en-AE" dirty="0"/>
          </a:p>
        </p:txBody>
      </p:sp>
      <p:sp>
        <p:nvSpPr>
          <p:cNvPr id="2" name="TextBox 1">
            <a:extLst>
              <a:ext uri="{FF2B5EF4-FFF2-40B4-BE49-F238E27FC236}">
                <a16:creationId xmlns:a16="http://schemas.microsoft.com/office/drawing/2014/main" id="{74AFBBF2-39F1-AC8C-8205-9D5C590B2A77}"/>
              </a:ext>
            </a:extLst>
          </p:cNvPr>
          <p:cNvSpPr txBox="1"/>
          <p:nvPr/>
        </p:nvSpPr>
        <p:spPr>
          <a:xfrm>
            <a:off x="0" y="0"/>
            <a:ext cx="756938" cy="369332"/>
          </a:xfrm>
          <a:prstGeom prst="rect">
            <a:avLst/>
          </a:prstGeom>
          <a:noFill/>
        </p:spPr>
        <p:txBody>
          <a:bodyPr wrap="none" rtlCol="0">
            <a:spAutoFit/>
          </a:bodyPr>
          <a:lstStyle/>
          <a:p>
            <a:r>
              <a:rPr lang="en-US" dirty="0"/>
              <a:t>19/47</a:t>
            </a:r>
            <a:endParaRPr lang="en-AE" dirty="0"/>
          </a:p>
        </p:txBody>
      </p:sp>
    </p:spTree>
    <p:extLst>
      <p:ext uri="{BB962C8B-B14F-4D97-AF65-F5344CB8AC3E}">
        <p14:creationId xmlns:p14="http://schemas.microsoft.com/office/powerpoint/2010/main" val="1272825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2" name="Rectangle 21">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4BFD6F-CC13-E764-67D3-142F9A3BDE6E}"/>
              </a:ext>
            </a:extLst>
          </p:cNvPr>
          <p:cNvSpPr>
            <a:spLocks noGrp="1"/>
          </p:cNvSpPr>
          <p:nvPr>
            <p:ph type="title"/>
          </p:nvPr>
        </p:nvSpPr>
        <p:spPr>
          <a:xfrm>
            <a:off x="1282963" y="1238080"/>
            <a:ext cx="9849751" cy="1349671"/>
          </a:xfrm>
        </p:spPr>
        <p:txBody>
          <a:bodyPr anchor="b">
            <a:normAutofit/>
          </a:bodyPr>
          <a:lstStyle/>
          <a:p>
            <a:r>
              <a:rPr lang="en-US" sz="5400"/>
              <a:t>Radiometric Normalization</a:t>
            </a:r>
            <a:endParaRPr lang="en-AE" sz="5400"/>
          </a:p>
        </p:txBody>
      </p:sp>
      <p:sp>
        <p:nvSpPr>
          <p:cNvPr id="25" name="Content Placeholder 3">
            <a:extLst>
              <a:ext uri="{FF2B5EF4-FFF2-40B4-BE49-F238E27FC236}">
                <a16:creationId xmlns:a16="http://schemas.microsoft.com/office/drawing/2014/main" id="{8B4BE8DF-6A15-3D07-70C0-5CF0FF8012AB}"/>
              </a:ext>
            </a:extLst>
          </p:cNvPr>
          <p:cNvSpPr>
            <a:spLocks noGrp="1"/>
          </p:cNvSpPr>
          <p:nvPr>
            <p:ph idx="1"/>
          </p:nvPr>
        </p:nvSpPr>
        <p:spPr>
          <a:xfrm>
            <a:off x="1289304" y="2902913"/>
            <a:ext cx="9849751" cy="3032168"/>
          </a:xfrm>
        </p:spPr>
        <p:txBody>
          <a:bodyPr anchor="ctr">
            <a:normAutofit/>
          </a:bodyPr>
          <a:lstStyle/>
          <a:p>
            <a:r>
              <a:rPr lang="en-US" sz="2000" dirty="0"/>
              <a:t>Satellite sensors measuring the same patch of ground on two different dates will record different pixel values even if nothing on the ground actually changed.</a:t>
            </a:r>
          </a:p>
          <a:p>
            <a:r>
              <a:rPr lang="en-US" sz="2000" dirty="0"/>
              <a:t>Atmospheric conditions (haze, aerosols, water </a:t>
            </a:r>
            <a:r>
              <a:rPr lang="en-US" sz="2000" dirty="0" err="1"/>
              <a:t>vapour</a:t>
            </a:r>
            <a:r>
              <a:rPr lang="en-US" sz="2000" dirty="0"/>
              <a:t>), sun angle, and sensor drift all alter the brightness of the signal. </a:t>
            </a:r>
          </a:p>
          <a:p>
            <a:r>
              <a:rPr lang="en-US" sz="2000" dirty="0"/>
              <a:t>Radiometric normalization minimizes these differences so that only genuine ground change remains.</a:t>
            </a:r>
            <a:endParaRPr lang="en-AE" sz="2000" dirty="0"/>
          </a:p>
        </p:txBody>
      </p:sp>
      <p:sp>
        <p:nvSpPr>
          <p:cNvPr id="3" name="TextBox 2">
            <a:extLst>
              <a:ext uri="{FF2B5EF4-FFF2-40B4-BE49-F238E27FC236}">
                <a16:creationId xmlns:a16="http://schemas.microsoft.com/office/drawing/2014/main" id="{A36B07BA-A86D-CDBF-BA18-E0F09700CEA1}"/>
              </a:ext>
            </a:extLst>
          </p:cNvPr>
          <p:cNvSpPr txBox="1"/>
          <p:nvPr/>
        </p:nvSpPr>
        <p:spPr>
          <a:xfrm>
            <a:off x="0" y="0"/>
            <a:ext cx="756938" cy="369332"/>
          </a:xfrm>
          <a:prstGeom prst="rect">
            <a:avLst/>
          </a:prstGeom>
          <a:noFill/>
        </p:spPr>
        <p:txBody>
          <a:bodyPr wrap="none" rtlCol="0">
            <a:spAutoFit/>
          </a:bodyPr>
          <a:lstStyle/>
          <a:p>
            <a:r>
              <a:rPr lang="en-US" dirty="0"/>
              <a:t>20/47</a:t>
            </a:r>
            <a:endParaRPr lang="en-AE" dirty="0"/>
          </a:p>
        </p:txBody>
      </p:sp>
    </p:spTree>
    <p:extLst>
      <p:ext uri="{BB962C8B-B14F-4D97-AF65-F5344CB8AC3E}">
        <p14:creationId xmlns:p14="http://schemas.microsoft.com/office/powerpoint/2010/main" val="55097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2D771-79A1-6207-AC9B-A106162DD0A4}"/>
              </a:ext>
            </a:extLst>
          </p:cNvPr>
          <p:cNvSpPr>
            <a:spLocks noGrp="1"/>
          </p:cNvSpPr>
          <p:nvPr>
            <p:ph type="title"/>
          </p:nvPr>
        </p:nvSpPr>
        <p:spPr>
          <a:xfrm>
            <a:off x="0" y="137473"/>
            <a:ext cx="12192000" cy="1325563"/>
          </a:xfrm>
        </p:spPr>
        <p:txBody>
          <a:bodyPr>
            <a:normAutofit/>
          </a:bodyPr>
          <a:lstStyle/>
          <a:p>
            <a:pPr algn="ctr"/>
            <a:r>
              <a:rPr lang="en-US" sz="4000" dirty="0"/>
              <a:t>Baseline Experiment: Computer Vision Pixel Differencing</a:t>
            </a:r>
            <a:endParaRPr lang="en-AE" sz="4000" dirty="0"/>
          </a:p>
        </p:txBody>
      </p:sp>
      <p:sp>
        <p:nvSpPr>
          <p:cNvPr id="6" name="TextBox 5">
            <a:extLst>
              <a:ext uri="{FF2B5EF4-FFF2-40B4-BE49-F238E27FC236}">
                <a16:creationId xmlns:a16="http://schemas.microsoft.com/office/drawing/2014/main" id="{B0E0749B-87EF-B91A-ED70-304C9803D84C}"/>
              </a:ext>
            </a:extLst>
          </p:cNvPr>
          <p:cNvSpPr txBox="1"/>
          <p:nvPr/>
        </p:nvSpPr>
        <p:spPr>
          <a:xfrm>
            <a:off x="571500" y="1333500"/>
            <a:ext cx="10598150" cy="923330"/>
          </a:xfrm>
          <a:prstGeom prst="rect">
            <a:avLst/>
          </a:prstGeom>
          <a:noFill/>
        </p:spPr>
        <p:txBody>
          <a:bodyPr wrap="square" rtlCol="0">
            <a:spAutoFit/>
          </a:bodyPr>
          <a:lstStyle/>
          <a:p>
            <a:pPr marL="285750" indent="-285750">
              <a:buFont typeface="Arial" panose="020B0604020202020204" pitchFamily="34" charset="0"/>
              <a:buChar char="•"/>
            </a:pPr>
            <a:r>
              <a:rPr lang="en-US" dirty="0"/>
              <a:t>Calculate the pixel difference on a threshold between the 2019 and the 2023 maps using ArcGIS.</a:t>
            </a:r>
          </a:p>
          <a:p>
            <a:pPr marL="285750" indent="-285750">
              <a:buFont typeface="Arial" panose="020B0604020202020204" pitchFamily="34" charset="0"/>
              <a:buChar char="•"/>
            </a:pPr>
            <a:r>
              <a:rPr lang="en-US" dirty="0"/>
              <a:t>Noisy approach, doesn’t discriminate buildings from shade/light/</a:t>
            </a:r>
            <a:r>
              <a:rPr lang="en-US" dirty="0" err="1"/>
              <a:t>etc</a:t>
            </a:r>
            <a:r>
              <a:rPr lang="en-US" dirty="0"/>
              <a:t>…</a:t>
            </a:r>
          </a:p>
          <a:p>
            <a:pPr marL="285750" indent="-285750">
              <a:buFont typeface="Arial" panose="020B0604020202020204" pitchFamily="34" charset="0"/>
              <a:buChar char="•"/>
            </a:pPr>
            <a:r>
              <a:rPr lang="en-US" dirty="0"/>
              <a:t>Motivation to utilize deep learning AI models for change detection.</a:t>
            </a:r>
            <a:endParaRPr lang="en-AE" dirty="0"/>
          </a:p>
        </p:txBody>
      </p:sp>
      <p:pic>
        <p:nvPicPr>
          <p:cNvPr id="12" name="Picture 11">
            <a:extLst>
              <a:ext uri="{FF2B5EF4-FFF2-40B4-BE49-F238E27FC236}">
                <a16:creationId xmlns:a16="http://schemas.microsoft.com/office/drawing/2014/main" id="{B4DEB0B5-5627-EBCD-71E5-4C28A2F2D5DC}"/>
              </a:ext>
            </a:extLst>
          </p:cNvPr>
          <p:cNvPicPr>
            <a:picLocks noChangeAspect="1"/>
          </p:cNvPicPr>
          <p:nvPr/>
        </p:nvPicPr>
        <p:blipFill>
          <a:blip r:embed="rId2"/>
          <a:stretch>
            <a:fillRect/>
          </a:stretch>
        </p:blipFill>
        <p:spPr>
          <a:xfrm>
            <a:off x="6781800" y="2249076"/>
            <a:ext cx="4692650" cy="4440474"/>
          </a:xfrm>
          <a:prstGeom prst="rect">
            <a:avLst/>
          </a:prstGeom>
        </p:spPr>
        <p:style>
          <a:lnRef idx="2">
            <a:schemeClr val="dk1"/>
          </a:lnRef>
          <a:fillRef idx="1">
            <a:schemeClr val="lt1"/>
          </a:fillRef>
          <a:effectRef idx="0">
            <a:schemeClr val="dk1"/>
          </a:effectRef>
          <a:fontRef idx="minor">
            <a:schemeClr val="dk1"/>
          </a:fontRef>
        </p:style>
      </p:pic>
      <p:pic>
        <p:nvPicPr>
          <p:cNvPr id="14" name="Picture 13">
            <a:extLst>
              <a:ext uri="{FF2B5EF4-FFF2-40B4-BE49-F238E27FC236}">
                <a16:creationId xmlns:a16="http://schemas.microsoft.com/office/drawing/2014/main" id="{2BFA86DD-5851-3D24-CF26-F208D4377A9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950" y="2249076"/>
            <a:ext cx="6096000" cy="4471451"/>
          </a:xfrm>
          <a:prstGeom prst="rect">
            <a:avLst/>
          </a:prstGeom>
        </p:spPr>
      </p:pic>
      <p:sp>
        <p:nvSpPr>
          <p:cNvPr id="3" name="TextBox 2">
            <a:extLst>
              <a:ext uri="{FF2B5EF4-FFF2-40B4-BE49-F238E27FC236}">
                <a16:creationId xmlns:a16="http://schemas.microsoft.com/office/drawing/2014/main" id="{E4E3E43D-26FE-376B-3FBB-CA3A61332E8E}"/>
              </a:ext>
            </a:extLst>
          </p:cNvPr>
          <p:cNvSpPr txBox="1"/>
          <p:nvPr/>
        </p:nvSpPr>
        <p:spPr>
          <a:xfrm>
            <a:off x="0" y="0"/>
            <a:ext cx="756938" cy="369332"/>
          </a:xfrm>
          <a:prstGeom prst="rect">
            <a:avLst/>
          </a:prstGeom>
          <a:noFill/>
        </p:spPr>
        <p:txBody>
          <a:bodyPr wrap="none" rtlCol="0">
            <a:spAutoFit/>
          </a:bodyPr>
          <a:lstStyle/>
          <a:p>
            <a:r>
              <a:rPr lang="en-US" dirty="0"/>
              <a:t>21/47</a:t>
            </a:r>
            <a:endParaRPr lang="en-AE" dirty="0"/>
          </a:p>
        </p:txBody>
      </p:sp>
    </p:spTree>
    <p:extLst>
      <p:ext uri="{BB962C8B-B14F-4D97-AF65-F5344CB8AC3E}">
        <p14:creationId xmlns:p14="http://schemas.microsoft.com/office/powerpoint/2010/main" val="3690264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3C1E5-466B-13F2-8834-605369437782}"/>
              </a:ext>
            </a:extLst>
          </p:cNvPr>
          <p:cNvSpPr>
            <a:spLocks noGrp="1"/>
          </p:cNvSpPr>
          <p:nvPr>
            <p:ph type="title"/>
          </p:nvPr>
        </p:nvSpPr>
        <p:spPr>
          <a:xfrm>
            <a:off x="686834" y="1153572"/>
            <a:ext cx="3200400" cy="4461163"/>
          </a:xfrm>
        </p:spPr>
        <p:txBody>
          <a:bodyPr>
            <a:normAutofit/>
          </a:bodyPr>
          <a:lstStyle/>
          <a:p>
            <a:r>
              <a:rPr lang="en-US">
                <a:solidFill>
                  <a:srgbClr val="FFFFFF"/>
                </a:solidFill>
              </a:rPr>
              <a:t>Next Experiment: Supervised VGG16 Model</a:t>
            </a:r>
            <a:endParaRPr lang="en-AE">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F505F3B-8E93-DE17-D596-907039432855}"/>
              </a:ext>
            </a:extLst>
          </p:cNvPr>
          <p:cNvSpPr>
            <a:spLocks noGrp="1"/>
          </p:cNvSpPr>
          <p:nvPr>
            <p:ph idx="1"/>
          </p:nvPr>
        </p:nvSpPr>
        <p:spPr>
          <a:xfrm>
            <a:off x="4447308" y="591344"/>
            <a:ext cx="6906491" cy="5585619"/>
          </a:xfrm>
        </p:spPr>
        <p:txBody>
          <a:bodyPr anchor="ctr">
            <a:normAutofit/>
          </a:bodyPr>
          <a:lstStyle/>
          <a:p>
            <a:r>
              <a:rPr lang="en-US" dirty="0"/>
              <a:t>First, we train a supervised VGG16 ImageNet model on the LEVIR-CD Dataset and run inference on our </a:t>
            </a:r>
            <a:r>
              <a:rPr lang="en-US" dirty="0" err="1"/>
              <a:t>dubai</a:t>
            </a:r>
            <a:r>
              <a:rPr lang="en-US" dirty="0"/>
              <a:t> images.</a:t>
            </a:r>
            <a:endParaRPr lang="en-AE" dirty="0"/>
          </a:p>
        </p:txBody>
      </p:sp>
      <p:sp>
        <p:nvSpPr>
          <p:cNvPr id="4" name="TextBox 3">
            <a:extLst>
              <a:ext uri="{FF2B5EF4-FFF2-40B4-BE49-F238E27FC236}">
                <a16:creationId xmlns:a16="http://schemas.microsoft.com/office/drawing/2014/main" id="{B7FA145C-F99B-DC02-B83A-F74F6FADE163}"/>
              </a:ext>
            </a:extLst>
          </p:cNvPr>
          <p:cNvSpPr txBox="1"/>
          <p:nvPr/>
        </p:nvSpPr>
        <p:spPr>
          <a:xfrm>
            <a:off x="0" y="0"/>
            <a:ext cx="756938" cy="369332"/>
          </a:xfrm>
          <a:prstGeom prst="rect">
            <a:avLst/>
          </a:prstGeom>
          <a:noFill/>
        </p:spPr>
        <p:txBody>
          <a:bodyPr wrap="none" rtlCol="0">
            <a:spAutoFit/>
          </a:bodyPr>
          <a:lstStyle/>
          <a:p>
            <a:r>
              <a:rPr lang="en-US" dirty="0"/>
              <a:t>22/47</a:t>
            </a:r>
            <a:endParaRPr lang="en-AE" dirty="0"/>
          </a:p>
        </p:txBody>
      </p:sp>
    </p:spTree>
    <p:extLst>
      <p:ext uri="{BB962C8B-B14F-4D97-AF65-F5344CB8AC3E}">
        <p14:creationId xmlns:p14="http://schemas.microsoft.com/office/powerpoint/2010/main" val="2198551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9CB645-4516-2C78-7B50-8D2A7077850A}"/>
              </a:ext>
            </a:extLst>
          </p:cNvPr>
          <p:cNvSpPr>
            <a:spLocks noGrp="1"/>
          </p:cNvSpPr>
          <p:nvPr>
            <p:ph type="title"/>
          </p:nvPr>
        </p:nvSpPr>
        <p:spPr>
          <a:xfrm>
            <a:off x="808638" y="386930"/>
            <a:ext cx="9236700" cy="1188950"/>
          </a:xfrm>
        </p:spPr>
        <p:txBody>
          <a:bodyPr anchor="b">
            <a:normAutofit/>
          </a:bodyPr>
          <a:lstStyle/>
          <a:p>
            <a:r>
              <a:rPr lang="en-US" sz="5400"/>
              <a:t>LEVIR-CD Dataset</a:t>
            </a:r>
            <a:endParaRPr lang="en-AE" sz="5400"/>
          </a:p>
        </p:txBody>
      </p:sp>
      <p:grpSp>
        <p:nvGrpSpPr>
          <p:cNvPr id="20" name="Group 1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 name="Rectangle 2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1022B0E-8448-CB44-6F56-C56A89DA4DF8}"/>
              </a:ext>
            </a:extLst>
          </p:cNvPr>
          <p:cNvSpPr>
            <a:spLocks noGrp="1"/>
          </p:cNvSpPr>
          <p:nvPr>
            <p:ph idx="1"/>
          </p:nvPr>
        </p:nvSpPr>
        <p:spPr>
          <a:xfrm>
            <a:off x="793660" y="2254102"/>
            <a:ext cx="10143668" cy="3981597"/>
          </a:xfrm>
        </p:spPr>
        <p:txBody>
          <a:bodyPr anchor="ctr">
            <a:normAutofit/>
          </a:bodyPr>
          <a:lstStyle/>
          <a:p>
            <a:r>
              <a:rPr lang="en-US" sz="1800" dirty="0"/>
              <a:t>LEVIR-CD is a large-scale remote sensing building Change Detection dataset.</a:t>
            </a:r>
          </a:p>
          <a:p>
            <a:r>
              <a:rPr lang="en-US" sz="1800" dirty="0"/>
              <a:t>637 very high-resolution (VHR, 0.5m/pixel) Google Earth (GE) image patch pairs with a size of 1024 × 1024 pixels. </a:t>
            </a:r>
          </a:p>
          <a:p>
            <a:r>
              <a:rPr lang="en-US" sz="1800" dirty="0"/>
              <a:t>Covers various types of buildings, such as villa residences, tall apartments, small garages and large warehouses. </a:t>
            </a:r>
          </a:p>
          <a:p>
            <a:r>
              <a:rPr lang="en-US" sz="1800" dirty="0"/>
              <a:t>These bitemporal images are annotated by remote sensing image interpretation experts using binary labels (1 for change and 0 for unchanged).</a:t>
            </a:r>
          </a:p>
          <a:p>
            <a:r>
              <a:rPr lang="en-US" sz="1800" dirty="0"/>
              <a:t>31,333 individual change building instances across 20 different regions in several cities in Texas of the US, varying from 2002 to 2018.</a:t>
            </a:r>
          </a:p>
          <a:p>
            <a:r>
              <a:rPr lang="en-US" sz="1800" dirty="0"/>
              <a:t>Access: https://justchenhao.github.io/LEVIR/</a:t>
            </a:r>
            <a:endParaRPr lang="en-AE" sz="2000" dirty="0"/>
          </a:p>
        </p:txBody>
      </p:sp>
      <p:sp>
        <p:nvSpPr>
          <p:cNvPr id="16" name="TextBox 15">
            <a:extLst>
              <a:ext uri="{FF2B5EF4-FFF2-40B4-BE49-F238E27FC236}">
                <a16:creationId xmlns:a16="http://schemas.microsoft.com/office/drawing/2014/main" id="{187BDB37-CB61-89CA-D7C4-18100BB67912}"/>
              </a:ext>
            </a:extLst>
          </p:cNvPr>
          <p:cNvSpPr txBox="1"/>
          <p:nvPr/>
        </p:nvSpPr>
        <p:spPr>
          <a:xfrm>
            <a:off x="0" y="6350924"/>
            <a:ext cx="12191999" cy="523220"/>
          </a:xfrm>
          <a:prstGeom prst="rect">
            <a:avLst/>
          </a:prstGeom>
          <a:noFill/>
        </p:spPr>
        <p:txBody>
          <a:bodyPr wrap="square">
            <a:spAutoFit/>
          </a:bodyPr>
          <a:lstStyle/>
          <a:p>
            <a:r>
              <a:rPr lang="en-US" sz="1400" dirty="0"/>
              <a:t>Chen, H.; Shi, Z. A Spatial-Temporal Attention-Based Method and a New Dataset for Remote Sensing Image Change Detection. Remote Sens. 2020, 12, 1662. https://doi.org/10.3390/rs12101662</a:t>
            </a:r>
          </a:p>
        </p:txBody>
      </p:sp>
      <p:sp>
        <p:nvSpPr>
          <p:cNvPr id="4" name="TextBox 3">
            <a:extLst>
              <a:ext uri="{FF2B5EF4-FFF2-40B4-BE49-F238E27FC236}">
                <a16:creationId xmlns:a16="http://schemas.microsoft.com/office/drawing/2014/main" id="{6D6CB92B-270F-6067-2D91-E8F335527765}"/>
              </a:ext>
            </a:extLst>
          </p:cNvPr>
          <p:cNvSpPr txBox="1"/>
          <p:nvPr/>
        </p:nvSpPr>
        <p:spPr>
          <a:xfrm>
            <a:off x="0" y="0"/>
            <a:ext cx="756938" cy="369332"/>
          </a:xfrm>
          <a:prstGeom prst="rect">
            <a:avLst/>
          </a:prstGeom>
          <a:noFill/>
        </p:spPr>
        <p:txBody>
          <a:bodyPr wrap="none" rtlCol="0">
            <a:spAutoFit/>
          </a:bodyPr>
          <a:lstStyle/>
          <a:p>
            <a:r>
              <a:rPr lang="en-US" dirty="0"/>
              <a:t>23/47</a:t>
            </a:r>
            <a:endParaRPr lang="en-AE" dirty="0"/>
          </a:p>
        </p:txBody>
      </p:sp>
    </p:spTree>
    <p:extLst>
      <p:ext uri="{BB962C8B-B14F-4D97-AF65-F5344CB8AC3E}">
        <p14:creationId xmlns:p14="http://schemas.microsoft.com/office/powerpoint/2010/main" val="3953565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DA542-FC7E-F6AB-8E09-913301AAA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F3095-7979-1C1B-0122-DD80E5F65FAF}"/>
              </a:ext>
            </a:extLst>
          </p:cNvPr>
          <p:cNvSpPr>
            <a:spLocks noGrp="1"/>
          </p:cNvSpPr>
          <p:nvPr>
            <p:ph type="title"/>
          </p:nvPr>
        </p:nvSpPr>
        <p:spPr>
          <a:xfrm>
            <a:off x="808638" y="386930"/>
            <a:ext cx="9236700" cy="1188950"/>
          </a:xfrm>
        </p:spPr>
        <p:txBody>
          <a:bodyPr anchor="b">
            <a:normAutofit/>
          </a:bodyPr>
          <a:lstStyle/>
          <a:p>
            <a:r>
              <a:rPr lang="en-US" sz="5400"/>
              <a:t>LEVIR-CD Dataset</a:t>
            </a:r>
            <a:endParaRPr lang="en-AE" sz="5400"/>
          </a:p>
        </p:txBody>
      </p:sp>
      <p:pic>
        <p:nvPicPr>
          <p:cNvPr id="7" name="Content Placeholder 6">
            <a:extLst>
              <a:ext uri="{FF2B5EF4-FFF2-40B4-BE49-F238E27FC236}">
                <a16:creationId xmlns:a16="http://schemas.microsoft.com/office/drawing/2014/main" id="{FE440E38-FEB6-835C-D8B7-F764AEC64C62}"/>
              </a:ext>
            </a:extLst>
          </p:cNvPr>
          <p:cNvPicPr>
            <a:picLocks noGrp="1" noChangeAspect="1"/>
          </p:cNvPicPr>
          <p:nvPr>
            <p:ph idx="1"/>
          </p:nvPr>
        </p:nvPicPr>
        <p:blipFill>
          <a:blip r:embed="rId3"/>
          <a:stretch>
            <a:fillRect/>
          </a:stretch>
        </p:blipFill>
        <p:spPr>
          <a:xfrm>
            <a:off x="792400" y="2042319"/>
            <a:ext cx="3048000" cy="3409950"/>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68000434-9EC0-4C2B-2C8D-3921F0C4DF84}"/>
              </a:ext>
            </a:extLst>
          </p:cNvPr>
          <p:cNvPicPr>
            <a:picLocks noChangeAspect="1"/>
          </p:cNvPicPr>
          <p:nvPr/>
        </p:nvPicPr>
        <p:blipFill>
          <a:blip r:embed="rId4"/>
          <a:stretch>
            <a:fillRect/>
          </a:stretch>
        </p:blipFill>
        <p:spPr>
          <a:xfrm>
            <a:off x="4203025" y="2061369"/>
            <a:ext cx="3057525" cy="3400425"/>
          </a:xfrm>
          <a:prstGeom prst="rect">
            <a:avLst/>
          </a:prstGeom>
        </p:spPr>
        <p:style>
          <a:lnRef idx="2">
            <a:schemeClr val="dk1"/>
          </a:lnRef>
          <a:fillRef idx="1">
            <a:schemeClr val="lt1"/>
          </a:fillRef>
          <a:effectRef idx="0">
            <a:schemeClr val="dk1"/>
          </a:effectRef>
          <a:fontRef idx="minor">
            <a:schemeClr val="dk1"/>
          </a:fontRef>
        </p:style>
      </p:pic>
      <p:pic>
        <p:nvPicPr>
          <p:cNvPr id="11" name="Picture 10">
            <a:extLst>
              <a:ext uri="{FF2B5EF4-FFF2-40B4-BE49-F238E27FC236}">
                <a16:creationId xmlns:a16="http://schemas.microsoft.com/office/drawing/2014/main" id="{BB3BD241-4C60-0A31-6D79-6CF7EC82E25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623175" y="2061369"/>
            <a:ext cx="3067001" cy="3390900"/>
          </a:xfrm>
          <a:prstGeom prst="rect">
            <a:avLst/>
          </a:prstGeom>
        </p:spPr>
        <p:style>
          <a:lnRef idx="2">
            <a:schemeClr val="dk1"/>
          </a:lnRef>
          <a:fillRef idx="1">
            <a:schemeClr val="lt1"/>
          </a:fillRef>
          <a:effectRef idx="0">
            <a:schemeClr val="dk1"/>
          </a:effectRef>
          <a:fontRef idx="minor">
            <a:schemeClr val="dk1"/>
          </a:fontRef>
        </p:style>
      </p:pic>
      <p:sp>
        <p:nvSpPr>
          <p:cNvPr id="3" name="TextBox 2">
            <a:extLst>
              <a:ext uri="{FF2B5EF4-FFF2-40B4-BE49-F238E27FC236}">
                <a16:creationId xmlns:a16="http://schemas.microsoft.com/office/drawing/2014/main" id="{E10BCAEB-3050-48AA-D011-6C8832DDCC07}"/>
              </a:ext>
            </a:extLst>
          </p:cNvPr>
          <p:cNvSpPr txBox="1"/>
          <p:nvPr/>
        </p:nvSpPr>
        <p:spPr>
          <a:xfrm>
            <a:off x="0" y="0"/>
            <a:ext cx="756938" cy="369332"/>
          </a:xfrm>
          <a:prstGeom prst="rect">
            <a:avLst/>
          </a:prstGeom>
          <a:noFill/>
        </p:spPr>
        <p:txBody>
          <a:bodyPr wrap="none" rtlCol="0">
            <a:spAutoFit/>
          </a:bodyPr>
          <a:lstStyle/>
          <a:p>
            <a:r>
              <a:rPr lang="en-US" dirty="0"/>
              <a:t>24/47</a:t>
            </a:r>
            <a:endParaRPr lang="en-AE" dirty="0"/>
          </a:p>
        </p:txBody>
      </p:sp>
    </p:spTree>
    <p:extLst>
      <p:ext uri="{BB962C8B-B14F-4D97-AF65-F5344CB8AC3E}">
        <p14:creationId xmlns:p14="http://schemas.microsoft.com/office/powerpoint/2010/main" val="1105754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99FB67-A83A-2D87-88EE-931AE9A60F55}"/>
              </a:ext>
            </a:extLst>
          </p:cNvPr>
          <p:cNvSpPr>
            <a:spLocks noGrp="1"/>
          </p:cNvSpPr>
          <p:nvPr>
            <p:ph type="title"/>
          </p:nvPr>
        </p:nvSpPr>
        <p:spPr>
          <a:xfrm>
            <a:off x="8020747" y="1222535"/>
            <a:ext cx="3197660" cy="3864221"/>
          </a:xfrm>
        </p:spPr>
        <p:txBody>
          <a:bodyPr vert="horz" lIns="91440" tIns="45720" rIns="91440" bIns="45720" rtlCol="0" anchor="b">
            <a:normAutofit fontScale="90000"/>
          </a:bodyPr>
          <a:lstStyle/>
          <a:p>
            <a:r>
              <a:rPr lang="en-US" sz="5000" kern="1200" dirty="0">
                <a:solidFill>
                  <a:schemeClr val="tx1"/>
                </a:solidFill>
                <a:latin typeface="+mj-lt"/>
                <a:ea typeface="+mj-ea"/>
                <a:cs typeface="+mj-cs"/>
              </a:rPr>
              <a:t>VGG16 Model Training Results</a:t>
            </a:r>
            <a:br>
              <a:rPr lang="en-US" sz="5000" kern="1200" dirty="0">
                <a:solidFill>
                  <a:schemeClr val="tx1"/>
                </a:solidFill>
                <a:latin typeface="+mj-lt"/>
                <a:ea typeface="+mj-ea"/>
                <a:cs typeface="+mj-cs"/>
              </a:rPr>
            </a:br>
            <a:r>
              <a:rPr lang="en-US" sz="5000" kern="1200" dirty="0">
                <a:solidFill>
                  <a:schemeClr val="tx1"/>
                </a:solidFill>
                <a:latin typeface="+mj-lt"/>
                <a:ea typeface="+mj-ea"/>
                <a:cs typeface="+mj-cs"/>
              </a:rPr>
              <a:t>on LEVIR-CD</a:t>
            </a:r>
          </a:p>
        </p:txBody>
      </p:sp>
      <p:graphicFrame>
        <p:nvGraphicFramePr>
          <p:cNvPr id="3" name="Table 2">
            <a:extLst>
              <a:ext uri="{FF2B5EF4-FFF2-40B4-BE49-F238E27FC236}">
                <a16:creationId xmlns:a16="http://schemas.microsoft.com/office/drawing/2014/main" id="{C4750EEB-7D44-3A74-5DD0-CAA484EAB4CF}"/>
              </a:ext>
            </a:extLst>
          </p:cNvPr>
          <p:cNvGraphicFramePr>
            <a:graphicFrameLocks noGrp="1"/>
          </p:cNvGraphicFramePr>
          <p:nvPr>
            <p:extLst>
              <p:ext uri="{D42A27DB-BD31-4B8C-83A1-F6EECF244321}">
                <p14:modId xmlns:p14="http://schemas.microsoft.com/office/powerpoint/2010/main" val="1790655937"/>
              </p:ext>
            </p:extLst>
          </p:nvPr>
        </p:nvGraphicFramePr>
        <p:xfrm>
          <a:off x="621675" y="1030877"/>
          <a:ext cx="6589538" cy="4792679"/>
        </p:xfrm>
        <a:graphic>
          <a:graphicData uri="http://schemas.openxmlformats.org/drawingml/2006/table">
            <a:tbl>
              <a:tblPr firstRow="1" bandRow="1">
                <a:tableStyleId>{5C22544A-7EE6-4342-B048-85BDC9FD1C3A}</a:tableStyleId>
              </a:tblPr>
              <a:tblGrid>
                <a:gridCol w="4301199">
                  <a:extLst>
                    <a:ext uri="{9D8B030D-6E8A-4147-A177-3AD203B41FA5}">
                      <a16:colId xmlns:a16="http://schemas.microsoft.com/office/drawing/2014/main" val="3318634240"/>
                    </a:ext>
                  </a:extLst>
                </a:gridCol>
                <a:gridCol w="2288339">
                  <a:extLst>
                    <a:ext uri="{9D8B030D-6E8A-4147-A177-3AD203B41FA5}">
                      <a16:colId xmlns:a16="http://schemas.microsoft.com/office/drawing/2014/main" val="4275961936"/>
                    </a:ext>
                  </a:extLst>
                </a:gridCol>
              </a:tblGrid>
              <a:tr h="623899">
                <a:tc>
                  <a:txBody>
                    <a:bodyPr/>
                    <a:lstStyle/>
                    <a:p>
                      <a:pPr algn="ctr"/>
                      <a:r>
                        <a:rPr lang="en-US" sz="2800"/>
                        <a:t>Metric</a:t>
                      </a:r>
                      <a:endParaRPr lang="en-AE" sz="2800"/>
                    </a:p>
                  </a:txBody>
                  <a:tcPr marL="141795" marR="141795" marT="70898" marB="70898" anchor="ctr"/>
                </a:tc>
                <a:tc>
                  <a:txBody>
                    <a:bodyPr/>
                    <a:lstStyle/>
                    <a:p>
                      <a:pPr algn="ctr"/>
                      <a:r>
                        <a:rPr lang="en-US" sz="2800" dirty="0"/>
                        <a:t>Value</a:t>
                      </a:r>
                      <a:endParaRPr lang="en-AE" sz="2800" dirty="0"/>
                    </a:p>
                  </a:txBody>
                  <a:tcPr marL="141795" marR="141795" marT="70898" marB="70898" anchor="ctr"/>
                </a:tc>
                <a:extLst>
                  <a:ext uri="{0D108BD9-81ED-4DB2-BD59-A6C34878D82A}">
                    <a16:rowId xmlns:a16="http://schemas.microsoft.com/office/drawing/2014/main" val="928398682"/>
                  </a:ext>
                </a:extLst>
              </a:tr>
              <a:tr h="623899">
                <a:tc>
                  <a:txBody>
                    <a:bodyPr/>
                    <a:lstStyle/>
                    <a:p>
                      <a:pPr algn="ctr"/>
                      <a:r>
                        <a:rPr lang="en-US" sz="2800"/>
                        <a:t>F1 Score</a:t>
                      </a:r>
                      <a:endParaRPr lang="en-AE" sz="280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0.9361</a:t>
                      </a:r>
                      <a:endParaRPr lang="en-AE" sz="2800"/>
                    </a:p>
                  </a:txBody>
                  <a:tcPr marL="141795" marR="141795" marT="70898" marB="70898" anchor="ctr"/>
                </a:tc>
                <a:extLst>
                  <a:ext uri="{0D108BD9-81ED-4DB2-BD59-A6C34878D82A}">
                    <a16:rowId xmlns:a16="http://schemas.microsoft.com/office/drawing/2014/main" val="575633320"/>
                  </a:ext>
                </a:extLst>
              </a:tr>
              <a:tr h="623899">
                <a:tc>
                  <a:txBody>
                    <a:bodyPr/>
                    <a:lstStyle/>
                    <a:p>
                      <a:pPr algn="ctr"/>
                      <a:r>
                        <a:rPr lang="en-US" sz="2800" dirty="0"/>
                        <a:t>Precision</a:t>
                      </a:r>
                      <a:endParaRPr lang="en-AE" sz="2800" dirty="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0.9436</a:t>
                      </a:r>
                      <a:endParaRPr lang="en-AE" sz="2800" dirty="0"/>
                    </a:p>
                  </a:txBody>
                  <a:tcPr marL="141795" marR="141795" marT="70898" marB="70898" anchor="ctr"/>
                </a:tc>
                <a:extLst>
                  <a:ext uri="{0D108BD9-81ED-4DB2-BD59-A6C34878D82A}">
                    <a16:rowId xmlns:a16="http://schemas.microsoft.com/office/drawing/2014/main" val="1363281889"/>
                  </a:ext>
                </a:extLst>
              </a:tr>
              <a:tr h="623899">
                <a:tc>
                  <a:txBody>
                    <a:bodyPr/>
                    <a:lstStyle/>
                    <a:p>
                      <a:pPr algn="ctr"/>
                      <a:r>
                        <a:rPr lang="en-US" sz="2800"/>
                        <a:t>Recall</a:t>
                      </a:r>
                      <a:endParaRPr lang="en-AE" sz="280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0.9287</a:t>
                      </a:r>
                      <a:endParaRPr lang="en-AE" sz="2800"/>
                    </a:p>
                  </a:txBody>
                  <a:tcPr marL="141795" marR="141795" marT="70898" marB="70898" anchor="ctr"/>
                </a:tc>
                <a:extLst>
                  <a:ext uri="{0D108BD9-81ED-4DB2-BD59-A6C34878D82A}">
                    <a16:rowId xmlns:a16="http://schemas.microsoft.com/office/drawing/2014/main" val="3110520177"/>
                  </a:ext>
                </a:extLst>
              </a:tr>
              <a:tr h="623899">
                <a:tc>
                  <a:txBody>
                    <a:bodyPr/>
                    <a:lstStyle/>
                    <a:p>
                      <a:pPr algn="ctr"/>
                      <a:r>
                        <a:rPr lang="en-US" sz="2800" dirty="0"/>
                        <a:t>Overall Accuracy</a:t>
                      </a:r>
                      <a:endParaRPr lang="en-AE" sz="2800" dirty="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a:t>0.9942</a:t>
                      </a:r>
                      <a:endParaRPr lang="en-AE" sz="2800"/>
                    </a:p>
                  </a:txBody>
                  <a:tcPr marL="141795" marR="141795" marT="70898" marB="70898" anchor="ctr"/>
                </a:tc>
                <a:extLst>
                  <a:ext uri="{0D108BD9-81ED-4DB2-BD59-A6C34878D82A}">
                    <a16:rowId xmlns:a16="http://schemas.microsoft.com/office/drawing/2014/main" val="432830027"/>
                  </a:ext>
                </a:extLst>
              </a:tr>
              <a:tr h="1049285">
                <a:tc>
                  <a:txBody>
                    <a:bodyPr/>
                    <a:lstStyle/>
                    <a:p>
                      <a:pPr algn="ctr"/>
                      <a:r>
                        <a:rPr lang="en-US" sz="2800" dirty="0"/>
                        <a:t>Intersection over Union (</a:t>
                      </a:r>
                      <a:r>
                        <a:rPr lang="en-US" sz="2800" dirty="0" err="1"/>
                        <a:t>IoU</a:t>
                      </a:r>
                      <a:r>
                        <a:rPr lang="en-US" sz="2800" dirty="0"/>
                        <a:t>)</a:t>
                      </a:r>
                      <a:endParaRPr lang="en-AE" sz="2800" dirty="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0.8799</a:t>
                      </a:r>
                      <a:endParaRPr lang="en-AE" sz="2800" dirty="0"/>
                    </a:p>
                  </a:txBody>
                  <a:tcPr marL="141795" marR="141795" marT="70898" marB="70898" anchor="ctr"/>
                </a:tc>
                <a:extLst>
                  <a:ext uri="{0D108BD9-81ED-4DB2-BD59-A6C34878D82A}">
                    <a16:rowId xmlns:a16="http://schemas.microsoft.com/office/drawing/2014/main" val="1282786438"/>
                  </a:ext>
                </a:extLst>
              </a:tr>
              <a:tr h="623899">
                <a:tc>
                  <a:txBody>
                    <a:bodyPr/>
                    <a:lstStyle/>
                    <a:p>
                      <a:pPr algn="ctr"/>
                      <a:r>
                        <a:rPr lang="en-US" sz="2800" dirty="0"/>
                        <a:t>Kappa</a:t>
                      </a:r>
                      <a:endParaRPr lang="en-AE" sz="2800" dirty="0"/>
                    </a:p>
                  </a:txBody>
                  <a:tcPr marL="141795" marR="141795" marT="70898" marB="7089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dirty="0"/>
                        <a:t>0.9331</a:t>
                      </a:r>
                      <a:endParaRPr lang="en-AE" sz="2800" dirty="0"/>
                    </a:p>
                  </a:txBody>
                  <a:tcPr marL="141795" marR="141795" marT="70898" marB="70898" anchor="ctr"/>
                </a:tc>
                <a:extLst>
                  <a:ext uri="{0D108BD9-81ED-4DB2-BD59-A6C34878D82A}">
                    <a16:rowId xmlns:a16="http://schemas.microsoft.com/office/drawing/2014/main" val="1867737306"/>
                  </a:ext>
                </a:extLst>
              </a:tr>
            </a:tbl>
          </a:graphicData>
        </a:graphic>
      </p:graphicFrame>
      <p:sp>
        <p:nvSpPr>
          <p:cNvPr id="4" name="TextBox 3">
            <a:extLst>
              <a:ext uri="{FF2B5EF4-FFF2-40B4-BE49-F238E27FC236}">
                <a16:creationId xmlns:a16="http://schemas.microsoft.com/office/drawing/2014/main" id="{2D3A07F1-4F38-78F4-DE63-CBA1EEB24F5A}"/>
              </a:ext>
            </a:extLst>
          </p:cNvPr>
          <p:cNvSpPr txBox="1"/>
          <p:nvPr/>
        </p:nvSpPr>
        <p:spPr>
          <a:xfrm>
            <a:off x="0" y="0"/>
            <a:ext cx="756938" cy="369332"/>
          </a:xfrm>
          <a:prstGeom prst="rect">
            <a:avLst/>
          </a:prstGeom>
          <a:noFill/>
        </p:spPr>
        <p:txBody>
          <a:bodyPr wrap="none" rtlCol="0">
            <a:spAutoFit/>
          </a:bodyPr>
          <a:lstStyle/>
          <a:p>
            <a:r>
              <a:rPr lang="en-US" dirty="0"/>
              <a:t>25/47</a:t>
            </a:r>
            <a:endParaRPr lang="en-AE" dirty="0"/>
          </a:p>
        </p:txBody>
      </p:sp>
    </p:spTree>
    <p:extLst>
      <p:ext uri="{BB962C8B-B14F-4D97-AF65-F5344CB8AC3E}">
        <p14:creationId xmlns:p14="http://schemas.microsoft.com/office/powerpoint/2010/main" val="2610996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58A18-3172-D721-FDFE-53D37C0145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B9795-B305-9E78-D5C3-466B0B4B28DF}"/>
              </a:ext>
            </a:extLst>
          </p:cNvPr>
          <p:cNvSpPr>
            <a:spLocks noGrp="1"/>
          </p:cNvSpPr>
          <p:nvPr>
            <p:ph type="title"/>
          </p:nvPr>
        </p:nvSpPr>
        <p:spPr/>
        <p:txBody>
          <a:bodyPr/>
          <a:lstStyle/>
          <a:p>
            <a:pPr algn="ctr"/>
            <a:r>
              <a:rPr lang="en-US" dirty="0"/>
              <a:t>Dubai Satellite Model Inference</a:t>
            </a:r>
            <a:endParaRPr lang="en-AE" dirty="0"/>
          </a:p>
        </p:txBody>
      </p:sp>
      <p:pic>
        <p:nvPicPr>
          <p:cNvPr id="13" name="Picture 12">
            <a:extLst>
              <a:ext uri="{FF2B5EF4-FFF2-40B4-BE49-F238E27FC236}">
                <a16:creationId xmlns:a16="http://schemas.microsoft.com/office/drawing/2014/main" id="{5B1C8EDE-3A1E-401B-8C91-BCEA822478D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096000" y="1682264"/>
            <a:ext cx="4729995" cy="3711707"/>
          </a:xfrm>
          <a:prstGeom prst="rect">
            <a:avLst/>
          </a:prstGeom>
        </p:spPr>
      </p:pic>
      <p:sp>
        <p:nvSpPr>
          <p:cNvPr id="14" name="TextBox 13">
            <a:extLst>
              <a:ext uri="{FF2B5EF4-FFF2-40B4-BE49-F238E27FC236}">
                <a16:creationId xmlns:a16="http://schemas.microsoft.com/office/drawing/2014/main" id="{48E50FB8-7C16-EEAC-8E32-F4C3297478FB}"/>
              </a:ext>
            </a:extLst>
          </p:cNvPr>
          <p:cNvSpPr txBox="1"/>
          <p:nvPr/>
        </p:nvSpPr>
        <p:spPr>
          <a:xfrm>
            <a:off x="0" y="5534561"/>
            <a:ext cx="11559485" cy="1077218"/>
          </a:xfrm>
          <a:prstGeom prst="rect">
            <a:avLst/>
          </a:prstGeom>
          <a:noFill/>
        </p:spPr>
        <p:txBody>
          <a:bodyPr wrap="square" rtlCol="0">
            <a:spAutoFit/>
          </a:bodyPr>
          <a:lstStyle/>
          <a:p>
            <a:pPr marL="285750" indent="-285750" algn="just">
              <a:buFont typeface="Arial" panose="020B0604020202020204" pitchFamily="34" charset="0"/>
              <a:buChar char="•"/>
            </a:pPr>
            <a:r>
              <a:rPr lang="en-US" sz="1600" dirty="0"/>
              <a:t>The Fully-Supervised Model is trained on Western-style residential areas with pitched, dark roofs surrounded by green vegetation. Dubai’s urban topology consists of highly reflective flat roofs, dense high-rises with significant shadow casting, and a background of sand and arid surfaces. Thus, the model shows weaker performance on arid regions with sand like the UAE.</a:t>
            </a:r>
          </a:p>
          <a:p>
            <a:pPr marL="285750" indent="-285750" algn="just">
              <a:buFont typeface="Arial" panose="020B0604020202020204" pitchFamily="34" charset="0"/>
              <a:buChar char="•"/>
            </a:pPr>
            <a:r>
              <a:rPr lang="en-US" sz="1600" dirty="0"/>
              <a:t>Motivation for Semi-Supervised Fine-Tuning of the Model on our Dubai satellite data.</a:t>
            </a:r>
            <a:endParaRPr lang="en-AE" sz="1600" dirty="0"/>
          </a:p>
        </p:txBody>
      </p:sp>
      <p:pic>
        <p:nvPicPr>
          <p:cNvPr id="4" name="Picture 3">
            <a:extLst>
              <a:ext uri="{FF2B5EF4-FFF2-40B4-BE49-F238E27FC236}">
                <a16:creationId xmlns:a16="http://schemas.microsoft.com/office/drawing/2014/main" id="{26C693FC-349F-3EFA-B613-B68368EAD8DA}"/>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96034" y="1690688"/>
            <a:ext cx="4848130" cy="3711707"/>
          </a:xfrm>
          <a:prstGeom prst="rect">
            <a:avLst/>
          </a:prstGeom>
        </p:spPr>
      </p:pic>
      <p:sp>
        <p:nvSpPr>
          <p:cNvPr id="3" name="TextBox 2">
            <a:extLst>
              <a:ext uri="{FF2B5EF4-FFF2-40B4-BE49-F238E27FC236}">
                <a16:creationId xmlns:a16="http://schemas.microsoft.com/office/drawing/2014/main" id="{8851E254-E2E9-4101-7EB6-86498543CEB5}"/>
              </a:ext>
            </a:extLst>
          </p:cNvPr>
          <p:cNvSpPr txBox="1"/>
          <p:nvPr/>
        </p:nvSpPr>
        <p:spPr>
          <a:xfrm>
            <a:off x="0" y="0"/>
            <a:ext cx="756938" cy="369332"/>
          </a:xfrm>
          <a:prstGeom prst="rect">
            <a:avLst/>
          </a:prstGeom>
          <a:noFill/>
        </p:spPr>
        <p:txBody>
          <a:bodyPr wrap="none" rtlCol="0">
            <a:spAutoFit/>
          </a:bodyPr>
          <a:lstStyle/>
          <a:p>
            <a:r>
              <a:rPr lang="en-US" dirty="0"/>
              <a:t>26/47</a:t>
            </a:r>
            <a:endParaRPr lang="en-AE" dirty="0"/>
          </a:p>
        </p:txBody>
      </p:sp>
    </p:spTree>
    <p:extLst>
      <p:ext uri="{BB962C8B-B14F-4D97-AF65-F5344CB8AC3E}">
        <p14:creationId xmlns:p14="http://schemas.microsoft.com/office/powerpoint/2010/main" val="2060884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753101-2174-1085-1BEB-61B656868EF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27618" y="1411552"/>
            <a:ext cx="4691740" cy="4034896"/>
          </a:xfrm>
          <a:prstGeom prst="rect">
            <a:avLst/>
          </a:prstGeom>
        </p:spPr>
      </p:pic>
      <p:pic>
        <p:nvPicPr>
          <p:cNvPr id="3" name="Picture 2">
            <a:extLst>
              <a:ext uri="{FF2B5EF4-FFF2-40B4-BE49-F238E27FC236}">
                <a16:creationId xmlns:a16="http://schemas.microsoft.com/office/drawing/2014/main" id="{9A95031A-C239-DEFF-B34F-9302A5D8307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56938" y="1411552"/>
            <a:ext cx="5291667" cy="4034896"/>
          </a:xfrm>
          <a:prstGeom prst="rect">
            <a:avLst/>
          </a:prstGeom>
        </p:spPr>
      </p:pic>
      <p:sp>
        <p:nvSpPr>
          <p:cNvPr id="2" name="TextBox 1">
            <a:extLst>
              <a:ext uri="{FF2B5EF4-FFF2-40B4-BE49-F238E27FC236}">
                <a16:creationId xmlns:a16="http://schemas.microsoft.com/office/drawing/2014/main" id="{39E097BC-3FE8-7DCC-774E-96C73742FAD2}"/>
              </a:ext>
            </a:extLst>
          </p:cNvPr>
          <p:cNvSpPr txBox="1"/>
          <p:nvPr/>
        </p:nvSpPr>
        <p:spPr>
          <a:xfrm>
            <a:off x="0" y="0"/>
            <a:ext cx="756938" cy="369332"/>
          </a:xfrm>
          <a:prstGeom prst="rect">
            <a:avLst/>
          </a:prstGeom>
          <a:noFill/>
        </p:spPr>
        <p:txBody>
          <a:bodyPr wrap="none" rtlCol="0">
            <a:spAutoFit/>
          </a:bodyPr>
          <a:lstStyle/>
          <a:p>
            <a:r>
              <a:rPr lang="en-US" dirty="0"/>
              <a:t>27/47</a:t>
            </a:r>
            <a:endParaRPr lang="en-AE" dirty="0"/>
          </a:p>
        </p:txBody>
      </p:sp>
    </p:spTree>
    <p:extLst>
      <p:ext uri="{BB962C8B-B14F-4D97-AF65-F5344CB8AC3E}">
        <p14:creationId xmlns:p14="http://schemas.microsoft.com/office/powerpoint/2010/main" val="540996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97DBB7-BC38-290A-50B5-9376AE123329}"/>
              </a:ext>
            </a:extLst>
          </p:cNvPr>
          <p:cNvSpPr>
            <a:spLocks noGrp="1"/>
          </p:cNvSpPr>
          <p:nvPr>
            <p:ph type="title"/>
          </p:nvPr>
        </p:nvSpPr>
        <p:spPr>
          <a:xfrm>
            <a:off x="761800" y="762001"/>
            <a:ext cx="5334197" cy="1708242"/>
          </a:xfrm>
        </p:spPr>
        <p:txBody>
          <a:bodyPr anchor="ctr">
            <a:normAutofit/>
          </a:bodyPr>
          <a:lstStyle/>
          <a:p>
            <a:r>
              <a:rPr lang="en-US" sz="4000" dirty="0"/>
              <a:t>Ground-Truth Manual Annotation Strategy</a:t>
            </a:r>
            <a:endParaRPr lang="en-AE" sz="4000" dirty="0"/>
          </a:p>
        </p:txBody>
      </p:sp>
      <p:sp>
        <p:nvSpPr>
          <p:cNvPr id="22" name="Content Placeholder 2">
            <a:extLst>
              <a:ext uri="{FF2B5EF4-FFF2-40B4-BE49-F238E27FC236}">
                <a16:creationId xmlns:a16="http://schemas.microsoft.com/office/drawing/2014/main" id="{6DE0AB7C-46C2-98F4-7FE9-1DA2FDE32207}"/>
              </a:ext>
            </a:extLst>
          </p:cNvPr>
          <p:cNvSpPr>
            <a:spLocks noGrp="1"/>
          </p:cNvSpPr>
          <p:nvPr>
            <p:ph idx="1"/>
          </p:nvPr>
        </p:nvSpPr>
        <p:spPr>
          <a:xfrm>
            <a:off x="761800" y="2470244"/>
            <a:ext cx="5689800" cy="4111309"/>
          </a:xfrm>
        </p:spPr>
        <p:txBody>
          <a:bodyPr anchor="ctr">
            <a:normAutofit lnSpcReduction="10000"/>
          </a:bodyPr>
          <a:lstStyle/>
          <a:p>
            <a:pPr marL="514350" indent="-514350">
              <a:buFont typeface="+mj-lt"/>
              <a:buAutoNum type="arabicPeriod"/>
            </a:pPr>
            <a:r>
              <a:rPr lang="en-US" sz="1700" dirty="0"/>
              <a:t>We select and mask tiles from diverse areas across the images.</a:t>
            </a:r>
          </a:p>
          <a:p>
            <a:pPr marL="514350" indent="-514350">
              <a:buFont typeface="+mj-lt"/>
              <a:buAutoNum type="arabicPeriod"/>
            </a:pPr>
            <a:r>
              <a:rPr lang="en-US" sz="1700" dirty="0"/>
              <a:t>Train the baseline Siamese network on this supervised set.</a:t>
            </a:r>
          </a:p>
          <a:p>
            <a:pPr marL="514350" indent="-514350">
              <a:buFont typeface="+mj-lt"/>
              <a:buAutoNum type="arabicPeriod"/>
            </a:pPr>
            <a:r>
              <a:rPr lang="en-US" sz="1700" dirty="0"/>
              <a:t>Run the trained baseline over the remaining unlabeled tiles. </a:t>
            </a:r>
          </a:p>
          <a:p>
            <a:pPr marL="514350" indent="-514350">
              <a:buFont typeface="+mj-lt"/>
              <a:buAutoNum type="arabicPeriod"/>
            </a:pPr>
            <a:r>
              <a:rPr lang="en-US" sz="1700" dirty="0"/>
              <a:t>Look at the predictions where the network produces incorrect masks. </a:t>
            </a:r>
          </a:p>
          <a:p>
            <a:pPr marL="514350" indent="-514350">
              <a:buFont typeface="+mj-lt"/>
              <a:buAutoNum type="arabicPeriod"/>
            </a:pPr>
            <a:r>
              <a:rPr lang="en-US" sz="1700" dirty="0"/>
              <a:t>Manually label some of these challenging tiles (semi-supervised active learning). </a:t>
            </a:r>
          </a:p>
          <a:p>
            <a:pPr marL="514350" indent="-514350">
              <a:buFont typeface="+mj-lt"/>
              <a:buAutoNum type="arabicPeriod"/>
            </a:pPr>
            <a:r>
              <a:rPr lang="en-US" sz="1700" dirty="0"/>
              <a:t>Start a new round of training using the expanded dataset.</a:t>
            </a:r>
          </a:p>
          <a:p>
            <a:pPr marL="514350" indent="-514350">
              <a:buFont typeface="+mj-lt"/>
              <a:buAutoNum type="arabicPeriod"/>
            </a:pPr>
            <a:r>
              <a:rPr lang="en-US" sz="1700" dirty="0"/>
              <a:t>This ensures that we are teaching the model the complex features it struggles with, rather than redundant, easy examples.</a:t>
            </a:r>
            <a:endParaRPr lang="en-AE" sz="1700" dirty="0"/>
          </a:p>
        </p:txBody>
      </p:sp>
      <p:pic>
        <p:nvPicPr>
          <p:cNvPr id="5" name="Picture 4" descr="Aerial shot of clay-colored tennis court">
            <a:extLst>
              <a:ext uri="{FF2B5EF4-FFF2-40B4-BE49-F238E27FC236}">
                <a16:creationId xmlns:a16="http://schemas.microsoft.com/office/drawing/2014/main" id="{5D81DF74-2C44-3992-DB46-84128F86B53B}"/>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3" name="TextBox 2">
            <a:extLst>
              <a:ext uri="{FF2B5EF4-FFF2-40B4-BE49-F238E27FC236}">
                <a16:creationId xmlns:a16="http://schemas.microsoft.com/office/drawing/2014/main" id="{4862D18D-BDD0-918F-F7B7-88D1B2D6062B}"/>
              </a:ext>
            </a:extLst>
          </p:cNvPr>
          <p:cNvSpPr txBox="1"/>
          <p:nvPr/>
        </p:nvSpPr>
        <p:spPr>
          <a:xfrm>
            <a:off x="0" y="0"/>
            <a:ext cx="756938" cy="369332"/>
          </a:xfrm>
          <a:prstGeom prst="rect">
            <a:avLst/>
          </a:prstGeom>
          <a:noFill/>
        </p:spPr>
        <p:txBody>
          <a:bodyPr wrap="none" rtlCol="0">
            <a:spAutoFit/>
          </a:bodyPr>
          <a:lstStyle/>
          <a:p>
            <a:r>
              <a:rPr lang="en-US" dirty="0"/>
              <a:t>28/47</a:t>
            </a:r>
            <a:endParaRPr lang="en-AE" dirty="0"/>
          </a:p>
        </p:txBody>
      </p:sp>
    </p:spTree>
    <p:extLst>
      <p:ext uri="{BB962C8B-B14F-4D97-AF65-F5344CB8AC3E}">
        <p14:creationId xmlns:p14="http://schemas.microsoft.com/office/powerpoint/2010/main" val="2947287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E59DC-5EE8-3AA5-B0AE-A0DF5C6C17D4}"/>
              </a:ext>
            </a:extLst>
          </p:cNvPr>
          <p:cNvSpPr>
            <a:spLocks noGrp="1"/>
          </p:cNvSpPr>
          <p:nvPr>
            <p:ph type="title"/>
          </p:nvPr>
        </p:nvSpPr>
        <p:spPr/>
        <p:txBody>
          <a:bodyPr/>
          <a:lstStyle/>
          <a:p>
            <a:pPr algn="ctr"/>
            <a:r>
              <a:rPr lang="en-US" dirty="0"/>
              <a:t>Ground-Truth Manual Annotation</a:t>
            </a:r>
            <a:endParaRPr lang="en-AE" dirty="0"/>
          </a:p>
        </p:txBody>
      </p:sp>
      <p:pic>
        <p:nvPicPr>
          <p:cNvPr id="7" name="Picture 6">
            <a:extLst>
              <a:ext uri="{FF2B5EF4-FFF2-40B4-BE49-F238E27FC236}">
                <a16:creationId xmlns:a16="http://schemas.microsoft.com/office/drawing/2014/main" id="{012F314F-D8B4-CCA2-B274-37EDB84490DF}"/>
              </a:ext>
            </a:extLst>
          </p:cNvPr>
          <p:cNvPicPr>
            <a:picLocks noChangeAspect="1"/>
          </p:cNvPicPr>
          <p:nvPr/>
        </p:nvPicPr>
        <p:blipFill>
          <a:blip r:embed="rId3"/>
          <a:stretch>
            <a:fillRect/>
          </a:stretch>
        </p:blipFill>
        <p:spPr>
          <a:xfrm>
            <a:off x="838200" y="2095500"/>
            <a:ext cx="3468153" cy="3522662"/>
          </a:xfrm>
          <a:prstGeom prst="rect">
            <a:avLst/>
          </a:prstGeom>
        </p:spPr>
      </p:pic>
      <p:sp>
        <p:nvSpPr>
          <p:cNvPr id="8" name="TextBox 7">
            <a:extLst>
              <a:ext uri="{FF2B5EF4-FFF2-40B4-BE49-F238E27FC236}">
                <a16:creationId xmlns:a16="http://schemas.microsoft.com/office/drawing/2014/main" id="{D60B96F4-C328-2F26-F1AA-1F2F660BDA4F}"/>
              </a:ext>
            </a:extLst>
          </p:cNvPr>
          <p:cNvSpPr txBox="1"/>
          <p:nvPr/>
        </p:nvSpPr>
        <p:spPr>
          <a:xfrm>
            <a:off x="1560909" y="1708428"/>
            <a:ext cx="2022733" cy="369332"/>
          </a:xfrm>
          <a:prstGeom prst="rect">
            <a:avLst/>
          </a:prstGeom>
          <a:noFill/>
        </p:spPr>
        <p:txBody>
          <a:bodyPr wrap="none" rtlCol="0">
            <a:spAutoFit/>
          </a:bodyPr>
          <a:lstStyle/>
          <a:p>
            <a:r>
              <a:rPr lang="en-US" dirty="0"/>
              <a:t>Original Prediction</a:t>
            </a:r>
            <a:endParaRPr lang="en-AE" dirty="0"/>
          </a:p>
        </p:txBody>
      </p:sp>
      <p:sp>
        <p:nvSpPr>
          <p:cNvPr id="9" name="Arrow: Right 8">
            <a:extLst>
              <a:ext uri="{FF2B5EF4-FFF2-40B4-BE49-F238E27FC236}">
                <a16:creationId xmlns:a16="http://schemas.microsoft.com/office/drawing/2014/main" id="{6825CFD6-F390-47BD-F55D-62343EB5AD71}"/>
              </a:ext>
            </a:extLst>
          </p:cNvPr>
          <p:cNvSpPr/>
          <p:nvPr/>
        </p:nvSpPr>
        <p:spPr>
          <a:xfrm>
            <a:off x="4533900" y="3003550"/>
            <a:ext cx="2387600" cy="154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0" name="TextBox 9">
            <a:extLst>
              <a:ext uri="{FF2B5EF4-FFF2-40B4-BE49-F238E27FC236}">
                <a16:creationId xmlns:a16="http://schemas.microsoft.com/office/drawing/2014/main" id="{96827471-E621-F864-5F0D-DFC9D68798E5}"/>
              </a:ext>
            </a:extLst>
          </p:cNvPr>
          <p:cNvSpPr txBox="1"/>
          <p:nvPr/>
        </p:nvSpPr>
        <p:spPr>
          <a:xfrm>
            <a:off x="8126809" y="1726168"/>
            <a:ext cx="2070054" cy="369332"/>
          </a:xfrm>
          <a:prstGeom prst="rect">
            <a:avLst/>
          </a:prstGeom>
          <a:noFill/>
        </p:spPr>
        <p:txBody>
          <a:bodyPr wrap="none" rtlCol="0">
            <a:spAutoFit/>
          </a:bodyPr>
          <a:lstStyle/>
          <a:p>
            <a:r>
              <a:rPr lang="en-US" dirty="0"/>
              <a:t>Manual Annotation</a:t>
            </a:r>
            <a:endParaRPr lang="en-AE" dirty="0"/>
          </a:p>
        </p:txBody>
      </p:sp>
      <p:pic>
        <p:nvPicPr>
          <p:cNvPr id="12" name="Picture 11">
            <a:extLst>
              <a:ext uri="{FF2B5EF4-FFF2-40B4-BE49-F238E27FC236}">
                <a16:creationId xmlns:a16="http://schemas.microsoft.com/office/drawing/2014/main" id="{AD7E0B75-1374-0815-24E5-5A1EC13B79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69697" y="2077760"/>
            <a:ext cx="3537246" cy="3542726"/>
          </a:xfrm>
          <a:prstGeom prst="rect">
            <a:avLst/>
          </a:prstGeom>
        </p:spPr>
      </p:pic>
      <p:sp>
        <p:nvSpPr>
          <p:cNvPr id="3" name="TextBox 2">
            <a:extLst>
              <a:ext uri="{FF2B5EF4-FFF2-40B4-BE49-F238E27FC236}">
                <a16:creationId xmlns:a16="http://schemas.microsoft.com/office/drawing/2014/main" id="{9A5B3591-0893-585E-EF9C-88EC8BF5605A}"/>
              </a:ext>
            </a:extLst>
          </p:cNvPr>
          <p:cNvSpPr txBox="1"/>
          <p:nvPr/>
        </p:nvSpPr>
        <p:spPr>
          <a:xfrm>
            <a:off x="0" y="0"/>
            <a:ext cx="756938" cy="369332"/>
          </a:xfrm>
          <a:prstGeom prst="rect">
            <a:avLst/>
          </a:prstGeom>
          <a:noFill/>
        </p:spPr>
        <p:txBody>
          <a:bodyPr wrap="none" rtlCol="0">
            <a:spAutoFit/>
          </a:bodyPr>
          <a:lstStyle/>
          <a:p>
            <a:r>
              <a:rPr lang="en-US" dirty="0"/>
              <a:t>29/47</a:t>
            </a:r>
            <a:endParaRPr lang="en-AE" dirty="0"/>
          </a:p>
        </p:txBody>
      </p:sp>
    </p:spTree>
    <p:extLst>
      <p:ext uri="{BB962C8B-B14F-4D97-AF65-F5344CB8AC3E}">
        <p14:creationId xmlns:p14="http://schemas.microsoft.com/office/powerpoint/2010/main" val="314190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E0363D-D7B4-7715-5C96-FA461FDB96BE}"/>
              </a:ext>
            </a:extLst>
          </p:cNvPr>
          <p:cNvSpPr>
            <a:spLocks noGrp="1"/>
          </p:cNvSpPr>
          <p:nvPr>
            <p:ph type="title"/>
          </p:nvPr>
        </p:nvSpPr>
        <p:spPr>
          <a:xfrm>
            <a:off x="793662" y="386930"/>
            <a:ext cx="10066122" cy="1298448"/>
          </a:xfrm>
        </p:spPr>
        <p:txBody>
          <a:bodyPr anchor="b">
            <a:normAutofit/>
          </a:bodyPr>
          <a:lstStyle/>
          <a:p>
            <a:r>
              <a:rPr lang="en-US" sz="4800" dirty="0"/>
              <a:t>Ground-Truth Manual Annotation</a:t>
            </a:r>
            <a:endParaRPr lang="en-AE" sz="4800" dirty="0"/>
          </a:p>
        </p:txBody>
      </p:sp>
      <p:sp>
        <p:nvSpPr>
          <p:cNvPr id="17" name="Rectangle 1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B19F6A4-CA4D-C160-F9EC-F0A7D00A9E10}"/>
              </a:ext>
            </a:extLst>
          </p:cNvPr>
          <p:cNvSpPr>
            <a:spLocks noGrp="1"/>
          </p:cNvSpPr>
          <p:nvPr>
            <p:ph idx="1"/>
          </p:nvPr>
        </p:nvSpPr>
        <p:spPr>
          <a:xfrm>
            <a:off x="17019" y="2599509"/>
            <a:ext cx="4445000" cy="3639450"/>
          </a:xfrm>
        </p:spPr>
        <p:txBody>
          <a:bodyPr anchor="ctr">
            <a:normAutofit/>
          </a:bodyPr>
          <a:lstStyle/>
          <a:p>
            <a:r>
              <a:rPr lang="en-AE" dirty="0"/>
              <a:t>306</a:t>
            </a:r>
            <a:r>
              <a:rPr lang="en-US" dirty="0"/>
              <a:t> labelled tiles (</a:t>
            </a:r>
            <a:r>
              <a:rPr lang="en-AE" dirty="0"/>
              <a:t>~45% of the total data)</a:t>
            </a:r>
            <a:r>
              <a:rPr lang="en-US" dirty="0"/>
              <a:t>.</a:t>
            </a:r>
          </a:p>
          <a:p>
            <a:r>
              <a:rPr lang="en-US" dirty="0"/>
              <a:t>226 unchanged tiles (~74%).</a:t>
            </a:r>
          </a:p>
          <a:p>
            <a:r>
              <a:rPr lang="en-US" dirty="0"/>
              <a:t>80 changed tiles (~26%).</a:t>
            </a:r>
            <a:endParaRPr lang="en-AE" dirty="0"/>
          </a:p>
          <a:p>
            <a:endParaRPr lang="en-AE" dirty="0"/>
          </a:p>
        </p:txBody>
      </p:sp>
      <p:pic>
        <p:nvPicPr>
          <p:cNvPr id="5" name="Picture 4">
            <a:extLst>
              <a:ext uri="{FF2B5EF4-FFF2-40B4-BE49-F238E27FC236}">
                <a16:creationId xmlns:a16="http://schemas.microsoft.com/office/drawing/2014/main" id="{9620B7D0-7B3B-EBC4-B4EA-2034C35EAC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33250" y="2599509"/>
            <a:ext cx="6700010" cy="313225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4" name="Picture 6">
            <a:extLst>
              <a:ext uri="{FF2B5EF4-FFF2-40B4-BE49-F238E27FC236}">
                <a16:creationId xmlns:a16="http://schemas.microsoft.com/office/drawing/2014/main" id="{81551181-894E-E2A4-4FC9-41104C20F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238" y="3424238"/>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483A70D-4C85-B394-2BCE-9922AC22931D}"/>
              </a:ext>
            </a:extLst>
          </p:cNvPr>
          <p:cNvSpPr txBox="1"/>
          <p:nvPr/>
        </p:nvSpPr>
        <p:spPr>
          <a:xfrm>
            <a:off x="0" y="0"/>
            <a:ext cx="756938" cy="369332"/>
          </a:xfrm>
          <a:prstGeom prst="rect">
            <a:avLst/>
          </a:prstGeom>
          <a:noFill/>
        </p:spPr>
        <p:txBody>
          <a:bodyPr wrap="none" rtlCol="0">
            <a:spAutoFit/>
          </a:bodyPr>
          <a:lstStyle/>
          <a:p>
            <a:r>
              <a:rPr lang="en-US" dirty="0"/>
              <a:t>30/47</a:t>
            </a:r>
            <a:endParaRPr lang="en-AE" dirty="0"/>
          </a:p>
        </p:txBody>
      </p:sp>
    </p:spTree>
    <p:extLst>
      <p:ext uri="{BB962C8B-B14F-4D97-AF65-F5344CB8AC3E}">
        <p14:creationId xmlns:p14="http://schemas.microsoft.com/office/powerpoint/2010/main" val="4002291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99B5B9-40F9-4953-A9A0-3EF068BC4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5C75F1C-FC4D-4122-B1CA-4649CD082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1" y="685800"/>
            <a:ext cx="6804836"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718BBD-6B03-EA9B-42E2-DDE11B3D1634}"/>
              </a:ext>
            </a:extLst>
          </p:cNvPr>
          <p:cNvSpPr>
            <a:spLocks noGrp="1"/>
          </p:cNvSpPr>
          <p:nvPr>
            <p:ph type="title"/>
          </p:nvPr>
        </p:nvSpPr>
        <p:spPr>
          <a:xfrm>
            <a:off x="1116420" y="1095152"/>
            <a:ext cx="5943599" cy="1181884"/>
          </a:xfrm>
        </p:spPr>
        <p:txBody>
          <a:bodyPr anchor="b">
            <a:normAutofit/>
          </a:bodyPr>
          <a:lstStyle/>
          <a:p>
            <a:pPr algn="ctr"/>
            <a:r>
              <a:rPr lang="en-US" sz="3200">
                <a:solidFill>
                  <a:srgbClr val="595959"/>
                </a:solidFill>
              </a:rPr>
              <a:t>Dataset Split Strategy</a:t>
            </a:r>
            <a:endParaRPr lang="en-AE" sz="3200">
              <a:solidFill>
                <a:srgbClr val="595959"/>
              </a:solidFill>
            </a:endParaRPr>
          </a:p>
        </p:txBody>
      </p:sp>
      <p:sp>
        <p:nvSpPr>
          <p:cNvPr id="3" name="Content Placeholder 2">
            <a:extLst>
              <a:ext uri="{FF2B5EF4-FFF2-40B4-BE49-F238E27FC236}">
                <a16:creationId xmlns:a16="http://schemas.microsoft.com/office/drawing/2014/main" id="{E9B77705-9C62-8A9B-FCE4-91A6CB6548BE}"/>
              </a:ext>
            </a:extLst>
          </p:cNvPr>
          <p:cNvSpPr>
            <a:spLocks noGrp="1"/>
          </p:cNvSpPr>
          <p:nvPr>
            <p:ph idx="1"/>
          </p:nvPr>
        </p:nvSpPr>
        <p:spPr>
          <a:xfrm>
            <a:off x="1116420" y="2563907"/>
            <a:ext cx="5943599" cy="3092614"/>
          </a:xfrm>
        </p:spPr>
        <p:txBody>
          <a:bodyPr anchor="t">
            <a:normAutofit/>
          </a:bodyPr>
          <a:lstStyle/>
          <a:p>
            <a:r>
              <a:rPr lang="en-US" sz="2400" dirty="0">
                <a:solidFill>
                  <a:srgbClr val="595959"/>
                </a:solidFill>
              </a:rPr>
              <a:t>Approximately 1/4</a:t>
            </a:r>
            <a:r>
              <a:rPr lang="en-US" sz="2400" baseline="30000" dirty="0">
                <a:solidFill>
                  <a:srgbClr val="595959"/>
                </a:solidFill>
              </a:rPr>
              <a:t>th</a:t>
            </a:r>
            <a:r>
              <a:rPr lang="en-US" sz="2400" dirty="0">
                <a:solidFill>
                  <a:srgbClr val="595959"/>
                </a:solidFill>
              </a:rPr>
              <a:t> of the satellite image contains changed building.</a:t>
            </a:r>
          </a:p>
          <a:p>
            <a:r>
              <a:rPr lang="en-US" sz="2400" dirty="0">
                <a:solidFill>
                  <a:srgbClr val="595959"/>
                </a:solidFill>
              </a:rPr>
              <a:t>The remaining areas contain unchanged buildings and landscape.</a:t>
            </a:r>
          </a:p>
          <a:p>
            <a:r>
              <a:rPr lang="en-US" sz="2400" b="1" dirty="0">
                <a:solidFill>
                  <a:srgbClr val="595959"/>
                </a:solidFill>
              </a:rPr>
              <a:t>Heuristic:</a:t>
            </a:r>
            <a:r>
              <a:rPr lang="en-US" sz="2400" dirty="0">
                <a:solidFill>
                  <a:srgbClr val="595959"/>
                </a:solidFill>
              </a:rPr>
              <a:t> each dataset split should contain approximately </a:t>
            </a:r>
            <a:r>
              <a:rPr lang="en-US" sz="2400" b="1" dirty="0">
                <a:solidFill>
                  <a:srgbClr val="595959"/>
                </a:solidFill>
              </a:rPr>
              <a:t>25% positive samples</a:t>
            </a:r>
            <a:r>
              <a:rPr lang="en-US" sz="2400" dirty="0">
                <a:solidFill>
                  <a:srgbClr val="595959"/>
                </a:solidFill>
              </a:rPr>
              <a:t> (changed buildings) to be representative of this distribution.</a:t>
            </a:r>
            <a:endParaRPr lang="en-AE" sz="2400" dirty="0">
              <a:solidFill>
                <a:srgbClr val="595959"/>
              </a:solidFill>
            </a:endParaRPr>
          </a:p>
        </p:txBody>
      </p:sp>
      <p:pic>
        <p:nvPicPr>
          <p:cNvPr id="5" name="Picture 4">
            <a:extLst>
              <a:ext uri="{FF2B5EF4-FFF2-40B4-BE49-F238E27FC236}">
                <a16:creationId xmlns:a16="http://schemas.microsoft.com/office/drawing/2014/main" id="{227041C6-C312-5C10-3E9E-CFECB9AD83BD}"/>
              </a:ext>
            </a:extLst>
          </p:cNvPr>
          <p:cNvPicPr>
            <a:picLocks noChangeAspect="1"/>
          </p:cNvPicPr>
          <p:nvPr/>
        </p:nvPicPr>
        <p:blipFill>
          <a:blip r:embed="rId2" cstate="screen">
            <a:extLst>
              <a:ext uri="{28A0092B-C50C-407E-A947-70E740481C1C}">
                <a14:useLocalDpi xmlns:a14="http://schemas.microsoft.com/office/drawing/2010/main"/>
              </a:ext>
            </a:extLst>
          </a:blip>
          <a:srcRect r="-2" b="1409"/>
          <a:stretch>
            <a:fillRect/>
          </a:stretch>
        </p:blipFill>
        <p:spPr>
          <a:xfrm>
            <a:off x="8171120" y="10"/>
            <a:ext cx="4020880" cy="3428990"/>
          </a:xfrm>
          <a:prstGeom prst="rect">
            <a:avLst/>
          </a:prstGeom>
        </p:spPr>
        <p:style>
          <a:lnRef idx="2">
            <a:schemeClr val="dk1"/>
          </a:lnRef>
          <a:fillRef idx="1">
            <a:schemeClr val="lt1"/>
          </a:fillRef>
          <a:effectRef idx="0">
            <a:schemeClr val="dk1"/>
          </a:effectRef>
          <a:fontRef idx="minor">
            <a:schemeClr val="dk1"/>
          </a:fontRef>
        </p:style>
      </p:pic>
      <p:pic>
        <p:nvPicPr>
          <p:cNvPr id="4" name="Picture 3">
            <a:extLst>
              <a:ext uri="{FF2B5EF4-FFF2-40B4-BE49-F238E27FC236}">
                <a16:creationId xmlns:a16="http://schemas.microsoft.com/office/drawing/2014/main" id="{01F2CD25-4F47-673A-6FA1-1528E087DC2B}"/>
              </a:ext>
            </a:extLst>
          </p:cNvPr>
          <p:cNvPicPr>
            <a:picLocks noChangeAspect="1"/>
          </p:cNvPicPr>
          <p:nvPr/>
        </p:nvPicPr>
        <p:blipFill>
          <a:blip r:embed="rId3" cstate="screen">
            <a:extLst>
              <a:ext uri="{28A0092B-C50C-407E-A947-70E740481C1C}">
                <a14:useLocalDpi xmlns:a14="http://schemas.microsoft.com/office/drawing/2010/main"/>
              </a:ext>
            </a:extLst>
          </a:blip>
          <a:srcRect r="-2" b="1409"/>
          <a:stretch>
            <a:fillRect/>
          </a:stretch>
        </p:blipFill>
        <p:spPr>
          <a:xfrm>
            <a:off x="8171120" y="3428998"/>
            <a:ext cx="4020880" cy="3429002"/>
          </a:xfrm>
          <a:prstGeom prst="rect">
            <a:avLst/>
          </a:prstGeom>
        </p:spPr>
        <p:style>
          <a:lnRef idx="2">
            <a:schemeClr val="dk1"/>
          </a:lnRef>
          <a:fillRef idx="1">
            <a:schemeClr val="lt1"/>
          </a:fillRef>
          <a:effectRef idx="0">
            <a:schemeClr val="dk1"/>
          </a:effectRef>
          <a:fontRef idx="minor">
            <a:schemeClr val="dk1"/>
          </a:fontRef>
        </p:style>
      </p:pic>
      <p:sp>
        <p:nvSpPr>
          <p:cNvPr id="6" name="TextBox 5">
            <a:extLst>
              <a:ext uri="{FF2B5EF4-FFF2-40B4-BE49-F238E27FC236}">
                <a16:creationId xmlns:a16="http://schemas.microsoft.com/office/drawing/2014/main" id="{380F674E-FB2B-DA11-0D9D-7014211C10FE}"/>
              </a:ext>
            </a:extLst>
          </p:cNvPr>
          <p:cNvSpPr txBox="1"/>
          <p:nvPr/>
        </p:nvSpPr>
        <p:spPr>
          <a:xfrm>
            <a:off x="0" y="0"/>
            <a:ext cx="756938" cy="369332"/>
          </a:xfrm>
          <a:prstGeom prst="rect">
            <a:avLst/>
          </a:prstGeom>
          <a:noFill/>
        </p:spPr>
        <p:txBody>
          <a:bodyPr wrap="none" rtlCol="0">
            <a:spAutoFit/>
          </a:bodyPr>
          <a:lstStyle/>
          <a:p>
            <a:r>
              <a:rPr lang="en-US" dirty="0"/>
              <a:t>31/47</a:t>
            </a:r>
            <a:endParaRPr lang="en-AE" dirty="0"/>
          </a:p>
        </p:txBody>
      </p:sp>
    </p:spTree>
    <p:extLst>
      <p:ext uri="{BB962C8B-B14F-4D97-AF65-F5344CB8AC3E}">
        <p14:creationId xmlns:p14="http://schemas.microsoft.com/office/powerpoint/2010/main" val="2039634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graphicFrame>
        <p:nvGraphicFramePr>
          <p:cNvPr id="3" name="Table 2">
            <a:extLst>
              <a:ext uri="{FF2B5EF4-FFF2-40B4-BE49-F238E27FC236}">
                <a16:creationId xmlns:a16="http://schemas.microsoft.com/office/drawing/2014/main" id="{490ED573-93CA-2679-4FFA-ECF536BDE93A}"/>
              </a:ext>
            </a:extLst>
          </p:cNvPr>
          <p:cNvGraphicFramePr>
            <a:graphicFrameLocks noGrp="1"/>
          </p:cNvGraphicFramePr>
          <p:nvPr>
            <p:extLst>
              <p:ext uri="{D42A27DB-BD31-4B8C-83A1-F6EECF244321}">
                <p14:modId xmlns:p14="http://schemas.microsoft.com/office/powerpoint/2010/main" val="4179839734"/>
              </p:ext>
            </p:extLst>
          </p:nvPr>
        </p:nvGraphicFramePr>
        <p:xfrm>
          <a:off x="815587" y="1666876"/>
          <a:ext cx="10579100" cy="3543300"/>
        </p:xfrm>
        <a:graphic>
          <a:graphicData uri="http://schemas.openxmlformats.org/drawingml/2006/table">
            <a:tbl>
              <a:tblPr firstRow="1" bandRow="1">
                <a:tableStyleId>{9D7B26C5-4107-4FEC-AEDC-1716B250A1EF}</a:tableStyleId>
              </a:tblPr>
              <a:tblGrid>
                <a:gridCol w="2644775">
                  <a:extLst>
                    <a:ext uri="{9D8B030D-6E8A-4147-A177-3AD203B41FA5}">
                      <a16:colId xmlns:a16="http://schemas.microsoft.com/office/drawing/2014/main" val="2671224302"/>
                    </a:ext>
                  </a:extLst>
                </a:gridCol>
                <a:gridCol w="2644775">
                  <a:extLst>
                    <a:ext uri="{9D8B030D-6E8A-4147-A177-3AD203B41FA5}">
                      <a16:colId xmlns:a16="http://schemas.microsoft.com/office/drawing/2014/main" val="2786333513"/>
                    </a:ext>
                  </a:extLst>
                </a:gridCol>
                <a:gridCol w="2644775">
                  <a:extLst>
                    <a:ext uri="{9D8B030D-6E8A-4147-A177-3AD203B41FA5}">
                      <a16:colId xmlns:a16="http://schemas.microsoft.com/office/drawing/2014/main" val="2135897589"/>
                    </a:ext>
                  </a:extLst>
                </a:gridCol>
                <a:gridCol w="2644775">
                  <a:extLst>
                    <a:ext uri="{9D8B030D-6E8A-4147-A177-3AD203B41FA5}">
                      <a16:colId xmlns:a16="http://schemas.microsoft.com/office/drawing/2014/main" val="1092206777"/>
                    </a:ext>
                  </a:extLst>
                </a:gridCol>
              </a:tblGrid>
              <a:tr h="885825">
                <a:tc>
                  <a:txBody>
                    <a:bodyPr/>
                    <a:lstStyle/>
                    <a:p>
                      <a:pPr algn="ctr">
                        <a:buNone/>
                      </a:pPr>
                      <a:r>
                        <a:rPr lang="en-US" sz="2400" dirty="0"/>
                        <a:t>Split</a:t>
                      </a:r>
                    </a:p>
                  </a:txBody>
                  <a:tcPr marL="92756" marR="92756" marT="46378" marB="46378" anchor="ctr"/>
                </a:tc>
                <a:tc>
                  <a:txBody>
                    <a:bodyPr/>
                    <a:lstStyle/>
                    <a:p>
                      <a:pPr algn="ctr">
                        <a:buNone/>
                      </a:pPr>
                      <a:r>
                        <a:rPr lang="en-US" sz="2400" dirty="0"/>
                        <a:t>Total</a:t>
                      </a:r>
                    </a:p>
                  </a:txBody>
                  <a:tcPr marL="92756" marR="92756" marT="46378" marB="46378" anchor="ctr"/>
                </a:tc>
                <a:tc>
                  <a:txBody>
                    <a:bodyPr/>
                    <a:lstStyle/>
                    <a:p>
                      <a:pPr algn="ctr">
                        <a:buNone/>
                      </a:pPr>
                      <a:r>
                        <a:rPr lang="en-US" sz="2400" dirty="0"/>
                        <a:t>Positive (25%)</a:t>
                      </a:r>
                    </a:p>
                  </a:txBody>
                  <a:tcPr marL="92756" marR="92756" marT="46378" marB="46378" anchor="ctr"/>
                </a:tc>
                <a:tc>
                  <a:txBody>
                    <a:bodyPr/>
                    <a:lstStyle/>
                    <a:p>
                      <a:pPr algn="ctr">
                        <a:buNone/>
                      </a:pPr>
                      <a:r>
                        <a:rPr lang="en-US" sz="2400" dirty="0"/>
                        <a:t>Negative (75%)</a:t>
                      </a:r>
                    </a:p>
                  </a:txBody>
                  <a:tcPr marL="92756" marR="92756" marT="46378" marB="46378" anchor="ctr"/>
                </a:tc>
                <a:extLst>
                  <a:ext uri="{0D108BD9-81ED-4DB2-BD59-A6C34878D82A}">
                    <a16:rowId xmlns:a16="http://schemas.microsoft.com/office/drawing/2014/main" val="1232777652"/>
                  </a:ext>
                </a:extLst>
              </a:tr>
              <a:tr h="885825">
                <a:tc>
                  <a:txBody>
                    <a:bodyPr/>
                    <a:lstStyle/>
                    <a:p>
                      <a:pPr algn="ctr">
                        <a:buNone/>
                      </a:pPr>
                      <a:r>
                        <a:rPr lang="en-US" sz="2400" dirty="0"/>
                        <a:t>Train (~65%)</a:t>
                      </a:r>
                    </a:p>
                  </a:txBody>
                  <a:tcPr marL="92756" marR="92756" marT="46378" marB="46378" anchor="ctr"/>
                </a:tc>
                <a:tc>
                  <a:txBody>
                    <a:bodyPr/>
                    <a:lstStyle/>
                    <a:p>
                      <a:pPr algn="ctr">
                        <a:buNone/>
                      </a:pPr>
                      <a:r>
                        <a:rPr lang="en-AE" sz="2400" dirty="0"/>
                        <a:t>200</a:t>
                      </a:r>
                    </a:p>
                  </a:txBody>
                  <a:tcPr marL="92756" marR="92756" marT="46378" marB="46378" anchor="ctr"/>
                </a:tc>
                <a:tc>
                  <a:txBody>
                    <a:bodyPr/>
                    <a:lstStyle/>
                    <a:p>
                      <a:pPr algn="ctr">
                        <a:buNone/>
                      </a:pPr>
                      <a:r>
                        <a:rPr lang="en-AE" sz="2400" b="0" dirty="0"/>
                        <a:t>52</a:t>
                      </a:r>
                    </a:p>
                  </a:txBody>
                  <a:tcPr marL="92756" marR="92756" marT="46378" marB="46378" anchor="ctr"/>
                </a:tc>
                <a:tc>
                  <a:txBody>
                    <a:bodyPr/>
                    <a:lstStyle/>
                    <a:p>
                      <a:pPr algn="ctr">
                        <a:buNone/>
                      </a:pPr>
                      <a:r>
                        <a:rPr lang="en-AE" sz="2400" b="0" dirty="0"/>
                        <a:t>148</a:t>
                      </a:r>
                    </a:p>
                  </a:txBody>
                  <a:tcPr marL="92756" marR="92756" marT="46378" marB="46378" anchor="ctr"/>
                </a:tc>
                <a:extLst>
                  <a:ext uri="{0D108BD9-81ED-4DB2-BD59-A6C34878D82A}">
                    <a16:rowId xmlns:a16="http://schemas.microsoft.com/office/drawing/2014/main" val="1683864402"/>
                  </a:ext>
                </a:extLst>
              </a:tr>
              <a:tr h="885825">
                <a:tc>
                  <a:txBody>
                    <a:bodyPr/>
                    <a:lstStyle/>
                    <a:p>
                      <a:pPr algn="ctr">
                        <a:buNone/>
                      </a:pPr>
                      <a:r>
                        <a:rPr lang="en-US" sz="2400" dirty="0"/>
                        <a:t>Validation (~20%)</a:t>
                      </a:r>
                    </a:p>
                  </a:txBody>
                  <a:tcPr marL="92756" marR="92756" marT="46378" marB="46378" anchor="ctr"/>
                </a:tc>
                <a:tc>
                  <a:txBody>
                    <a:bodyPr/>
                    <a:lstStyle/>
                    <a:p>
                      <a:pPr algn="ctr">
                        <a:buNone/>
                      </a:pPr>
                      <a:r>
                        <a:rPr lang="en-AE" sz="2400" dirty="0"/>
                        <a:t>60</a:t>
                      </a:r>
                    </a:p>
                  </a:txBody>
                  <a:tcPr marL="92756" marR="92756" marT="46378" marB="46378" anchor="ctr"/>
                </a:tc>
                <a:tc>
                  <a:txBody>
                    <a:bodyPr/>
                    <a:lstStyle/>
                    <a:p>
                      <a:pPr algn="ctr">
                        <a:buNone/>
                      </a:pPr>
                      <a:r>
                        <a:rPr lang="en-AE" sz="2400" b="0" dirty="0"/>
                        <a:t>15</a:t>
                      </a:r>
                    </a:p>
                  </a:txBody>
                  <a:tcPr marL="92756" marR="92756" marT="46378" marB="46378" anchor="ctr"/>
                </a:tc>
                <a:tc>
                  <a:txBody>
                    <a:bodyPr/>
                    <a:lstStyle/>
                    <a:p>
                      <a:pPr algn="ctr">
                        <a:buNone/>
                      </a:pPr>
                      <a:r>
                        <a:rPr lang="en-AE" sz="2400" b="0" dirty="0"/>
                        <a:t>45</a:t>
                      </a:r>
                    </a:p>
                  </a:txBody>
                  <a:tcPr marL="92756" marR="92756" marT="46378" marB="46378" anchor="ctr"/>
                </a:tc>
                <a:extLst>
                  <a:ext uri="{0D108BD9-81ED-4DB2-BD59-A6C34878D82A}">
                    <a16:rowId xmlns:a16="http://schemas.microsoft.com/office/drawing/2014/main" val="1594642091"/>
                  </a:ext>
                </a:extLst>
              </a:tr>
              <a:tr h="885825">
                <a:tc>
                  <a:txBody>
                    <a:bodyPr/>
                    <a:lstStyle/>
                    <a:p>
                      <a:pPr algn="ctr">
                        <a:buNone/>
                      </a:pPr>
                      <a:r>
                        <a:rPr lang="en-US" sz="2400" dirty="0"/>
                        <a:t>Test (~15%)</a:t>
                      </a:r>
                    </a:p>
                  </a:txBody>
                  <a:tcPr marL="92756" marR="92756" marT="46378" marB="46378" anchor="ctr"/>
                </a:tc>
                <a:tc>
                  <a:txBody>
                    <a:bodyPr/>
                    <a:lstStyle/>
                    <a:p>
                      <a:pPr algn="ctr">
                        <a:buNone/>
                      </a:pPr>
                      <a:r>
                        <a:rPr lang="en-AE" sz="2400" dirty="0"/>
                        <a:t>46</a:t>
                      </a:r>
                    </a:p>
                  </a:txBody>
                  <a:tcPr marL="92756" marR="92756" marT="46378" marB="46378" anchor="ctr"/>
                </a:tc>
                <a:tc>
                  <a:txBody>
                    <a:bodyPr/>
                    <a:lstStyle/>
                    <a:p>
                      <a:pPr algn="ctr">
                        <a:buNone/>
                      </a:pPr>
                      <a:r>
                        <a:rPr lang="en-AE" sz="2400" b="0" dirty="0"/>
                        <a:t>13</a:t>
                      </a:r>
                    </a:p>
                  </a:txBody>
                  <a:tcPr marL="92756" marR="92756" marT="46378" marB="46378" anchor="ctr"/>
                </a:tc>
                <a:tc>
                  <a:txBody>
                    <a:bodyPr/>
                    <a:lstStyle/>
                    <a:p>
                      <a:pPr algn="ctr">
                        <a:buNone/>
                      </a:pPr>
                      <a:r>
                        <a:rPr lang="en-AE" sz="2400" b="0" dirty="0"/>
                        <a:t>33</a:t>
                      </a:r>
                    </a:p>
                  </a:txBody>
                  <a:tcPr marL="92756" marR="92756" marT="46378" marB="46378" anchor="ctr"/>
                </a:tc>
                <a:extLst>
                  <a:ext uri="{0D108BD9-81ED-4DB2-BD59-A6C34878D82A}">
                    <a16:rowId xmlns:a16="http://schemas.microsoft.com/office/drawing/2014/main" val="55932978"/>
                  </a:ext>
                </a:extLst>
              </a:tr>
            </a:tbl>
          </a:graphicData>
        </a:graphic>
      </p:graphicFrame>
      <p:sp>
        <p:nvSpPr>
          <p:cNvPr id="10" name="Title 1">
            <a:extLst>
              <a:ext uri="{FF2B5EF4-FFF2-40B4-BE49-F238E27FC236}">
                <a16:creationId xmlns:a16="http://schemas.microsoft.com/office/drawing/2014/main" id="{28B289FF-19C4-294F-B8E6-1E1F15AE3C65}"/>
              </a:ext>
            </a:extLst>
          </p:cNvPr>
          <p:cNvSpPr txBox="1">
            <a:spLocks/>
          </p:cNvSpPr>
          <p:nvPr/>
        </p:nvSpPr>
        <p:spPr>
          <a:xfrm>
            <a:off x="838200" y="766234"/>
            <a:ext cx="10515600" cy="7778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Semi-Supervised Dataset Split</a:t>
            </a:r>
            <a:endParaRPr lang="en-AE" dirty="0"/>
          </a:p>
        </p:txBody>
      </p:sp>
      <p:sp>
        <p:nvSpPr>
          <p:cNvPr id="12" name="TextBox 11">
            <a:extLst>
              <a:ext uri="{FF2B5EF4-FFF2-40B4-BE49-F238E27FC236}">
                <a16:creationId xmlns:a16="http://schemas.microsoft.com/office/drawing/2014/main" id="{87282549-0277-09E1-F3A2-C7B1A24D72E1}"/>
              </a:ext>
            </a:extLst>
          </p:cNvPr>
          <p:cNvSpPr txBox="1"/>
          <p:nvPr/>
        </p:nvSpPr>
        <p:spPr>
          <a:xfrm>
            <a:off x="887219" y="5330406"/>
            <a:ext cx="10417562" cy="369332"/>
          </a:xfrm>
          <a:prstGeom prst="rect">
            <a:avLst/>
          </a:prstGeom>
          <a:noFill/>
        </p:spPr>
        <p:txBody>
          <a:bodyPr wrap="square">
            <a:spAutoFit/>
          </a:bodyPr>
          <a:lstStyle/>
          <a:p>
            <a:pPr algn="ctr"/>
            <a:r>
              <a:rPr lang="en-AE" dirty="0"/>
              <a:t>306 labelled samples out of 684 tiles in total.</a:t>
            </a:r>
            <a:endParaRPr lang="en-US" sz="1600" dirty="0"/>
          </a:p>
        </p:txBody>
      </p:sp>
      <p:sp>
        <p:nvSpPr>
          <p:cNvPr id="2" name="TextBox 1">
            <a:extLst>
              <a:ext uri="{FF2B5EF4-FFF2-40B4-BE49-F238E27FC236}">
                <a16:creationId xmlns:a16="http://schemas.microsoft.com/office/drawing/2014/main" id="{C6C53EFC-CE7D-29FD-19FD-6785FA935F84}"/>
              </a:ext>
            </a:extLst>
          </p:cNvPr>
          <p:cNvSpPr txBox="1"/>
          <p:nvPr/>
        </p:nvSpPr>
        <p:spPr>
          <a:xfrm>
            <a:off x="0" y="0"/>
            <a:ext cx="756938" cy="369332"/>
          </a:xfrm>
          <a:prstGeom prst="rect">
            <a:avLst/>
          </a:prstGeom>
          <a:noFill/>
        </p:spPr>
        <p:txBody>
          <a:bodyPr wrap="none" rtlCol="0">
            <a:spAutoFit/>
          </a:bodyPr>
          <a:lstStyle/>
          <a:p>
            <a:r>
              <a:rPr lang="en-US" dirty="0"/>
              <a:t>32/47</a:t>
            </a:r>
            <a:endParaRPr lang="en-AE" dirty="0"/>
          </a:p>
        </p:txBody>
      </p:sp>
    </p:spTree>
    <p:extLst>
      <p:ext uri="{BB962C8B-B14F-4D97-AF65-F5344CB8AC3E}">
        <p14:creationId xmlns:p14="http://schemas.microsoft.com/office/powerpoint/2010/main" val="25094649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4B3D77-E50A-5F00-2CA7-6C8B82BC1C56}"/>
              </a:ext>
            </a:extLst>
          </p:cNvPr>
          <p:cNvSpPr>
            <a:spLocks noGrp="1"/>
          </p:cNvSpPr>
          <p:nvPr>
            <p:ph type="title"/>
          </p:nvPr>
        </p:nvSpPr>
        <p:spPr>
          <a:xfrm>
            <a:off x="841248" y="256032"/>
            <a:ext cx="10506456" cy="1014984"/>
          </a:xfrm>
        </p:spPr>
        <p:txBody>
          <a:bodyPr anchor="b">
            <a:normAutofit/>
          </a:bodyPr>
          <a:lstStyle/>
          <a:p>
            <a:pPr algn="ctr"/>
            <a:r>
              <a:rPr lang="en-US" dirty="0"/>
              <a:t>Data Augmentations</a:t>
            </a:r>
            <a:endParaRPr lang="en-AE" dirty="0"/>
          </a:p>
        </p:txBody>
      </p:sp>
      <p:sp>
        <p:nvSpPr>
          <p:cNvPr id="15" name="Rectangle 14">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F50A4309-462F-8FD2-2ECF-9BAC3A8D43E1}"/>
              </a:ext>
            </a:extLst>
          </p:cNvPr>
          <p:cNvGraphicFramePr>
            <a:graphicFrameLocks noGrp="1"/>
          </p:cNvGraphicFramePr>
          <p:nvPr>
            <p:ph idx="1"/>
            <p:extLst>
              <p:ext uri="{D42A27DB-BD31-4B8C-83A1-F6EECF244321}">
                <p14:modId xmlns:p14="http://schemas.microsoft.com/office/powerpoint/2010/main" val="1494217380"/>
              </p:ext>
            </p:extLst>
          </p:nvPr>
        </p:nvGraphicFramePr>
        <p:xfrm>
          <a:off x="838200" y="1981590"/>
          <a:ext cx="10451592" cy="4246880"/>
        </p:xfrm>
        <a:graphic>
          <a:graphicData uri="http://schemas.openxmlformats.org/drawingml/2006/table">
            <a:tbl>
              <a:tblPr firstRow="1" bandRow="1">
                <a:tableStyleId>{7E9639D4-E3E2-4D34-9284-5A2195B3D0D7}</a:tableStyleId>
              </a:tblPr>
              <a:tblGrid>
                <a:gridCol w="3720907">
                  <a:extLst>
                    <a:ext uri="{9D8B030D-6E8A-4147-A177-3AD203B41FA5}">
                      <a16:colId xmlns:a16="http://schemas.microsoft.com/office/drawing/2014/main" val="2429556172"/>
                    </a:ext>
                  </a:extLst>
                </a:gridCol>
                <a:gridCol w="3009778">
                  <a:extLst>
                    <a:ext uri="{9D8B030D-6E8A-4147-A177-3AD203B41FA5}">
                      <a16:colId xmlns:a16="http://schemas.microsoft.com/office/drawing/2014/main" val="2035054900"/>
                    </a:ext>
                  </a:extLst>
                </a:gridCol>
                <a:gridCol w="3720907">
                  <a:extLst>
                    <a:ext uri="{9D8B030D-6E8A-4147-A177-3AD203B41FA5}">
                      <a16:colId xmlns:a16="http://schemas.microsoft.com/office/drawing/2014/main" val="1044747836"/>
                    </a:ext>
                  </a:extLst>
                </a:gridCol>
              </a:tblGrid>
              <a:tr h="386080">
                <a:tc>
                  <a:txBody>
                    <a:bodyPr/>
                    <a:lstStyle/>
                    <a:p>
                      <a:pPr algn="ctr">
                        <a:buNone/>
                      </a:pPr>
                      <a:r>
                        <a:rPr lang="en-US" sz="1700" dirty="0"/>
                        <a:t>Augmentation</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700"/>
                        <a:t>Applied To</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700"/>
                        <a:t>Probability</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374267"/>
                  </a:ext>
                </a:extLst>
              </a:tr>
              <a:tr h="386080">
                <a:tc>
                  <a:txBody>
                    <a:bodyPr/>
                    <a:lstStyle/>
                    <a:p>
                      <a:pPr algn="ctr">
                        <a:buNone/>
                      </a:pPr>
                      <a:r>
                        <a:rPr lang="en-US" sz="1700"/>
                        <a:t>Horizontal flip</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a:txBody>
                    <a:bodyPr/>
                    <a:lstStyle/>
                    <a:p>
                      <a:pPr algn="ctr">
                        <a:buNone/>
                      </a:pPr>
                      <a:r>
                        <a:rPr lang="en-US" sz="1700" dirty="0"/>
                        <a:t>2019 tiles, 2023 tiles, labels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AE" sz="1700"/>
                        <a:t>0.5</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4892635"/>
                  </a:ext>
                </a:extLst>
              </a:tr>
              <a:tr h="386080">
                <a:tc>
                  <a:txBody>
                    <a:bodyPr/>
                    <a:lstStyle/>
                    <a:p>
                      <a:pPr algn="ctr">
                        <a:buNone/>
                      </a:pPr>
                      <a:r>
                        <a:rPr lang="en-US" sz="1700"/>
                        <a:t>Vertical flip</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AE" sz="1700"/>
                        <a:t>0.5</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115555"/>
                  </a:ext>
                </a:extLst>
              </a:tr>
              <a:tr h="386080">
                <a:tc>
                  <a:txBody>
                    <a:bodyPr/>
                    <a:lstStyle/>
                    <a:p>
                      <a:pPr algn="ctr">
                        <a:buNone/>
                      </a:pPr>
                      <a:r>
                        <a:rPr lang="en-US" sz="1700"/>
                        <a:t>Rotation</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AE" sz="1700"/>
                        <a:t>0.2</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132237"/>
                  </a:ext>
                </a:extLst>
              </a:tr>
              <a:tr h="386080">
                <a:tc>
                  <a:txBody>
                    <a:bodyPr/>
                    <a:lstStyle/>
                    <a:p>
                      <a:pPr algn="ctr">
                        <a:buNone/>
                      </a:pPr>
                      <a:r>
                        <a:rPr lang="en-US" sz="1700"/>
                        <a:t>Random crop</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US" sz="1700" dirty="0"/>
                        <a:t>0.75</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9824623"/>
                  </a:ext>
                </a:extLst>
              </a:tr>
              <a:tr h="386080">
                <a:tc>
                  <a:txBody>
                    <a:bodyPr/>
                    <a:lstStyle/>
                    <a:p>
                      <a:pPr algn="ctr">
                        <a:buNone/>
                      </a:pPr>
                      <a:r>
                        <a:rPr lang="en-US" sz="1700"/>
                        <a:t>Mosaic stitching</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marL="87745" marR="87745" marT="43873" marB="43873" anchor="ctr"/>
                </a:tc>
                <a:tc>
                  <a:txBody>
                    <a:bodyPr/>
                    <a:lstStyle/>
                    <a:p>
                      <a:pPr algn="ctr">
                        <a:buNone/>
                      </a:pPr>
                      <a:r>
                        <a:rPr lang="en-US" sz="1700" dirty="0"/>
                        <a:t>0.25</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990684"/>
                  </a:ext>
                </a:extLst>
              </a:tr>
              <a:tr h="386080">
                <a:tc>
                  <a:txBody>
                    <a:bodyPr/>
                    <a:lstStyle/>
                    <a:p>
                      <a:pPr algn="ctr">
                        <a:buNone/>
                      </a:pPr>
                      <a:r>
                        <a:rPr lang="en-US" sz="1700"/>
                        <a:t>Brightness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a:txBody>
                    <a:bodyPr/>
                    <a:lstStyle/>
                    <a:p>
                      <a:pPr algn="ctr">
                        <a:buNone/>
                      </a:pPr>
                      <a:r>
                        <a:rPr lang="en-US" sz="1700" dirty="0"/>
                        <a:t>2019 tiles, 2023 tiles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700"/>
                        <a:t>Always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053890"/>
                  </a:ext>
                </a:extLst>
              </a:tr>
              <a:tr h="386080">
                <a:tc>
                  <a:txBody>
                    <a:bodyPr/>
                    <a:lstStyle/>
                    <a:p>
                      <a:pPr algn="ctr">
                        <a:buNone/>
                      </a:pPr>
                      <a:r>
                        <a:rPr lang="en-US" sz="1700"/>
                        <a:t>Contrast</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US" sz="1700"/>
                        <a:t>Always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705169"/>
                  </a:ext>
                </a:extLst>
              </a:tr>
              <a:tr h="386080">
                <a:tc>
                  <a:txBody>
                    <a:bodyPr/>
                    <a:lstStyle/>
                    <a:p>
                      <a:pPr algn="ctr">
                        <a:buNone/>
                      </a:pPr>
                      <a:r>
                        <a:rPr lang="en-US" sz="1700"/>
                        <a:t>Saturation</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US" sz="1700"/>
                        <a:t>Always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6651300"/>
                  </a:ext>
                </a:extLst>
              </a:tr>
              <a:tr h="386080">
                <a:tc>
                  <a:txBody>
                    <a:bodyPr/>
                    <a:lstStyle/>
                    <a:p>
                      <a:pPr algn="ctr">
                        <a:buNone/>
                      </a:pPr>
                      <a:r>
                        <a:rPr lang="en-US" sz="1700"/>
                        <a:t>Sharpness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87745" marR="87745" marT="43873" marB="43873" anchor="ctr"/>
                </a:tc>
                <a:tc>
                  <a:txBody>
                    <a:bodyPr/>
                    <a:lstStyle/>
                    <a:p>
                      <a:pPr algn="ctr">
                        <a:buNone/>
                      </a:pPr>
                      <a:r>
                        <a:rPr lang="en-US" sz="1700"/>
                        <a:t>Always</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1177180"/>
                  </a:ext>
                </a:extLst>
              </a:tr>
              <a:tr h="386080">
                <a:tc>
                  <a:txBody>
                    <a:bodyPr/>
                    <a:lstStyle/>
                    <a:p>
                      <a:pPr algn="ctr">
                        <a:buNone/>
                      </a:pPr>
                      <a:r>
                        <a:rPr lang="en-US" sz="1700"/>
                        <a:t>Gaussian blur</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dirty="0"/>
                    </a:p>
                  </a:txBody>
                  <a:tcPr marL="87745" marR="87745" marT="43873" marB="43873" anchor="ctr"/>
                </a:tc>
                <a:tc>
                  <a:txBody>
                    <a:bodyPr/>
                    <a:lstStyle/>
                    <a:p>
                      <a:pPr algn="ctr">
                        <a:buNone/>
                      </a:pPr>
                      <a:r>
                        <a:rPr lang="en-AE" sz="1700" dirty="0"/>
                        <a:t>0.5</a:t>
                      </a:r>
                    </a:p>
                  </a:txBody>
                  <a:tcPr marL="87745" marR="87745" marT="43873" marB="438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1823919"/>
                  </a:ext>
                </a:extLst>
              </a:tr>
            </a:tbl>
          </a:graphicData>
        </a:graphic>
      </p:graphicFrame>
      <p:sp>
        <p:nvSpPr>
          <p:cNvPr id="3" name="TextBox 2">
            <a:extLst>
              <a:ext uri="{FF2B5EF4-FFF2-40B4-BE49-F238E27FC236}">
                <a16:creationId xmlns:a16="http://schemas.microsoft.com/office/drawing/2014/main" id="{9D2F8CC4-856A-CDCD-245C-190DF9D0F48F}"/>
              </a:ext>
            </a:extLst>
          </p:cNvPr>
          <p:cNvSpPr txBox="1"/>
          <p:nvPr/>
        </p:nvSpPr>
        <p:spPr>
          <a:xfrm>
            <a:off x="0" y="0"/>
            <a:ext cx="756938" cy="369332"/>
          </a:xfrm>
          <a:prstGeom prst="rect">
            <a:avLst/>
          </a:prstGeom>
          <a:noFill/>
        </p:spPr>
        <p:txBody>
          <a:bodyPr wrap="none" rtlCol="0">
            <a:spAutoFit/>
          </a:bodyPr>
          <a:lstStyle/>
          <a:p>
            <a:r>
              <a:rPr lang="en-US" dirty="0"/>
              <a:t>33/47</a:t>
            </a:r>
            <a:endParaRPr lang="en-AE" dirty="0"/>
          </a:p>
        </p:txBody>
      </p:sp>
    </p:spTree>
    <p:extLst>
      <p:ext uri="{BB962C8B-B14F-4D97-AF65-F5344CB8AC3E}">
        <p14:creationId xmlns:p14="http://schemas.microsoft.com/office/powerpoint/2010/main" val="4130255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F38A-0612-866B-2B76-A51F59A5D3DE}"/>
              </a:ext>
            </a:extLst>
          </p:cNvPr>
          <p:cNvSpPr>
            <a:spLocks noGrp="1"/>
          </p:cNvSpPr>
          <p:nvPr>
            <p:ph type="title"/>
          </p:nvPr>
        </p:nvSpPr>
        <p:spPr/>
        <p:txBody>
          <a:bodyPr/>
          <a:lstStyle/>
          <a:p>
            <a:r>
              <a:rPr lang="en-US"/>
              <a:t>Evaluation Metrics</a:t>
            </a:r>
            <a:endParaRPr lang="en-AE"/>
          </a:p>
        </p:txBody>
      </p:sp>
      <p:sp>
        <p:nvSpPr>
          <p:cNvPr id="3" name="Content Placeholder 2">
            <a:extLst>
              <a:ext uri="{FF2B5EF4-FFF2-40B4-BE49-F238E27FC236}">
                <a16:creationId xmlns:a16="http://schemas.microsoft.com/office/drawing/2014/main" id="{FCDB6BC6-C33D-3B8F-5CBB-2D0FA2554B42}"/>
              </a:ext>
            </a:extLst>
          </p:cNvPr>
          <p:cNvSpPr>
            <a:spLocks noGrp="1"/>
          </p:cNvSpPr>
          <p:nvPr>
            <p:ph idx="1"/>
          </p:nvPr>
        </p:nvSpPr>
        <p:spPr/>
        <p:txBody>
          <a:bodyPr>
            <a:normAutofit fontScale="85000" lnSpcReduction="20000"/>
          </a:bodyPr>
          <a:lstStyle/>
          <a:p>
            <a:r>
              <a:rPr lang="en-US" b="1" dirty="0"/>
              <a:t>F1:</a:t>
            </a:r>
            <a:r>
              <a:rPr lang="en-US" dirty="0"/>
              <a:t> Harmonic mean of Precision and Recall. The primary metric for change detection because a model that misses changes and one that over-predicts changes will both score poorly.</a:t>
            </a:r>
          </a:p>
          <a:p>
            <a:r>
              <a:rPr lang="en-US" b="1" dirty="0"/>
              <a:t>Precision:</a:t>
            </a:r>
            <a:r>
              <a:rPr lang="en-US" dirty="0"/>
              <a:t> Of all pixels the model flagged as "changed", what fraction actually were? High precision means few false alarms.</a:t>
            </a:r>
          </a:p>
          <a:p>
            <a:r>
              <a:rPr lang="en-US" b="1" dirty="0"/>
              <a:t>Recall:</a:t>
            </a:r>
            <a:r>
              <a:rPr lang="en-US" dirty="0"/>
              <a:t> Of all pixels that truly changed, what fraction did the model catch? High recall means few missed changes.</a:t>
            </a:r>
          </a:p>
          <a:p>
            <a:r>
              <a:rPr lang="en-US" b="1" dirty="0"/>
              <a:t>Overall Accuracy:</a:t>
            </a:r>
            <a:r>
              <a:rPr lang="en-US" dirty="0"/>
              <a:t> Percentage of all pixels classified correctly, including background.</a:t>
            </a:r>
          </a:p>
          <a:p>
            <a:r>
              <a:rPr lang="en-US" b="1" dirty="0"/>
              <a:t>Kappa:</a:t>
            </a:r>
            <a:r>
              <a:rPr lang="en-US" dirty="0"/>
              <a:t> Corrects overall accuracy for statistical chance. A Kappa of 0 means the model is no better than random guessing, 1.0 is perfect. </a:t>
            </a:r>
          </a:p>
          <a:p>
            <a:r>
              <a:rPr lang="en-US" b="1" dirty="0"/>
              <a:t>Intersection over Union (</a:t>
            </a:r>
            <a:r>
              <a:rPr lang="en-US" b="1" dirty="0" err="1"/>
              <a:t>IoU</a:t>
            </a:r>
            <a:r>
              <a:rPr lang="en-US" b="1" dirty="0"/>
              <a:t>):</a:t>
            </a:r>
            <a:r>
              <a:rPr lang="en-US" dirty="0"/>
              <a:t> Overlap between the predicted change mask and the ground truth mask, divided by their union. Partial overlaps are </a:t>
            </a:r>
            <a:r>
              <a:rPr lang="en-US" dirty="0" err="1"/>
              <a:t>penalised</a:t>
            </a:r>
            <a:r>
              <a:rPr lang="en-US" dirty="0"/>
              <a:t>.</a:t>
            </a:r>
          </a:p>
        </p:txBody>
      </p:sp>
      <p:sp>
        <p:nvSpPr>
          <p:cNvPr id="5" name="TextBox 4">
            <a:extLst>
              <a:ext uri="{FF2B5EF4-FFF2-40B4-BE49-F238E27FC236}">
                <a16:creationId xmlns:a16="http://schemas.microsoft.com/office/drawing/2014/main" id="{F4472F96-0142-D832-655A-A8300610B7EE}"/>
              </a:ext>
            </a:extLst>
          </p:cNvPr>
          <p:cNvSpPr txBox="1"/>
          <p:nvPr/>
        </p:nvSpPr>
        <p:spPr>
          <a:xfrm>
            <a:off x="0" y="6396335"/>
            <a:ext cx="12192000" cy="461665"/>
          </a:xfrm>
          <a:prstGeom prst="rect">
            <a:avLst/>
          </a:prstGeom>
          <a:noFill/>
        </p:spPr>
        <p:txBody>
          <a:bodyPr wrap="square">
            <a:spAutoFit/>
          </a:bodyPr>
          <a:lstStyle/>
          <a:p>
            <a:r>
              <a:rPr lang="en-US" sz="800" b="0" i="0" dirty="0">
                <a:solidFill>
                  <a:srgbClr val="222222"/>
                </a:solidFill>
                <a:effectLst/>
                <a:latin typeface="Times New Roman" panose="02020603050405020304" pitchFamily="18" charset="0"/>
                <a:cs typeface="Times New Roman" panose="02020603050405020304" pitchFamily="18" charset="0"/>
              </a:rPr>
              <a:t>Diallo, R., </a:t>
            </a:r>
            <a:r>
              <a:rPr lang="en-US" sz="800" b="0" i="0" dirty="0" err="1">
                <a:solidFill>
                  <a:srgbClr val="222222"/>
                </a:solidFill>
                <a:effectLst/>
                <a:latin typeface="Times New Roman" panose="02020603050405020304" pitchFamily="18" charset="0"/>
                <a:cs typeface="Times New Roman" panose="02020603050405020304" pitchFamily="18" charset="0"/>
              </a:rPr>
              <a:t>Edalo</a:t>
            </a:r>
            <a:r>
              <a:rPr lang="en-US" sz="800" b="0" i="0" dirty="0">
                <a:solidFill>
                  <a:srgbClr val="222222"/>
                </a:solidFill>
                <a:effectLst/>
                <a:latin typeface="Times New Roman" panose="02020603050405020304" pitchFamily="18" charset="0"/>
                <a:cs typeface="Times New Roman" panose="02020603050405020304" pitchFamily="18" charset="0"/>
              </a:rPr>
              <a:t>, C., Awe, O.O. (2025). Machine Learning Evaluation of Imbalanced Health Data: A Comparative Analysis of Balanced Accuracy, MCC, and F1 Score. In: Awe, O.O., A. Vance, E. (eds) Practical Statistical Learning and Data Science Methods. STEAM-H: Science, Technology, Engineering, Agriculture, Mathematics &amp; Health. Springer, Cham. </a:t>
            </a:r>
            <a:r>
              <a:rPr lang="en-US" sz="800" b="0" i="0" dirty="0">
                <a:solidFill>
                  <a:srgbClr val="222222"/>
                </a:solidFill>
                <a:effectLst/>
                <a:latin typeface="Times New Roman" panose="02020603050405020304" pitchFamily="18" charset="0"/>
                <a:cs typeface="Times New Roman" panose="02020603050405020304" pitchFamily="18" charset="0"/>
                <a:hlinkClick r:id="rId3"/>
              </a:rPr>
              <a:t>https://doi.org/10.1007/978-3-031-72215-8_12</a:t>
            </a:r>
            <a:endParaRPr lang="en-US" sz="800" b="0" i="0" dirty="0">
              <a:solidFill>
                <a:srgbClr val="222222"/>
              </a:solidFill>
              <a:effectLst/>
              <a:latin typeface="Times New Roman" panose="02020603050405020304" pitchFamily="18" charset="0"/>
              <a:cs typeface="Times New Roman" panose="02020603050405020304" pitchFamily="18" charset="0"/>
            </a:endParaRPr>
          </a:p>
          <a:p>
            <a:r>
              <a:rPr lang="en-US" sz="800" dirty="0">
                <a:latin typeface="Times New Roman" panose="02020603050405020304" pitchFamily="18" charset="0"/>
                <a:cs typeface="Times New Roman" panose="02020603050405020304" pitchFamily="18" charset="0"/>
              </a:rPr>
              <a:t>Jineon Kim, Yong-Ki Lee, Chae-Soon Choi, Sayedalireza Fereshtenejad, Jae-Joon Song, Scanline intersection similarity: A similarity metric for joint trace maps, Computers &amp; Geosciences, Volume 175, 2023, 105358, ISSN 0098-3004, https://doi.org/10.1016/j.cageo.2023.105358</a:t>
            </a:r>
            <a:endParaRPr lang="en-AE" sz="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A8682E-D8A7-4548-B048-6A8645AA7FB5}"/>
              </a:ext>
            </a:extLst>
          </p:cNvPr>
          <p:cNvSpPr txBox="1"/>
          <p:nvPr/>
        </p:nvSpPr>
        <p:spPr>
          <a:xfrm>
            <a:off x="0" y="0"/>
            <a:ext cx="756938" cy="369332"/>
          </a:xfrm>
          <a:prstGeom prst="rect">
            <a:avLst/>
          </a:prstGeom>
          <a:noFill/>
        </p:spPr>
        <p:txBody>
          <a:bodyPr wrap="none" rtlCol="0">
            <a:spAutoFit/>
          </a:bodyPr>
          <a:lstStyle/>
          <a:p>
            <a:r>
              <a:rPr lang="en-US" dirty="0"/>
              <a:t>34/47</a:t>
            </a:r>
            <a:endParaRPr lang="en-AE" dirty="0"/>
          </a:p>
        </p:txBody>
      </p:sp>
    </p:spTree>
    <p:extLst>
      <p:ext uri="{BB962C8B-B14F-4D97-AF65-F5344CB8AC3E}">
        <p14:creationId xmlns:p14="http://schemas.microsoft.com/office/powerpoint/2010/main" val="3159215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F15E8-6F46-0104-4515-F713FB10FB26}"/>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Model Architecture</a:t>
            </a:r>
          </a:p>
        </p:txBody>
      </p:sp>
      <p:sp>
        <p:nvSpPr>
          <p:cNvPr id="3" name="Content Placeholder 2">
            <a:extLst>
              <a:ext uri="{FF2B5EF4-FFF2-40B4-BE49-F238E27FC236}">
                <a16:creationId xmlns:a16="http://schemas.microsoft.com/office/drawing/2014/main" id="{5BEC8128-27E2-0DDC-E906-B014E8F3DA69}"/>
              </a:ext>
            </a:extLst>
          </p:cNvPr>
          <p:cNvSpPr>
            <a:spLocks noGrp="1"/>
          </p:cNvSpPr>
          <p:nvPr>
            <p:ph idx="1"/>
          </p:nvPr>
        </p:nvSpPr>
        <p:spPr>
          <a:xfrm>
            <a:off x="1113809" y="953037"/>
            <a:ext cx="4036333" cy="1709849"/>
          </a:xfrm>
        </p:spPr>
        <p:txBody>
          <a:bodyPr vert="horz" lIns="91440" tIns="45720" rIns="91440" bIns="45720" rtlCol="0" anchor="b">
            <a:normAutofit/>
          </a:bodyPr>
          <a:lstStyle/>
          <a:p>
            <a:pPr marL="0" indent="0">
              <a:buNone/>
            </a:pPr>
            <a:r>
              <a:rPr lang="en-US" sz="2000" kern="1200">
                <a:solidFill>
                  <a:schemeClr val="tx1"/>
                </a:solidFill>
                <a:latin typeface="+mn-lt"/>
                <a:ea typeface="+mn-ea"/>
                <a:cs typeface="+mn-cs"/>
              </a:rPr>
              <a:t>VGG16 ImageNet Weights Encoder + Custom Decoder</a:t>
            </a:r>
          </a:p>
        </p:txBody>
      </p:sp>
      <p:grpSp>
        <p:nvGrpSpPr>
          <p:cNvPr id="19" name="Group 1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5C2B254-9BDE-9B3A-26CB-145E88870FC4}"/>
              </a:ext>
            </a:extLst>
          </p:cNvPr>
          <p:cNvPicPr>
            <a:picLocks noChangeAspect="1"/>
          </p:cNvPicPr>
          <p:nvPr/>
        </p:nvPicPr>
        <p:blipFill>
          <a:blip r:embed="rId2"/>
          <a:stretch>
            <a:fillRect/>
          </a:stretch>
        </p:blipFill>
        <p:spPr>
          <a:xfrm>
            <a:off x="6719455" y="522197"/>
            <a:ext cx="3978214" cy="5807613"/>
          </a:xfrm>
          <a:prstGeom prst="rect">
            <a:avLst/>
          </a:prstGeom>
        </p:spPr>
      </p:pic>
      <p:sp>
        <p:nvSpPr>
          <p:cNvPr id="4" name="TextBox 3">
            <a:extLst>
              <a:ext uri="{FF2B5EF4-FFF2-40B4-BE49-F238E27FC236}">
                <a16:creationId xmlns:a16="http://schemas.microsoft.com/office/drawing/2014/main" id="{55CE8817-14AA-5CCD-63DB-CC71F210666D}"/>
              </a:ext>
            </a:extLst>
          </p:cNvPr>
          <p:cNvSpPr txBox="1"/>
          <p:nvPr/>
        </p:nvSpPr>
        <p:spPr>
          <a:xfrm>
            <a:off x="0" y="0"/>
            <a:ext cx="756938" cy="369332"/>
          </a:xfrm>
          <a:prstGeom prst="rect">
            <a:avLst/>
          </a:prstGeom>
          <a:noFill/>
        </p:spPr>
        <p:txBody>
          <a:bodyPr wrap="none" rtlCol="0">
            <a:spAutoFit/>
          </a:bodyPr>
          <a:lstStyle/>
          <a:p>
            <a:r>
              <a:rPr lang="en-US" dirty="0"/>
              <a:t>35/47</a:t>
            </a:r>
            <a:endParaRPr lang="en-AE" dirty="0"/>
          </a:p>
        </p:txBody>
      </p:sp>
    </p:spTree>
    <p:extLst>
      <p:ext uri="{BB962C8B-B14F-4D97-AF65-F5344CB8AC3E}">
        <p14:creationId xmlns:p14="http://schemas.microsoft.com/office/powerpoint/2010/main" val="3792942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80F87F-C018-6F57-1F0F-D5BB4FA46BAA}"/>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kern="1200" dirty="0">
                <a:solidFill>
                  <a:schemeClr val="tx1"/>
                </a:solidFill>
                <a:latin typeface="+mj-lt"/>
                <a:ea typeface="+mj-ea"/>
                <a:cs typeface="+mj-cs"/>
              </a:rPr>
              <a:t>Results and Discussion</a:t>
            </a:r>
          </a:p>
        </p:txBody>
      </p:sp>
      <p:sp>
        <p:nvSpPr>
          <p:cNvPr id="3" name="Text Placeholder 2">
            <a:extLst>
              <a:ext uri="{FF2B5EF4-FFF2-40B4-BE49-F238E27FC236}">
                <a16:creationId xmlns:a16="http://schemas.microsoft.com/office/drawing/2014/main" id="{D1185103-4153-8A75-9CD2-71271F97469B}"/>
              </a:ext>
            </a:extLst>
          </p:cNvPr>
          <p:cNvSpPr>
            <a:spLocks noGrp="1"/>
          </p:cNvSpPr>
          <p:nvPr>
            <p:ph type="body" idx="1"/>
          </p:nvPr>
        </p:nvSpPr>
        <p:spPr>
          <a:xfrm>
            <a:off x="599609" y="4685288"/>
            <a:ext cx="4171994" cy="1035781"/>
          </a:xfrm>
        </p:spPr>
        <p:txBody>
          <a:bodyPr vert="horz" lIns="91440" tIns="45720" rIns="91440" bIns="45720" rtlCol="0">
            <a:normAutofit/>
          </a:bodyPr>
          <a:lstStyle/>
          <a:p>
            <a:r>
              <a:rPr lang="en-US" kern="1200">
                <a:solidFill>
                  <a:schemeClr val="tx1"/>
                </a:solidFill>
                <a:latin typeface="+mn-lt"/>
                <a:ea typeface="+mn-ea"/>
                <a:cs typeface="+mn-cs"/>
              </a:rPr>
              <a:t>Model Performance and Predictions</a:t>
            </a:r>
          </a:p>
        </p:txBody>
      </p:sp>
      <p:grpSp>
        <p:nvGrpSpPr>
          <p:cNvPr id="19" name="Group 18">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3" name="Straight Connector 12">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Bar chart">
            <a:extLst>
              <a:ext uri="{FF2B5EF4-FFF2-40B4-BE49-F238E27FC236}">
                <a16:creationId xmlns:a16="http://schemas.microsoft.com/office/drawing/2014/main" id="{04ECEC4F-80DE-8F40-283A-E5A5977D00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40572" y="569297"/>
            <a:ext cx="5608830" cy="5608830"/>
          </a:xfrm>
          <a:prstGeom prst="rect">
            <a:avLst/>
          </a:prstGeom>
        </p:spPr>
      </p:pic>
      <p:sp>
        <p:nvSpPr>
          <p:cNvPr id="4" name="TextBox 3">
            <a:extLst>
              <a:ext uri="{FF2B5EF4-FFF2-40B4-BE49-F238E27FC236}">
                <a16:creationId xmlns:a16="http://schemas.microsoft.com/office/drawing/2014/main" id="{AFF5502C-4666-B33D-720C-BA9B523B9179}"/>
              </a:ext>
            </a:extLst>
          </p:cNvPr>
          <p:cNvSpPr txBox="1"/>
          <p:nvPr/>
        </p:nvSpPr>
        <p:spPr>
          <a:xfrm>
            <a:off x="0" y="0"/>
            <a:ext cx="756938" cy="369332"/>
          </a:xfrm>
          <a:prstGeom prst="rect">
            <a:avLst/>
          </a:prstGeom>
          <a:noFill/>
        </p:spPr>
        <p:txBody>
          <a:bodyPr wrap="none" rtlCol="0">
            <a:spAutoFit/>
          </a:bodyPr>
          <a:lstStyle/>
          <a:p>
            <a:r>
              <a:rPr lang="en-US" dirty="0"/>
              <a:t>36/47</a:t>
            </a:r>
            <a:endParaRPr lang="en-AE" dirty="0"/>
          </a:p>
        </p:txBody>
      </p:sp>
    </p:spTree>
    <p:extLst>
      <p:ext uri="{BB962C8B-B14F-4D97-AF65-F5344CB8AC3E}">
        <p14:creationId xmlns:p14="http://schemas.microsoft.com/office/powerpoint/2010/main" val="530160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1B258C-D719-CA9F-F6DA-5C707DA53898}"/>
              </a:ext>
            </a:extLst>
          </p:cNvPr>
          <p:cNvSpPr>
            <a:spLocks noGrp="1"/>
          </p:cNvSpPr>
          <p:nvPr>
            <p:ph type="title"/>
          </p:nvPr>
        </p:nvSpPr>
        <p:spPr>
          <a:xfrm>
            <a:off x="599609" y="679731"/>
            <a:ext cx="4171994" cy="3736540"/>
          </a:xfrm>
        </p:spPr>
        <p:txBody>
          <a:bodyPr vert="horz" lIns="91440" tIns="45720" rIns="91440" bIns="45720" rtlCol="0" anchor="b">
            <a:normAutofit/>
          </a:bodyPr>
          <a:lstStyle/>
          <a:p>
            <a:pPr algn="ctr"/>
            <a:r>
              <a:rPr lang="en-US" sz="6000" kern="1200" dirty="0">
                <a:solidFill>
                  <a:schemeClr val="tx1"/>
                </a:solidFill>
                <a:latin typeface="+mj-lt"/>
                <a:ea typeface="+mj-ea"/>
                <a:cs typeface="+mj-cs"/>
              </a:rPr>
              <a:t>Model Evaluation</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8AC845CE-71B3-DAC2-8F9F-FFFB54CD580E}"/>
              </a:ext>
            </a:extLst>
          </p:cNvPr>
          <p:cNvGraphicFramePr>
            <a:graphicFrameLocks noGrp="1"/>
          </p:cNvGraphicFramePr>
          <p:nvPr>
            <p:extLst>
              <p:ext uri="{D42A27DB-BD31-4B8C-83A1-F6EECF244321}">
                <p14:modId xmlns:p14="http://schemas.microsoft.com/office/powerpoint/2010/main" val="2839055821"/>
              </p:ext>
            </p:extLst>
          </p:nvPr>
        </p:nvGraphicFramePr>
        <p:xfrm>
          <a:off x="5640572" y="1061870"/>
          <a:ext cx="5608831" cy="4623684"/>
        </p:xfrm>
        <a:graphic>
          <a:graphicData uri="http://schemas.openxmlformats.org/drawingml/2006/table">
            <a:tbl>
              <a:tblPr firstRow="1" bandRow="1">
                <a:tableStyleId>{5C22544A-7EE6-4342-B048-85BDC9FD1C3A}</a:tableStyleId>
              </a:tblPr>
              <a:tblGrid>
                <a:gridCol w="4080410">
                  <a:extLst>
                    <a:ext uri="{9D8B030D-6E8A-4147-A177-3AD203B41FA5}">
                      <a16:colId xmlns:a16="http://schemas.microsoft.com/office/drawing/2014/main" val="3318634240"/>
                    </a:ext>
                  </a:extLst>
                </a:gridCol>
                <a:gridCol w="1528421">
                  <a:extLst>
                    <a:ext uri="{9D8B030D-6E8A-4147-A177-3AD203B41FA5}">
                      <a16:colId xmlns:a16="http://schemas.microsoft.com/office/drawing/2014/main" val="4275961936"/>
                    </a:ext>
                  </a:extLst>
                </a:gridCol>
              </a:tblGrid>
              <a:tr h="600072">
                <a:tc>
                  <a:txBody>
                    <a:bodyPr/>
                    <a:lstStyle/>
                    <a:p>
                      <a:pPr algn="ctr"/>
                      <a:r>
                        <a:rPr lang="en-US" sz="2800"/>
                        <a:t>Metric</a:t>
                      </a:r>
                      <a:endParaRPr lang="en-AE" sz="2800" dirty="0"/>
                    </a:p>
                  </a:txBody>
                  <a:tcPr marL="140619" marR="140619" marT="70310" marB="70310" anchor="ctr"/>
                </a:tc>
                <a:tc>
                  <a:txBody>
                    <a:bodyPr/>
                    <a:lstStyle/>
                    <a:p>
                      <a:pPr algn="ctr"/>
                      <a:r>
                        <a:rPr lang="en-US" sz="2800"/>
                        <a:t>Value</a:t>
                      </a:r>
                      <a:endParaRPr lang="en-AE" sz="2800"/>
                    </a:p>
                  </a:txBody>
                  <a:tcPr marL="140619" marR="140619" marT="70310" marB="70310" anchor="ctr"/>
                </a:tc>
                <a:extLst>
                  <a:ext uri="{0D108BD9-81ED-4DB2-BD59-A6C34878D82A}">
                    <a16:rowId xmlns:a16="http://schemas.microsoft.com/office/drawing/2014/main" val="928398682"/>
                  </a:ext>
                </a:extLst>
              </a:tr>
              <a:tr h="600072">
                <a:tc>
                  <a:txBody>
                    <a:bodyPr/>
                    <a:lstStyle/>
                    <a:p>
                      <a:pPr algn="ctr"/>
                      <a:r>
                        <a:rPr lang="en-US" sz="2800"/>
                        <a:t>F1 Score</a:t>
                      </a:r>
                      <a:endParaRPr lang="en-AE" sz="280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0.8321</a:t>
                      </a:r>
                      <a:endParaRPr lang="en-AE" sz="2800" b="0" dirty="0"/>
                    </a:p>
                  </a:txBody>
                  <a:tcPr marL="140619" marR="140619" marT="70310" marB="70310" anchor="ctr"/>
                </a:tc>
                <a:extLst>
                  <a:ext uri="{0D108BD9-81ED-4DB2-BD59-A6C34878D82A}">
                    <a16:rowId xmlns:a16="http://schemas.microsoft.com/office/drawing/2014/main" val="575633320"/>
                  </a:ext>
                </a:extLst>
              </a:tr>
              <a:tr h="600072">
                <a:tc>
                  <a:txBody>
                    <a:bodyPr/>
                    <a:lstStyle/>
                    <a:p>
                      <a:pPr algn="ctr"/>
                      <a:r>
                        <a:rPr lang="en-US" sz="2800"/>
                        <a:t>Precision</a:t>
                      </a:r>
                      <a:endParaRPr lang="en-AE" sz="2800" dirty="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0.7856</a:t>
                      </a:r>
                      <a:endParaRPr lang="en-AE" sz="2800" b="0" dirty="0"/>
                    </a:p>
                  </a:txBody>
                  <a:tcPr marL="140619" marR="140619" marT="70310" marB="70310" anchor="ctr"/>
                </a:tc>
                <a:extLst>
                  <a:ext uri="{0D108BD9-81ED-4DB2-BD59-A6C34878D82A}">
                    <a16:rowId xmlns:a16="http://schemas.microsoft.com/office/drawing/2014/main" val="1363281889"/>
                  </a:ext>
                </a:extLst>
              </a:tr>
              <a:tr h="600072">
                <a:tc>
                  <a:txBody>
                    <a:bodyPr/>
                    <a:lstStyle/>
                    <a:p>
                      <a:pPr algn="ctr"/>
                      <a:r>
                        <a:rPr lang="en-US" sz="2800"/>
                        <a:t>Recall</a:t>
                      </a:r>
                      <a:endParaRPr lang="en-AE" sz="280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0.8845</a:t>
                      </a:r>
                      <a:endParaRPr lang="en-AE" sz="2800" b="0" dirty="0"/>
                    </a:p>
                  </a:txBody>
                  <a:tcPr marL="140619" marR="140619" marT="70310" marB="70310" anchor="ctr"/>
                </a:tc>
                <a:extLst>
                  <a:ext uri="{0D108BD9-81ED-4DB2-BD59-A6C34878D82A}">
                    <a16:rowId xmlns:a16="http://schemas.microsoft.com/office/drawing/2014/main" val="3110520177"/>
                  </a:ext>
                </a:extLst>
              </a:tr>
              <a:tr h="600072">
                <a:tc>
                  <a:txBody>
                    <a:bodyPr/>
                    <a:lstStyle/>
                    <a:p>
                      <a:pPr algn="ctr"/>
                      <a:r>
                        <a:rPr lang="en-US" sz="2800"/>
                        <a:t>Overall Accuracy</a:t>
                      </a:r>
                      <a:endParaRPr lang="en-AE" sz="280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0.9789</a:t>
                      </a:r>
                      <a:endParaRPr lang="en-AE" sz="2800" b="0" dirty="0"/>
                    </a:p>
                  </a:txBody>
                  <a:tcPr marL="140619" marR="140619" marT="70310" marB="70310" anchor="ctr"/>
                </a:tc>
                <a:extLst>
                  <a:ext uri="{0D108BD9-81ED-4DB2-BD59-A6C34878D82A}">
                    <a16:rowId xmlns:a16="http://schemas.microsoft.com/office/drawing/2014/main" val="432830027"/>
                  </a:ext>
                </a:extLst>
              </a:tr>
              <a:tr h="1023252">
                <a:tc>
                  <a:txBody>
                    <a:bodyPr/>
                    <a:lstStyle/>
                    <a:p>
                      <a:pPr algn="ctr"/>
                      <a:r>
                        <a:rPr lang="en-US" sz="2800" dirty="0"/>
                        <a:t>Intersection over Union (</a:t>
                      </a:r>
                      <a:r>
                        <a:rPr lang="en-US" sz="2800" dirty="0" err="1"/>
                        <a:t>IoU</a:t>
                      </a:r>
                      <a:r>
                        <a:rPr lang="en-US" sz="2800" dirty="0"/>
                        <a:t>)</a:t>
                      </a:r>
                      <a:endParaRPr lang="en-AE" sz="2800" dirty="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0.7125</a:t>
                      </a:r>
                      <a:endParaRPr lang="en-AE" sz="2800" b="0" dirty="0"/>
                    </a:p>
                  </a:txBody>
                  <a:tcPr marL="140619" marR="140619" marT="70310" marB="70310" anchor="ctr"/>
                </a:tc>
                <a:extLst>
                  <a:ext uri="{0D108BD9-81ED-4DB2-BD59-A6C34878D82A}">
                    <a16:rowId xmlns:a16="http://schemas.microsoft.com/office/drawing/2014/main" val="1282786438"/>
                  </a:ext>
                </a:extLst>
              </a:tr>
              <a:tr h="600072">
                <a:tc>
                  <a:txBody>
                    <a:bodyPr/>
                    <a:lstStyle/>
                    <a:p>
                      <a:pPr algn="ctr"/>
                      <a:r>
                        <a:rPr lang="en-US" sz="2800"/>
                        <a:t>Kappa</a:t>
                      </a:r>
                      <a:endParaRPr lang="en-AE" sz="2800" dirty="0"/>
                    </a:p>
                  </a:txBody>
                  <a:tcPr marL="140619" marR="140619" marT="70310" marB="7031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t>0.8210</a:t>
                      </a:r>
                      <a:endParaRPr lang="en-AE" sz="2800" b="0" dirty="0"/>
                    </a:p>
                  </a:txBody>
                  <a:tcPr marL="140619" marR="140619" marT="70310" marB="70310" anchor="ctr"/>
                </a:tc>
                <a:extLst>
                  <a:ext uri="{0D108BD9-81ED-4DB2-BD59-A6C34878D82A}">
                    <a16:rowId xmlns:a16="http://schemas.microsoft.com/office/drawing/2014/main" val="1867737306"/>
                  </a:ext>
                </a:extLst>
              </a:tr>
            </a:tbl>
          </a:graphicData>
        </a:graphic>
      </p:graphicFrame>
      <p:sp>
        <p:nvSpPr>
          <p:cNvPr id="3" name="TextBox 2">
            <a:extLst>
              <a:ext uri="{FF2B5EF4-FFF2-40B4-BE49-F238E27FC236}">
                <a16:creationId xmlns:a16="http://schemas.microsoft.com/office/drawing/2014/main" id="{3D11F30C-3829-928B-7E59-9D0422C84D40}"/>
              </a:ext>
            </a:extLst>
          </p:cNvPr>
          <p:cNvSpPr txBox="1"/>
          <p:nvPr/>
        </p:nvSpPr>
        <p:spPr>
          <a:xfrm>
            <a:off x="0" y="0"/>
            <a:ext cx="756938" cy="369332"/>
          </a:xfrm>
          <a:prstGeom prst="rect">
            <a:avLst/>
          </a:prstGeom>
          <a:noFill/>
        </p:spPr>
        <p:txBody>
          <a:bodyPr wrap="none" rtlCol="0">
            <a:spAutoFit/>
          </a:bodyPr>
          <a:lstStyle/>
          <a:p>
            <a:r>
              <a:rPr lang="en-US" dirty="0"/>
              <a:t>37/47</a:t>
            </a:r>
            <a:endParaRPr lang="en-AE" dirty="0"/>
          </a:p>
        </p:txBody>
      </p:sp>
    </p:spTree>
    <p:extLst>
      <p:ext uri="{BB962C8B-B14F-4D97-AF65-F5344CB8AC3E}">
        <p14:creationId xmlns:p14="http://schemas.microsoft.com/office/powerpoint/2010/main" val="3594482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EC70B9-0564-1DFF-31E0-ACE52EAE0FB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Confusion Matrix</a:t>
            </a:r>
          </a:p>
        </p:txBody>
      </p:sp>
      <p:pic>
        <p:nvPicPr>
          <p:cNvPr id="3" name="Picture 2">
            <a:extLst>
              <a:ext uri="{FF2B5EF4-FFF2-40B4-BE49-F238E27FC236}">
                <a16:creationId xmlns:a16="http://schemas.microsoft.com/office/drawing/2014/main" id="{3BC48254-A10D-6B41-C115-7ACFAB6B0CD8}"/>
              </a:ext>
            </a:extLst>
          </p:cNvPr>
          <p:cNvPicPr>
            <a:picLocks noChangeAspect="1"/>
          </p:cNvPicPr>
          <p:nvPr/>
        </p:nvPicPr>
        <p:blipFill>
          <a:blip r:embed="rId2"/>
          <a:stretch>
            <a:fillRect/>
          </a:stretch>
        </p:blipFill>
        <p:spPr>
          <a:xfrm>
            <a:off x="4638083" y="857250"/>
            <a:ext cx="6433733" cy="5143500"/>
          </a:xfrm>
          <a:prstGeom prst="rect">
            <a:avLst/>
          </a:prstGeom>
        </p:spPr>
      </p:pic>
      <p:sp>
        <p:nvSpPr>
          <p:cNvPr id="4" name="TextBox 3">
            <a:extLst>
              <a:ext uri="{FF2B5EF4-FFF2-40B4-BE49-F238E27FC236}">
                <a16:creationId xmlns:a16="http://schemas.microsoft.com/office/drawing/2014/main" id="{1A8D69B5-4F6A-C115-26D4-BB68AE091914}"/>
              </a:ext>
            </a:extLst>
          </p:cNvPr>
          <p:cNvSpPr txBox="1"/>
          <p:nvPr/>
        </p:nvSpPr>
        <p:spPr>
          <a:xfrm>
            <a:off x="0" y="0"/>
            <a:ext cx="756938" cy="369332"/>
          </a:xfrm>
          <a:prstGeom prst="rect">
            <a:avLst/>
          </a:prstGeom>
          <a:noFill/>
        </p:spPr>
        <p:txBody>
          <a:bodyPr wrap="none" rtlCol="0">
            <a:spAutoFit/>
          </a:bodyPr>
          <a:lstStyle/>
          <a:p>
            <a:r>
              <a:rPr lang="en-US" dirty="0"/>
              <a:t>38/47</a:t>
            </a:r>
            <a:endParaRPr lang="en-AE" dirty="0"/>
          </a:p>
        </p:txBody>
      </p:sp>
    </p:spTree>
    <p:extLst>
      <p:ext uri="{BB962C8B-B14F-4D97-AF65-F5344CB8AC3E}">
        <p14:creationId xmlns:p14="http://schemas.microsoft.com/office/powerpoint/2010/main" val="1500418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AA6B2A-A2A6-579B-7A51-3AAB572B76B5}"/>
              </a:ext>
            </a:extLst>
          </p:cNvPr>
          <p:cNvPicPr>
            <a:picLocks noChangeAspect="1"/>
          </p:cNvPicPr>
          <p:nvPr/>
        </p:nvPicPr>
        <p:blipFill>
          <a:blip r:embed="rId2"/>
          <a:stretch>
            <a:fillRect/>
          </a:stretch>
        </p:blipFill>
        <p:spPr>
          <a:xfrm>
            <a:off x="2744664" y="0"/>
            <a:ext cx="6702672" cy="6857746"/>
          </a:xfrm>
          <a:prstGeom prst="rect">
            <a:avLst/>
          </a:prstGeom>
        </p:spPr>
      </p:pic>
      <p:sp>
        <p:nvSpPr>
          <p:cNvPr id="3" name="TextBox 2">
            <a:extLst>
              <a:ext uri="{FF2B5EF4-FFF2-40B4-BE49-F238E27FC236}">
                <a16:creationId xmlns:a16="http://schemas.microsoft.com/office/drawing/2014/main" id="{5094CFC0-4986-1B00-7A7B-28657DE75CA4}"/>
              </a:ext>
            </a:extLst>
          </p:cNvPr>
          <p:cNvSpPr txBox="1"/>
          <p:nvPr/>
        </p:nvSpPr>
        <p:spPr>
          <a:xfrm>
            <a:off x="0" y="0"/>
            <a:ext cx="756938" cy="369332"/>
          </a:xfrm>
          <a:prstGeom prst="rect">
            <a:avLst/>
          </a:prstGeom>
          <a:noFill/>
        </p:spPr>
        <p:txBody>
          <a:bodyPr wrap="none" rtlCol="0">
            <a:spAutoFit/>
          </a:bodyPr>
          <a:lstStyle/>
          <a:p>
            <a:r>
              <a:rPr lang="en-US" dirty="0"/>
              <a:t>39/47</a:t>
            </a:r>
            <a:endParaRPr lang="en-AE" dirty="0"/>
          </a:p>
        </p:txBody>
      </p:sp>
    </p:spTree>
    <p:extLst>
      <p:ext uri="{BB962C8B-B14F-4D97-AF65-F5344CB8AC3E}">
        <p14:creationId xmlns:p14="http://schemas.microsoft.com/office/powerpoint/2010/main" val="2294209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5AE2-8722-F898-257B-AF3A16B74631}"/>
              </a:ext>
            </a:extLst>
          </p:cNvPr>
          <p:cNvSpPr>
            <a:spLocks noGrp="1"/>
          </p:cNvSpPr>
          <p:nvPr>
            <p:ph type="title"/>
          </p:nvPr>
        </p:nvSpPr>
        <p:spPr/>
        <p:txBody>
          <a:bodyPr/>
          <a:lstStyle/>
          <a:p>
            <a:r>
              <a:rPr lang="en-US" dirty="0"/>
              <a:t>Fine-Tuned Model Inference Map</a:t>
            </a:r>
            <a:endParaRPr lang="en-AE" dirty="0"/>
          </a:p>
        </p:txBody>
      </p:sp>
      <p:pic>
        <p:nvPicPr>
          <p:cNvPr id="4" name="Picture 3">
            <a:extLst>
              <a:ext uri="{FF2B5EF4-FFF2-40B4-BE49-F238E27FC236}">
                <a16:creationId xmlns:a16="http://schemas.microsoft.com/office/drawing/2014/main" id="{AAEE0C27-A33D-27DF-BF01-B5FD027735D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95270" y="2105247"/>
            <a:ext cx="5632945" cy="4312558"/>
          </a:xfrm>
          <a:prstGeom prst="rect">
            <a:avLst/>
          </a:prstGeom>
        </p:spPr>
      </p:pic>
      <p:sp>
        <p:nvSpPr>
          <p:cNvPr id="10" name="TextBox 9">
            <a:extLst>
              <a:ext uri="{FF2B5EF4-FFF2-40B4-BE49-F238E27FC236}">
                <a16:creationId xmlns:a16="http://schemas.microsoft.com/office/drawing/2014/main" id="{66B0EFA6-BF2F-D5E0-5503-8FBAF84F7E69}"/>
              </a:ext>
            </a:extLst>
          </p:cNvPr>
          <p:cNvSpPr txBox="1"/>
          <p:nvPr/>
        </p:nvSpPr>
        <p:spPr>
          <a:xfrm>
            <a:off x="6842467" y="6416052"/>
            <a:ext cx="4863767" cy="369332"/>
          </a:xfrm>
          <a:prstGeom prst="rect">
            <a:avLst/>
          </a:prstGeom>
          <a:noFill/>
        </p:spPr>
        <p:txBody>
          <a:bodyPr wrap="none" rtlCol="0">
            <a:spAutoFit/>
          </a:bodyPr>
          <a:lstStyle/>
          <a:p>
            <a:r>
              <a:rPr lang="en-US" dirty="0"/>
              <a:t>Fine-Tuned Semi-Supervised Model Predictions</a:t>
            </a:r>
            <a:endParaRPr lang="en-AE" dirty="0"/>
          </a:p>
        </p:txBody>
      </p:sp>
      <p:pic>
        <p:nvPicPr>
          <p:cNvPr id="8" name="Picture 7">
            <a:extLst>
              <a:ext uri="{FF2B5EF4-FFF2-40B4-BE49-F238E27FC236}">
                <a16:creationId xmlns:a16="http://schemas.microsoft.com/office/drawing/2014/main" id="{74D488D5-A49F-29CB-4610-A75422F0D95B}"/>
              </a:ext>
            </a:extLst>
          </p:cNvPr>
          <p:cNvPicPr>
            <a:picLocks noChangeAspect="1"/>
          </p:cNvPicPr>
          <p:nvPr/>
        </p:nvPicPr>
        <p:blipFill>
          <a:blip r:embed="rId4"/>
          <a:srcRect t="4744"/>
          <a:stretch>
            <a:fillRect/>
          </a:stretch>
        </p:blipFill>
        <p:spPr>
          <a:xfrm>
            <a:off x="6316947" y="2105248"/>
            <a:ext cx="5630058" cy="4326260"/>
          </a:xfrm>
          <a:prstGeom prst="rect">
            <a:avLst/>
          </a:prstGeom>
        </p:spPr>
      </p:pic>
      <p:sp>
        <p:nvSpPr>
          <p:cNvPr id="3" name="TextBox 2">
            <a:extLst>
              <a:ext uri="{FF2B5EF4-FFF2-40B4-BE49-F238E27FC236}">
                <a16:creationId xmlns:a16="http://schemas.microsoft.com/office/drawing/2014/main" id="{A339C51F-0590-7869-9166-8650F2DAFAC7}"/>
              </a:ext>
            </a:extLst>
          </p:cNvPr>
          <p:cNvSpPr txBox="1"/>
          <p:nvPr/>
        </p:nvSpPr>
        <p:spPr>
          <a:xfrm>
            <a:off x="295270" y="6416052"/>
            <a:ext cx="5630057" cy="369332"/>
          </a:xfrm>
          <a:prstGeom prst="rect">
            <a:avLst/>
          </a:prstGeom>
          <a:noFill/>
        </p:spPr>
        <p:txBody>
          <a:bodyPr wrap="square" rtlCol="0">
            <a:spAutoFit/>
          </a:bodyPr>
          <a:lstStyle/>
          <a:p>
            <a:r>
              <a:rPr lang="en-US" dirty="0"/>
              <a:t>Pretrained VGG16 on LEVIR-CD Model Predictions</a:t>
            </a:r>
            <a:endParaRPr lang="en-AE" dirty="0"/>
          </a:p>
        </p:txBody>
      </p:sp>
      <p:sp>
        <p:nvSpPr>
          <p:cNvPr id="5" name="TextBox 4">
            <a:extLst>
              <a:ext uri="{FF2B5EF4-FFF2-40B4-BE49-F238E27FC236}">
                <a16:creationId xmlns:a16="http://schemas.microsoft.com/office/drawing/2014/main" id="{94E2E9BE-4368-6A10-1D18-5FC7A783E90F}"/>
              </a:ext>
            </a:extLst>
          </p:cNvPr>
          <p:cNvSpPr txBox="1"/>
          <p:nvPr/>
        </p:nvSpPr>
        <p:spPr>
          <a:xfrm>
            <a:off x="0" y="0"/>
            <a:ext cx="756938" cy="369332"/>
          </a:xfrm>
          <a:prstGeom prst="rect">
            <a:avLst/>
          </a:prstGeom>
          <a:noFill/>
        </p:spPr>
        <p:txBody>
          <a:bodyPr wrap="none" rtlCol="0">
            <a:spAutoFit/>
          </a:bodyPr>
          <a:lstStyle/>
          <a:p>
            <a:r>
              <a:rPr lang="en-US" dirty="0"/>
              <a:t>40/47</a:t>
            </a:r>
            <a:endParaRPr lang="en-AE" dirty="0"/>
          </a:p>
        </p:txBody>
      </p:sp>
    </p:spTree>
    <p:extLst>
      <p:ext uri="{BB962C8B-B14F-4D97-AF65-F5344CB8AC3E}">
        <p14:creationId xmlns:p14="http://schemas.microsoft.com/office/powerpoint/2010/main" val="3614622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53F63B2-9754-E1B8-F2CA-19583BCA65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1128" y="1410390"/>
            <a:ext cx="5294715" cy="4037220"/>
          </a:xfrm>
          <a:prstGeom prst="rect">
            <a:avLst/>
          </a:prstGeom>
        </p:spPr>
      </p:pic>
      <p:sp>
        <p:nvSpPr>
          <p:cNvPr id="7" name="TextBox 6">
            <a:extLst>
              <a:ext uri="{FF2B5EF4-FFF2-40B4-BE49-F238E27FC236}">
                <a16:creationId xmlns:a16="http://schemas.microsoft.com/office/drawing/2014/main" id="{C75251C0-619E-FA25-94CD-09BDAD5FC72A}"/>
              </a:ext>
            </a:extLst>
          </p:cNvPr>
          <p:cNvSpPr txBox="1"/>
          <p:nvPr/>
        </p:nvSpPr>
        <p:spPr>
          <a:xfrm>
            <a:off x="725471" y="5502974"/>
            <a:ext cx="5263107" cy="369332"/>
          </a:xfrm>
          <a:prstGeom prst="rect">
            <a:avLst/>
          </a:prstGeom>
          <a:noFill/>
        </p:spPr>
        <p:txBody>
          <a:bodyPr wrap="none" rtlCol="0">
            <a:spAutoFit/>
          </a:bodyPr>
          <a:lstStyle/>
          <a:p>
            <a:r>
              <a:rPr lang="en-US" dirty="0"/>
              <a:t>Pretrained VGG16 on LEVIR-CD Model Predictions</a:t>
            </a:r>
            <a:endParaRPr lang="en-AE" dirty="0"/>
          </a:p>
        </p:txBody>
      </p:sp>
      <p:sp>
        <p:nvSpPr>
          <p:cNvPr id="8" name="TextBox 7">
            <a:extLst>
              <a:ext uri="{FF2B5EF4-FFF2-40B4-BE49-F238E27FC236}">
                <a16:creationId xmlns:a16="http://schemas.microsoft.com/office/drawing/2014/main" id="{28D02F79-C50A-D698-E732-5B8B19AEC506}"/>
              </a:ext>
            </a:extLst>
          </p:cNvPr>
          <p:cNvSpPr txBox="1"/>
          <p:nvPr/>
        </p:nvSpPr>
        <p:spPr>
          <a:xfrm>
            <a:off x="6465590" y="5502974"/>
            <a:ext cx="4863767" cy="369332"/>
          </a:xfrm>
          <a:prstGeom prst="rect">
            <a:avLst/>
          </a:prstGeom>
          <a:noFill/>
        </p:spPr>
        <p:txBody>
          <a:bodyPr wrap="none" rtlCol="0">
            <a:spAutoFit/>
          </a:bodyPr>
          <a:lstStyle/>
          <a:p>
            <a:r>
              <a:rPr lang="en-US" dirty="0"/>
              <a:t>Fine-Tuned Semi-Supervised Model Predictions</a:t>
            </a:r>
            <a:endParaRPr lang="en-AE" dirty="0"/>
          </a:p>
        </p:txBody>
      </p:sp>
      <p:pic>
        <p:nvPicPr>
          <p:cNvPr id="4" name="Picture 3">
            <a:extLst>
              <a:ext uri="{FF2B5EF4-FFF2-40B4-BE49-F238E27FC236}">
                <a16:creationId xmlns:a16="http://schemas.microsoft.com/office/drawing/2014/main" id="{30AD9486-5723-DCB0-A5F5-A1A5ADA67C31}"/>
              </a:ext>
            </a:extLst>
          </p:cNvPr>
          <p:cNvPicPr>
            <a:picLocks noChangeAspect="1"/>
          </p:cNvPicPr>
          <p:nvPr/>
        </p:nvPicPr>
        <p:blipFill>
          <a:blip r:embed="rId3"/>
          <a:srcRect l="4516" t="2366" b="8580"/>
          <a:stretch>
            <a:fillRect/>
          </a:stretch>
        </p:blipFill>
        <p:spPr>
          <a:xfrm>
            <a:off x="6288319" y="1303465"/>
            <a:ext cx="5218309" cy="4144145"/>
          </a:xfrm>
          <a:prstGeom prst="rect">
            <a:avLst/>
          </a:prstGeom>
        </p:spPr>
      </p:pic>
      <p:sp>
        <p:nvSpPr>
          <p:cNvPr id="2" name="TextBox 1">
            <a:extLst>
              <a:ext uri="{FF2B5EF4-FFF2-40B4-BE49-F238E27FC236}">
                <a16:creationId xmlns:a16="http://schemas.microsoft.com/office/drawing/2014/main" id="{41690F76-E5B1-65A8-8407-D114EF0A0F24}"/>
              </a:ext>
            </a:extLst>
          </p:cNvPr>
          <p:cNvSpPr txBox="1"/>
          <p:nvPr/>
        </p:nvSpPr>
        <p:spPr>
          <a:xfrm>
            <a:off x="0" y="0"/>
            <a:ext cx="756938" cy="369332"/>
          </a:xfrm>
          <a:prstGeom prst="rect">
            <a:avLst/>
          </a:prstGeom>
          <a:noFill/>
        </p:spPr>
        <p:txBody>
          <a:bodyPr wrap="none" rtlCol="0">
            <a:spAutoFit/>
          </a:bodyPr>
          <a:lstStyle/>
          <a:p>
            <a:r>
              <a:rPr lang="en-US" dirty="0"/>
              <a:t>41/47</a:t>
            </a:r>
            <a:endParaRPr lang="en-AE" dirty="0"/>
          </a:p>
        </p:txBody>
      </p:sp>
    </p:spTree>
    <p:extLst>
      <p:ext uri="{BB962C8B-B14F-4D97-AF65-F5344CB8AC3E}">
        <p14:creationId xmlns:p14="http://schemas.microsoft.com/office/powerpoint/2010/main" val="2623932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953CCC-81A1-B7CC-A920-F2532BAE1682}"/>
              </a:ext>
            </a:extLst>
          </p:cNvPr>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a:solidFill>
                  <a:schemeClr val="tx1"/>
                </a:solidFill>
                <a:latin typeface="+mj-lt"/>
                <a:ea typeface="+mj-ea"/>
                <a:cs typeface="+mj-cs"/>
              </a:rPr>
              <a:t>Ablation Study</a:t>
            </a:r>
          </a:p>
        </p:txBody>
      </p:sp>
      <p:sp>
        <p:nvSpPr>
          <p:cNvPr id="3" name="Content Placeholder 2">
            <a:extLst>
              <a:ext uri="{FF2B5EF4-FFF2-40B4-BE49-F238E27FC236}">
                <a16:creationId xmlns:a16="http://schemas.microsoft.com/office/drawing/2014/main" id="{C6941268-731F-981A-1007-2309417C4141}"/>
              </a:ext>
            </a:extLst>
          </p:cNvPr>
          <p:cNvSpPr>
            <a:spLocks noGrp="1"/>
          </p:cNvSpPr>
          <p:nvPr>
            <p:ph idx="1"/>
          </p:nvPr>
        </p:nvSpPr>
        <p:spPr>
          <a:xfrm>
            <a:off x="1452656" y="2701427"/>
            <a:ext cx="4483324" cy="2699968"/>
          </a:xfrm>
        </p:spPr>
        <p:txBody>
          <a:bodyPr vert="horz" lIns="91440" tIns="45720" rIns="91440" bIns="45720" rtlCol="0" anchor="t">
            <a:normAutofit lnSpcReduction="10000"/>
          </a:bodyPr>
          <a:lstStyle/>
          <a:p>
            <a:r>
              <a:rPr lang="en-US" sz="1600" b="1" dirty="0"/>
              <a:t>Fine-Tuning a checkpoint pretrained on LEVIR-CD:</a:t>
            </a:r>
          </a:p>
          <a:p>
            <a:r>
              <a:rPr lang="en-US" sz="1600" dirty="0"/>
              <a:t>F1: 0.8153, Precision: 0.7551, Recall: 0.8860, OA: 0.9763, Kappa: 0.8028, </a:t>
            </a:r>
            <a:r>
              <a:rPr lang="en-US" sz="1600" dirty="0" err="1"/>
              <a:t>IoU</a:t>
            </a:r>
            <a:r>
              <a:rPr lang="en-US" sz="1600" dirty="0"/>
              <a:t>: 0.6883</a:t>
            </a:r>
          </a:p>
          <a:p>
            <a:r>
              <a:rPr lang="en-US" sz="1600" b="1" dirty="0"/>
              <a:t>From scratch Fully Supervised training:</a:t>
            </a:r>
          </a:p>
          <a:p>
            <a:r>
              <a:rPr lang="en-US" sz="1600" dirty="0"/>
              <a:t>F1: 0.8048, Precision: 0.7242, Recall: 0.9055, OA: 0.9741, Kappa: 0.7911, </a:t>
            </a:r>
            <a:r>
              <a:rPr lang="en-US" sz="1600" dirty="0" err="1"/>
              <a:t>IoU</a:t>
            </a:r>
            <a:r>
              <a:rPr lang="en-US" sz="1600" dirty="0"/>
              <a:t>: 0.6733</a:t>
            </a:r>
          </a:p>
          <a:p>
            <a:r>
              <a:rPr lang="en-US" sz="1600" b="1" dirty="0"/>
              <a:t>From scratch Semi-Supervised training:</a:t>
            </a:r>
          </a:p>
          <a:p>
            <a:r>
              <a:rPr lang="en-US" sz="1600" dirty="0"/>
              <a:t>F1: 0.8321, Precision:0.7856, Recall: 0.8845, OA: 0.9789, Kappa: 0.8210, </a:t>
            </a:r>
            <a:r>
              <a:rPr lang="en-US" sz="1600" dirty="0" err="1"/>
              <a:t>IoU</a:t>
            </a:r>
            <a:r>
              <a:rPr lang="en-US" sz="1600" dirty="0"/>
              <a:t>: 0.7125</a:t>
            </a:r>
          </a:p>
        </p:txBody>
      </p:sp>
      <p:sp>
        <p:nvSpPr>
          <p:cNvPr id="5" name="TextBox 4">
            <a:extLst>
              <a:ext uri="{FF2B5EF4-FFF2-40B4-BE49-F238E27FC236}">
                <a16:creationId xmlns:a16="http://schemas.microsoft.com/office/drawing/2014/main" id="{801B6DD6-F3DE-C9BA-7719-C23A68312820}"/>
              </a:ext>
            </a:extLst>
          </p:cNvPr>
          <p:cNvSpPr txBox="1"/>
          <p:nvPr/>
        </p:nvSpPr>
        <p:spPr>
          <a:xfrm>
            <a:off x="6256020" y="2701427"/>
            <a:ext cx="4554501" cy="2699968"/>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p>
            <a:pPr indent="-228600" algn="just">
              <a:lnSpc>
                <a:spcPct val="90000"/>
              </a:lnSpc>
              <a:spcAft>
                <a:spcPts val="600"/>
              </a:spcAft>
              <a:buFont typeface="Arial" panose="020B0604020202020204" pitchFamily="34" charset="0"/>
              <a:buChar char="•"/>
            </a:pPr>
            <a:r>
              <a:rPr lang="en-US" sz="2000" dirty="0">
                <a:solidFill>
                  <a:schemeClr val="tx1"/>
                </a:solidFill>
              </a:rPr>
              <a:t>The </a:t>
            </a:r>
            <a:r>
              <a:rPr lang="en-AE" dirty="0"/>
              <a:t>378 </a:t>
            </a:r>
            <a:r>
              <a:rPr lang="en-US" sz="2000" dirty="0">
                <a:solidFill>
                  <a:schemeClr val="tx1"/>
                </a:solidFill>
              </a:rPr>
              <a:t>unlabeled samples, even without ground truth, provided useful structural information about what Dubai buildings look like that neither supervised baseline could access.</a:t>
            </a:r>
          </a:p>
        </p:txBody>
      </p:sp>
      <p:sp>
        <p:nvSpPr>
          <p:cNvPr id="4" name="TextBox 3">
            <a:extLst>
              <a:ext uri="{FF2B5EF4-FFF2-40B4-BE49-F238E27FC236}">
                <a16:creationId xmlns:a16="http://schemas.microsoft.com/office/drawing/2014/main" id="{5254B83B-BC00-6AE6-E93B-1B49F124252F}"/>
              </a:ext>
            </a:extLst>
          </p:cNvPr>
          <p:cNvSpPr txBox="1"/>
          <p:nvPr/>
        </p:nvSpPr>
        <p:spPr>
          <a:xfrm>
            <a:off x="0" y="0"/>
            <a:ext cx="756938" cy="369332"/>
          </a:xfrm>
          <a:prstGeom prst="rect">
            <a:avLst/>
          </a:prstGeom>
          <a:noFill/>
        </p:spPr>
        <p:txBody>
          <a:bodyPr wrap="none" rtlCol="0">
            <a:spAutoFit/>
          </a:bodyPr>
          <a:lstStyle/>
          <a:p>
            <a:r>
              <a:rPr lang="en-US" dirty="0"/>
              <a:t>42/47</a:t>
            </a:r>
            <a:endParaRPr lang="en-AE" dirty="0"/>
          </a:p>
        </p:txBody>
      </p:sp>
    </p:spTree>
    <p:extLst>
      <p:ext uri="{BB962C8B-B14F-4D97-AF65-F5344CB8AC3E}">
        <p14:creationId xmlns:p14="http://schemas.microsoft.com/office/powerpoint/2010/main" val="11649046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4C4208-C2DC-4AE8-074F-ABCE82840B60}"/>
              </a:ext>
            </a:extLst>
          </p:cNvPr>
          <p:cNvSpPr>
            <a:spLocks noGrp="1"/>
          </p:cNvSpPr>
          <p:nvPr>
            <p:ph type="title"/>
          </p:nvPr>
        </p:nvSpPr>
        <p:spPr>
          <a:xfrm>
            <a:off x="838200" y="365125"/>
            <a:ext cx="10515600" cy="1325563"/>
          </a:xfrm>
        </p:spPr>
        <p:txBody>
          <a:bodyPr>
            <a:normAutofit/>
          </a:bodyPr>
          <a:lstStyle/>
          <a:p>
            <a:r>
              <a:rPr lang="en-US" sz="5400"/>
              <a:t>Project Challenges</a:t>
            </a:r>
            <a:endParaRPr lang="en-AE" sz="5400"/>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85E959F1-9465-A872-41B1-804D9CA05E41}"/>
              </a:ext>
            </a:extLst>
          </p:cNvPr>
          <p:cNvSpPr>
            <a:spLocks noGrp="1"/>
          </p:cNvSpPr>
          <p:nvPr>
            <p:ph idx="1"/>
          </p:nvPr>
        </p:nvSpPr>
        <p:spPr>
          <a:xfrm>
            <a:off x="838200" y="1929384"/>
            <a:ext cx="10515600" cy="4251960"/>
          </a:xfrm>
        </p:spPr>
        <p:txBody>
          <a:bodyPr>
            <a:normAutofit lnSpcReduction="10000"/>
          </a:bodyPr>
          <a:lstStyle/>
          <a:p>
            <a:r>
              <a:rPr lang="en-US" sz="2200" dirty="0"/>
              <a:t>The lack of annotated building masks (shapefile) presented a challenge in evaluating the accuracy of the model without ground-truth values.</a:t>
            </a:r>
          </a:p>
          <a:p>
            <a:pPr lvl="1"/>
            <a:r>
              <a:rPr lang="en-US" sz="2200" dirty="0"/>
              <a:t>Addressed by manual annotations and semi-supervised learning.</a:t>
            </a:r>
          </a:p>
          <a:p>
            <a:r>
              <a:rPr lang="en-US" sz="2200" dirty="0"/>
              <a:t>Misalignment between the two scans, with the 2019 scan aligning to the correct basemap while the 2023 scan has some differences. Additionally, differences in image resolution and dimensions.</a:t>
            </a:r>
          </a:p>
          <a:p>
            <a:pPr lvl="1"/>
            <a:r>
              <a:rPr lang="en-US" sz="2200" dirty="0"/>
              <a:t>Addressed by co-registration through several tools: georeferencing with manual control points, resample, and clip raster on ArcGIS Pro.</a:t>
            </a:r>
          </a:p>
          <a:p>
            <a:r>
              <a:rPr lang="en-US" sz="2200" dirty="0"/>
              <a:t>Mask blob challenge</a:t>
            </a:r>
          </a:p>
          <a:p>
            <a:pPr lvl="1"/>
            <a:r>
              <a:rPr lang="en-US" sz="1800" dirty="0"/>
              <a:t>Addressed by making architectural changes to the model decoder</a:t>
            </a:r>
          </a:p>
          <a:p>
            <a:r>
              <a:rPr lang="en-US" sz="2200" dirty="0"/>
              <a:t>Computational and time limitations in model training and processing.</a:t>
            </a:r>
          </a:p>
          <a:p>
            <a:pPr lvl="1"/>
            <a:r>
              <a:rPr lang="en-US" sz="2200" dirty="0"/>
              <a:t>Partially addressed through tiling.</a:t>
            </a:r>
          </a:p>
        </p:txBody>
      </p:sp>
      <p:sp>
        <p:nvSpPr>
          <p:cNvPr id="3" name="TextBox 2">
            <a:extLst>
              <a:ext uri="{FF2B5EF4-FFF2-40B4-BE49-F238E27FC236}">
                <a16:creationId xmlns:a16="http://schemas.microsoft.com/office/drawing/2014/main" id="{F39050B4-B0B4-142A-2EF8-EA5D26762EA8}"/>
              </a:ext>
            </a:extLst>
          </p:cNvPr>
          <p:cNvSpPr txBox="1"/>
          <p:nvPr/>
        </p:nvSpPr>
        <p:spPr>
          <a:xfrm>
            <a:off x="0" y="0"/>
            <a:ext cx="756938" cy="369332"/>
          </a:xfrm>
          <a:prstGeom prst="rect">
            <a:avLst/>
          </a:prstGeom>
          <a:noFill/>
        </p:spPr>
        <p:txBody>
          <a:bodyPr wrap="none" rtlCol="0">
            <a:spAutoFit/>
          </a:bodyPr>
          <a:lstStyle/>
          <a:p>
            <a:r>
              <a:rPr lang="en-US" dirty="0"/>
              <a:t>43/47</a:t>
            </a:r>
            <a:endParaRPr lang="en-AE" dirty="0"/>
          </a:p>
        </p:txBody>
      </p:sp>
    </p:spTree>
    <p:extLst>
      <p:ext uri="{BB962C8B-B14F-4D97-AF65-F5344CB8AC3E}">
        <p14:creationId xmlns:p14="http://schemas.microsoft.com/office/powerpoint/2010/main" val="279927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5F3B74-E203-657C-8FC1-AD8AF26B954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948DAD-6640-1718-28B1-CB85F05391E8}"/>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a:t>Mask Blob Challenge</a:t>
            </a:r>
          </a:p>
        </p:txBody>
      </p:sp>
      <p:grpSp>
        <p:nvGrpSpPr>
          <p:cNvPr id="23" name="Group 2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8" name="Rectangle 1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2F0C5E35-C5A6-5FCE-FA26-D768F1BE77DD}"/>
              </a:ext>
            </a:extLst>
          </p:cNvPr>
          <p:cNvSpPr>
            <a:spLocks noGrp="1"/>
          </p:cNvSpPr>
          <p:nvPr>
            <p:ph idx="1"/>
          </p:nvPr>
        </p:nvSpPr>
        <p:spPr>
          <a:xfrm>
            <a:off x="590719" y="2330505"/>
            <a:ext cx="4559425" cy="3979585"/>
          </a:xfrm>
        </p:spPr>
        <p:txBody>
          <a:bodyPr anchor="ctr">
            <a:normAutofit/>
          </a:bodyPr>
          <a:lstStyle/>
          <a:p>
            <a:pPr algn="just"/>
            <a:r>
              <a:rPr lang="en-US" sz="1400" dirty="0"/>
              <a:t>The original model architecture discarded high-resolution, shallow features (l1 and l2) from the encoder, passing only low-resolution, deep features (l3, l4, l5) to the decoder. Because deep features identify what changed but lack the resolution to pinpoint where exact boundaries are, the model struggled to draw clean, distinct lines between adjacent structures.</a:t>
            </a:r>
          </a:p>
          <a:p>
            <a:pPr algn="just"/>
            <a:r>
              <a:rPr lang="en-US" sz="1400" dirty="0"/>
              <a:t>The architecture was updated to include skip connections from all five encoder stages.</a:t>
            </a:r>
          </a:p>
          <a:p>
            <a:pPr algn="just"/>
            <a:r>
              <a:rPr lang="en-US" sz="1400" dirty="0"/>
              <a:t>The decoder now progressively </a:t>
            </a:r>
            <a:r>
              <a:rPr lang="en-US" sz="1400" dirty="0" err="1"/>
              <a:t>upsamples</a:t>
            </a:r>
            <a:r>
              <a:rPr lang="en-US" sz="1400" dirty="0"/>
              <a:t> from the lowest resolution (1/16) back to full resolution, concatenating the corresponding encoder features at each step. This allows the model to combine mid-scale structure, edge awareness, and fine spatial details, resulting in crisp and accurate boundaries.</a:t>
            </a:r>
          </a:p>
        </p:txBody>
      </p:sp>
      <p:sp>
        <p:nvSpPr>
          <p:cNvPr id="29" name="Rectangle 2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3174325-8907-E2DC-E854-686B3A7CFCFA}"/>
              </a:ext>
            </a:extLst>
          </p:cNvPr>
          <p:cNvPicPr>
            <a:picLocks noChangeAspect="1"/>
          </p:cNvPicPr>
          <p:nvPr/>
        </p:nvPicPr>
        <p:blipFill>
          <a:blip r:embed="rId2"/>
          <a:srcRect l="452" r="-1" b="-1"/>
          <a:stretch>
            <a:fillRect/>
          </a:stretch>
        </p:blipFill>
        <p:spPr>
          <a:xfrm>
            <a:off x="5977788" y="799352"/>
            <a:ext cx="5425410" cy="5259296"/>
          </a:xfrm>
          <a:prstGeom prst="rect">
            <a:avLst/>
          </a:prstGeom>
        </p:spPr>
      </p:pic>
      <p:sp>
        <p:nvSpPr>
          <p:cNvPr id="5" name="TextBox 4">
            <a:extLst>
              <a:ext uri="{FF2B5EF4-FFF2-40B4-BE49-F238E27FC236}">
                <a16:creationId xmlns:a16="http://schemas.microsoft.com/office/drawing/2014/main" id="{5A75B913-FC0C-8324-03D3-7D4F5B1D1201}"/>
              </a:ext>
            </a:extLst>
          </p:cNvPr>
          <p:cNvSpPr txBox="1"/>
          <p:nvPr/>
        </p:nvSpPr>
        <p:spPr>
          <a:xfrm>
            <a:off x="0" y="0"/>
            <a:ext cx="756938" cy="369332"/>
          </a:xfrm>
          <a:prstGeom prst="rect">
            <a:avLst/>
          </a:prstGeom>
          <a:noFill/>
        </p:spPr>
        <p:txBody>
          <a:bodyPr wrap="none" rtlCol="0">
            <a:spAutoFit/>
          </a:bodyPr>
          <a:lstStyle/>
          <a:p>
            <a:r>
              <a:rPr lang="en-US" dirty="0"/>
              <a:t>44/47</a:t>
            </a:r>
            <a:endParaRPr lang="en-AE" dirty="0"/>
          </a:p>
        </p:txBody>
      </p:sp>
    </p:spTree>
    <p:extLst>
      <p:ext uri="{BB962C8B-B14F-4D97-AF65-F5344CB8AC3E}">
        <p14:creationId xmlns:p14="http://schemas.microsoft.com/office/powerpoint/2010/main" val="483531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8A4AAD-BD07-FBAB-3A9F-C951FA7C0F3C}"/>
              </a:ext>
            </a:extLst>
          </p:cNvPr>
          <p:cNvSpPr>
            <a:spLocks noGrp="1"/>
          </p:cNvSpPr>
          <p:nvPr>
            <p:ph type="title"/>
          </p:nvPr>
        </p:nvSpPr>
        <p:spPr>
          <a:xfrm>
            <a:off x="638881" y="158076"/>
            <a:ext cx="10909640" cy="1368614"/>
          </a:xfrm>
        </p:spPr>
        <p:txBody>
          <a:bodyPr vert="horz" lIns="91440" tIns="45720" rIns="91440" bIns="45720" rtlCol="0" anchor="ctr">
            <a:normAutofit/>
          </a:bodyPr>
          <a:lstStyle/>
          <a:p>
            <a:pPr algn="ctr"/>
            <a:r>
              <a:rPr lang="en-US" sz="6600" dirty="0"/>
              <a:t>Mask Blob Challenge</a:t>
            </a:r>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0929FA2-05A8-6432-609C-BDAA2A649850}"/>
              </a:ext>
            </a:extLst>
          </p:cNvPr>
          <p:cNvPicPr>
            <a:picLocks noChangeAspect="1"/>
          </p:cNvPicPr>
          <p:nvPr/>
        </p:nvPicPr>
        <p:blipFill>
          <a:blip r:embed="rId2"/>
          <a:stretch>
            <a:fillRect/>
          </a:stretch>
        </p:blipFill>
        <p:spPr>
          <a:xfrm>
            <a:off x="638881" y="1966230"/>
            <a:ext cx="5069192" cy="4891770"/>
          </a:xfrm>
          <a:prstGeom prst="rect">
            <a:avLst/>
          </a:prstGeom>
        </p:spPr>
      </p:pic>
      <p:pic>
        <p:nvPicPr>
          <p:cNvPr id="5" name="Content Placeholder 4">
            <a:extLst>
              <a:ext uri="{FF2B5EF4-FFF2-40B4-BE49-F238E27FC236}">
                <a16:creationId xmlns:a16="http://schemas.microsoft.com/office/drawing/2014/main" id="{CB1FA714-839A-2BBC-2633-4494FB5FA10E}"/>
              </a:ext>
            </a:extLst>
          </p:cNvPr>
          <p:cNvPicPr>
            <a:picLocks noGrp="1" noChangeAspect="1"/>
          </p:cNvPicPr>
          <p:nvPr>
            <p:ph idx="1"/>
          </p:nvPr>
        </p:nvPicPr>
        <p:blipFill>
          <a:blip r:embed="rId3"/>
          <a:stretch>
            <a:fillRect/>
          </a:stretch>
        </p:blipFill>
        <p:spPr>
          <a:xfrm>
            <a:off x="6483929" y="1966230"/>
            <a:ext cx="5001489" cy="4813934"/>
          </a:xfrm>
          <a:prstGeom prst="rect">
            <a:avLst/>
          </a:prstGeom>
        </p:spPr>
      </p:pic>
      <p:sp>
        <p:nvSpPr>
          <p:cNvPr id="10" name="TextBox 9">
            <a:extLst>
              <a:ext uri="{FF2B5EF4-FFF2-40B4-BE49-F238E27FC236}">
                <a16:creationId xmlns:a16="http://schemas.microsoft.com/office/drawing/2014/main" id="{F905D5E0-2775-5850-EDC5-8F6AF44CA984}"/>
              </a:ext>
            </a:extLst>
          </p:cNvPr>
          <p:cNvSpPr txBox="1"/>
          <p:nvPr/>
        </p:nvSpPr>
        <p:spPr>
          <a:xfrm>
            <a:off x="638881" y="1461393"/>
            <a:ext cx="5288884" cy="369332"/>
          </a:xfrm>
          <a:prstGeom prst="rect">
            <a:avLst/>
          </a:prstGeom>
          <a:noFill/>
        </p:spPr>
        <p:txBody>
          <a:bodyPr wrap="none" rtlCol="0">
            <a:spAutoFit/>
          </a:bodyPr>
          <a:lstStyle/>
          <a:p>
            <a:r>
              <a:rPr lang="en-US" dirty="0"/>
              <a:t>Model predictions before architectural modification</a:t>
            </a:r>
            <a:endParaRPr lang="en-AE" dirty="0"/>
          </a:p>
        </p:txBody>
      </p:sp>
      <p:sp>
        <p:nvSpPr>
          <p:cNvPr id="11" name="TextBox 10">
            <a:extLst>
              <a:ext uri="{FF2B5EF4-FFF2-40B4-BE49-F238E27FC236}">
                <a16:creationId xmlns:a16="http://schemas.microsoft.com/office/drawing/2014/main" id="{55E2DF5A-3868-5D41-33C9-453A7FE21F63}"/>
              </a:ext>
            </a:extLst>
          </p:cNvPr>
          <p:cNvSpPr txBox="1"/>
          <p:nvPr/>
        </p:nvSpPr>
        <p:spPr>
          <a:xfrm>
            <a:off x="6264237" y="1460000"/>
            <a:ext cx="5115631" cy="369332"/>
          </a:xfrm>
          <a:prstGeom prst="rect">
            <a:avLst/>
          </a:prstGeom>
          <a:noFill/>
        </p:spPr>
        <p:txBody>
          <a:bodyPr wrap="none" rtlCol="0">
            <a:spAutoFit/>
          </a:bodyPr>
          <a:lstStyle/>
          <a:p>
            <a:r>
              <a:rPr lang="en-US" dirty="0"/>
              <a:t>Model predictions after architectural modification</a:t>
            </a:r>
            <a:endParaRPr lang="en-AE" dirty="0"/>
          </a:p>
        </p:txBody>
      </p:sp>
      <p:sp>
        <p:nvSpPr>
          <p:cNvPr id="3" name="TextBox 2">
            <a:extLst>
              <a:ext uri="{FF2B5EF4-FFF2-40B4-BE49-F238E27FC236}">
                <a16:creationId xmlns:a16="http://schemas.microsoft.com/office/drawing/2014/main" id="{C780BA22-3058-4610-7FB4-DCDCE4D1DED4}"/>
              </a:ext>
            </a:extLst>
          </p:cNvPr>
          <p:cNvSpPr txBox="1"/>
          <p:nvPr/>
        </p:nvSpPr>
        <p:spPr>
          <a:xfrm>
            <a:off x="0" y="0"/>
            <a:ext cx="756938" cy="369332"/>
          </a:xfrm>
          <a:prstGeom prst="rect">
            <a:avLst/>
          </a:prstGeom>
          <a:noFill/>
        </p:spPr>
        <p:txBody>
          <a:bodyPr wrap="none" rtlCol="0">
            <a:spAutoFit/>
          </a:bodyPr>
          <a:lstStyle/>
          <a:p>
            <a:r>
              <a:rPr lang="en-US" dirty="0"/>
              <a:t>45/47</a:t>
            </a:r>
            <a:endParaRPr lang="en-AE" dirty="0"/>
          </a:p>
        </p:txBody>
      </p:sp>
    </p:spTree>
    <p:extLst>
      <p:ext uri="{BB962C8B-B14F-4D97-AF65-F5344CB8AC3E}">
        <p14:creationId xmlns:p14="http://schemas.microsoft.com/office/powerpoint/2010/main" val="3475725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0CE3C4-842E-C937-B9BC-910A25F5BC14}"/>
              </a:ext>
            </a:extLst>
          </p:cNvPr>
          <p:cNvSpPr>
            <a:spLocks noGrp="1"/>
          </p:cNvSpPr>
          <p:nvPr>
            <p:ph type="title"/>
          </p:nvPr>
        </p:nvSpPr>
        <p:spPr>
          <a:xfrm>
            <a:off x="686834" y="1153572"/>
            <a:ext cx="3200400" cy="4461163"/>
          </a:xfrm>
        </p:spPr>
        <p:txBody>
          <a:bodyPr>
            <a:normAutofit/>
          </a:bodyPr>
          <a:lstStyle/>
          <a:p>
            <a:r>
              <a:rPr lang="en-US">
                <a:solidFill>
                  <a:srgbClr val="FFFFFF"/>
                </a:solidFill>
              </a:rPr>
              <a:t>Future Work</a:t>
            </a:r>
            <a:endParaRPr lang="en-AE">
              <a:solidFill>
                <a:srgbClr val="FFFFFF"/>
              </a:solidFill>
            </a:endParaRP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409DFBF-1115-D549-B0AC-023DC7604974}"/>
              </a:ext>
            </a:extLst>
          </p:cNvPr>
          <p:cNvSpPr>
            <a:spLocks noGrp="1"/>
          </p:cNvSpPr>
          <p:nvPr>
            <p:ph idx="1"/>
          </p:nvPr>
        </p:nvSpPr>
        <p:spPr>
          <a:xfrm>
            <a:off x="4447308" y="591344"/>
            <a:ext cx="6906491" cy="5585619"/>
          </a:xfrm>
        </p:spPr>
        <p:txBody>
          <a:bodyPr anchor="ctr">
            <a:normAutofit/>
          </a:bodyPr>
          <a:lstStyle/>
          <a:p>
            <a:r>
              <a:rPr lang="en-US"/>
              <a:t>Experiment with different train/test/validation splits.</a:t>
            </a:r>
          </a:p>
          <a:p>
            <a:r>
              <a:rPr lang="en-US" dirty="0"/>
              <a:t>Experiment with different neural network architectures (e.g. </a:t>
            </a:r>
            <a:r>
              <a:rPr lang="en-US" dirty="0" err="1"/>
              <a:t>ResNet</a:t>
            </a:r>
            <a:r>
              <a:rPr lang="en-US" dirty="0"/>
              <a:t>)</a:t>
            </a:r>
          </a:p>
          <a:p>
            <a:r>
              <a:rPr lang="en-US" dirty="0"/>
              <a:t>Experiment with different loss function (e.g. Binary Cross-Entropy)</a:t>
            </a:r>
          </a:p>
          <a:p>
            <a:r>
              <a:rPr lang="en-US"/>
              <a:t>Tuning model hyperparameters (epochs, batch size, learning rate, etc...)</a:t>
            </a:r>
            <a:endParaRPr lang="en-AE" dirty="0"/>
          </a:p>
          <a:p>
            <a:r>
              <a:rPr lang="en-US">
                <a:solidFill>
                  <a:srgbClr val="000000"/>
                </a:solidFill>
                <a:latin typeface="Aptos"/>
                <a:ea typeface="Roboto"/>
                <a:cs typeface="Roboto"/>
              </a:rPr>
              <a:t>Morphological post processing of predicted masks</a:t>
            </a:r>
            <a:endParaRPr lang="en-US" dirty="0"/>
          </a:p>
        </p:txBody>
      </p:sp>
      <p:sp>
        <p:nvSpPr>
          <p:cNvPr id="4" name="TextBox 3">
            <a:extLst>
              <a:ext uri="{FF2B5EF4-FFF2-40B4-BE49-F238E27FC236}">
                <a16:creationId xmlns:a16="http://schemas.microsoft.com/office/drawing/2014/main" id="{B22A7A0C-2F27-07AA-3087-3C0EB85212D8}"/>
              </a:ext>
            </a:extLst>
          </p:cNvPr>
          <p:cNvSpPr txBox="1"/>
          <p:nvPr/>
        </p:nvSpPr>
        <p:spPr>
          <a:xfrm>
            <a:off x="0" y="0"/>
            <a:ext cx="756938" cy="369332"/>
          </a:xfrm>
          <a:prstGeom prst="rect">
            <a:avLst/>
          </a:prstGeom>
          <a:noFill/>
        </p:spPr>
        <p:txBody>
          <a:bodyPr wrap="none" rtlCol="0">
            <a:spAutoFit/>
          </a:bodyPr>
          <a:lstStyle/>
          <a:p>
            <a:r>
              <a:rPr lang="en-US" dirty="0"/>
              <a:t>46/47</a:t>
            </a:r>
            <a:endParaRPr lang="en-AE" dirty="0"/>
          </a:p>
        </p:txBody>
      </p:sp>
    </p:spTree>
    <p:extLst>
      <p:ext uri="{BB962C8B-B14F-4D97-AF65-F5344CB8AC3E}">
        <p14:creationId xmlns:p14="http://schemas.microsoft.com/office/powerpoint/2010/main" val="1654319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8DDA986-B6EE-4642-AC60-0490373E69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B62878-12EF-4E97-A284-47BAFC30D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D79188D-1ED5-4705-B8C7-5D6FB7670A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514" y="685800"/>
            <a:ext cx="10800972"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66A6A8-A0B9-FA54-1482-5A30292C39F1}"/>
              </a:ext>
            </a:extLst>
          </p:cNvPr>
          <p:cNvSpPr>
            <a:spLocks noGrp="1"/>
          </p:cNvSpPr>
          <p:nvPr>
            <p:ph type="title"/>
          </p:nvPr>
        </p:nvSpPr>
        <p:spPr>
          <a:xfrm>
            <a:off x="1616054" y="1261137"/>
            <a:ext cx="8959893" cy="888360"/>
          </a:xfrm>
        </p:spPr>
        <p:txBody>
          <a:bodyPr anchor="b">
            <a:normAutofit/>
          </a:bodyPr>
          <a:lstStyle/>
          <a:p>
            <a:pPr algn="ctr"/>
            <a:r>
              <a:rPr lang="en-US" sz="3200">
                <a:solidFill>
                  <a:schemeClr val="tx1">
                    <a:lumMod val="65000"/>
                    <a:lumOff val="35000"/>
                  </a:schemeClr>
                </a:solidFill>
              </a:rPr>
              <a:t>References</a:t>
            </a:r>
            <a:endParaRPr lang="en-AE" sz="3200">
              <a:solidFill>
                <a:schemeClr val="tx1">
                  <a:lumMod val="65000"/>
                  <a:lumOff val="35000"/>
                </a:schemeClr>
              </a:solidFill>
            </a:endParaRPr>
          </a:p>
        </p:txBody>
      </p:sp>
      <p:sp>
        <p:nvSpPr>
          <p:cNvPr id="3" name="Content Placeholder 2">
            <a:extLst>
              <a:ext uri="{FF2B5EF4-FFF2-40B4-BE49-F238E27FC236}">
                <a16:creationId xmlns:a16="http://schemas.microsoft.com/office/drawing/2014/main" id="{497D48D0-B17F-7149-1447-AACB606FDC08}"/>
              </a:ext>
            </a:extLst>
          </p:cNvPr>
          <p:cNvSpPr>
            <a:spLocks noGrp="1"/>
          </p:cNvSpPr>
          <p:nvPr>
            <p:ph idx="1"/>
          </p:nvPr>
        </p:nvSpPr>
        <p:spPr>
          <a:xfrm>
            <a:off x="1616054" y="2427382"/>
            <a:ext cx="8959892" cy="3557781"/>
          </a:xfrm>
        </p:spPr>
        <p:txBody>
          <a:bodyPr anchor="t">
            <a:normAutofit fontScale="62500" lnSpcReduction="20000"/>
          </a:bodyPr>
          <a:lstStyle/>
          <a:p>
            <a:pPr marL="514350" indent="-514350">
              <a:buFont typeface="+mj-lt"/>
              <a:buAutoNum type="arabicPeriod"/>
            </a:pPr>
            <a:r>
              <a:rPr lang="en-US" sz="1600" dirty="0" err="1">
                <a:solidFill>
                  <a:schemeClr val="tx1">
                    <a:lumMod val="65000"/>
                    <a:lumOff val="35000"/>
                  </a:schemeClr>
                </a:solidFill>
                <a:latin typeface="-apple-system"/>
              </a:rPr>
              <a:t>Dabove</a:t>
            </a:r>
            <a:r>
              <a:rPr lang="en-US" sz="1600" dirty="0">
                <a:solidFill>
                  <a:schemeClr val="tx1">
                    <a:lumMod val="65000"/>
                    <a:lumOff val="35000"/>
                  </a:schemeClr>
                </a:solidFill>
                <a:latin typeface="-apple-system"/>
              </a:rPr>
              <a:t>, P., Daud, M. &amp; </a:t>
            </a:r>
            <a:r>
              <a:rPr lang="en-US" sz="1600" dirty="0" err="1">
                <a:solidFill>
                  <a:schemeClr val="tx1">
                    <a:lumMod val="65000"/>
                    <a:lumOff val="35000"/>
                  </a:schemeClr>
                </a:solidFill>
                <a:latin typeface="-apple-system"/>
              </a:rPr>
              <a:t>Olivotto</a:t>
            </a:r>
            <a:r>
              <a:rPr lang="en-US" sz="1600" dirty="0">
                <a:solidFill>
                  <a:schemeClr val="tx1">
                    <a:lumMod val="65000"/>
                    <a:lumOff val="35000"/>
                  </a:schemeClr>
                </a:solidFill>
                <a:latin typeface="-apple-system"/>
              </a:rPr>
              <a:t>, L. Revolutionizing urban mapping: deep learning and data fusion strategies for accurate building footprint segmentation. </a:t>
            </a:r>
            <a:r>
              <a:rPr lang="en-US" sz="1600" i="1" dirty="0">
                <a:solidFill>
                  <a:schemeClr val="tx1">
                    <a:lumMod val="65000"/>
                    <a:lumOff val="35000"/>
                  </a:schemeClr>
                </a:solidFill>
                <a:latin typeface="-apple-system"/>
              </a:rPr>
              <a:t>Sci Rep</a:t>
            </a:r>
            <a:r>
              <a:rPr lang="en-US" sz="1600" dirty="0">
                <a:solidFill>
                  <a:schemeClr val="tx1">
                    <a:lumMod val="65000"/>
                    <a:lumOff val="35000"/>
                  </a:schemeClr>
                </a:solidFill>
                <a:latin typeface="-apple-system"/>
              </a:rPr>
              <a:t> </a:t>
            </a:r>
            <a:r>
              <a:rPr lang="en-US" sz="1600" b="1" dirty="0">
                <a:solidFill>
                  <a:schemeClr val="tx1">
                    <a:lumMod val="65000"/>
                    <a:lumOff val="35000"/>
                  </a:schemeClr>
                </a:solidFill>
                <a:latin typeface="-apple-system"/>
              </a:rPr>
              <a:t>14</a:t>
            </a:r>
            <a:r>
              <a:rPr lang="en-US" sz="1600" dirty="0">
                <a:solidFill>
                  <a:schemeClr val="tx1">
                    <a:lumMod val="65000"/>
                    <a:lumOff val="35000"/>
                  </a:schemeClr>
                </a:solidFill>
                <a:latin typeface="-apple-system"/>
              </a:rPr>
              <a:t>, 13510 (2024). </a:t>
            </a:r>
            <a:r>
              <a:rPr lang="en-US" sz="1600" dirty="0">
                <a:solidFill>
                  <a:schemeClr val="tx1">
                    <a:lumMod val="65000"/>
                    <a:lumOff val="35000"/>
                  </a:schemeClr>
                </a:solidFill>
                <a:latin typeface="-apple-system"/>
                <a:hlinkClick r:id="rId2"/>
              </a:rPr>
              <a:t>https://doi.org/10.1038/s41598-024-64231-0</a:t>
            </a:r>
            <a:endParaRPr lang="en-US" sz="1600" dirty="0">
              <a:solidFill>
                <a:schemeClr val="tx1">
                  <a:lumMod val="65000"/>
                  <a:lumOff val="35000"/>
                </a:schemeClr>
              </a:solidFill>
              <a:latin typeface="-apple-system"/>
            </a:endParaRPr>
          </a:p>
          <a:p>
            <a:pPr marL="514350" indent="-514350">
              <a:buFont typeface="+mj-lt"/>
              <a:buAutoNum type="arabicPeriod"/>
            </a:pPr>
            <a:r>
              <a:rPr lang="en-US" sz="1600" dirty="0">
                <a:solidFill>
                  <a:schemeClr val="tx1">
                    <a:lumMod val="65000"/>
                    <a:lumOff val="35000"/>
                  </a:schemeClr>
                </a:solidFill>
              </a:rPr>
              <a:t>W. Liu et al., "Building Footprint Extraction From Unmanned Aerial Vehicle Images Via PRU-Net: Application to Change Detection," in IEEE Journal of Selected Topics in Applied Earth Observations and Remote Sensing, vol. 14, pp. 2236-2248, 2021, </a:t>
            </a:r>
            <a:r>
              <a:rPr lang="en-US" sz="1600" dirty="0" err="1">
                <a:solidFill>
                  <a:schemeClr val="tx1">
                    <a:lumMod val="65000"/>
                    <a:lumOff val="35000"/>
                  </a:schemeClr>
                </a:solidFill>
              </a:rPr>
              <a:t>doi</a:t>
            </a:r>
            <a:r>
              <a:rPr lang="en-US" sz="1600" dirty="0">
                <a:solidFill>
                  <a:schemeClr val="tx1">
                    <a:lumMod val="65000"/>
                    <a:lumOff val="35000"/>
                  </a:schemeClr>
                </a:solidFill>
              </a:rPr>
              <a:t>: 10.1109/JSTARS.2021.3052495.</a:t>
            </a:r>
          </a:p>
          <a:p>
            <a:pPr marL="514350" indent="-514350">
              <a:buFont typeface="+mj-lt"/>
              <a:buAutoNum type="arabicPeriod"/>
            </a:pPr>
            <a:r>
              <a:rPr lang="en-US" sz="1600" dirty="0">
                <a:solidFill>
                  <a:schemeClr val="tx1">
                    <a:lumMod val="65000"/>
                    <a:lumOff val="35000"/>
                  </a:schemeClr>
                </a:solidFill>
              </a:rPr>
              <a:t>T. Wu, Z. Sun, Z. Zhao, J. Wang, R. Yu and J. Ji, "SFCF-Net: A Cross-Hierarchical Progressive Feature Integration Network for UAV Image Change Detection," in IEEE Journal of Selected Topics in Applied Earth Observations and Remote Sensing, vol. 19, pp. 9127-9143, 2026, </a:t>
            </a:r>
            <a:r>
              <a:rPr lang="en-US" sz="1600" dirty="0" err="1">
                <a:solidFill>
                  <a:schemeClr val="tx1">
                    <a:lumMod val="65000"/>
                    <a:lumOff val="35000"/>
                  </a:schemeClr>
                </a:solidFill>
              </a:rPr>
              <a:t>doi</a:t>
            </a:r>
            <a:r>
              <a:rPr lang="en-US" sz="1600" dirty="0">
                <a:solidFill>
                  <a:schemeClr val="tx1">
                    <a:lumMod val="65000"/>
                    <a:lumOff val="35000"/>
                  </a:schemeClr>
                </a:solidFill>
              </a:rPr>
              <a:t>: 10.1109/JSTARS.2026.3664258.</a:t>
            </a:r>
          </a:p>
          <a:p>
            <a:pPr marL="514350" indent="-514350">
              <a:buFont typeface="+mj-lt"/>
              <a:buAutoNum type="arabicPeriod"/>
            </a:pPr>
            <a:r>
              <a:rPr lang="en-US" sz="1600" dirty="0">
                <a:solidFill>
                  <a:schemeClr val="tx1">
                    <a:lumMod val="65000"/>
                    <a:lumOff val="35000"/>
                  </a:schemeClr>
                </a:solidFill>
              </a:rPr>
              <a:t>Y. Li, C. L. P. Chen and T. Zhang, "A Survey on Siamese Network: Methodologies, Applications, and Opportunities," in </a:t>
            </a:r>
            <a:r>
              <a:rPr lang="en-US" sz="1600" i="1" dirty="0">
                <a:solidFill>
                  <a:schemeClr val="tx1">
                    <a:lumMod val="65000"/>
                    <a:lumOff val="35000"/>
                  </a:schemeClr>
                </a:solidFill>
              </a:rPr>
              <a:t>IEEE Transactions on Artificial Intelligence</a:t>
            </a:r>
            <a:r>
              <a:rPr lang="en-US" sz="1600" dirty="0">
                <a:solidFill>
                  <a:schemeClr val="tx1">
                    <a:lumMod val="65000"/>
                    <a:lumOff val="35000"/>
                  </a:schemeClr>
                </a:solidFill>
              </a:rPr>
              <a:t>, vol. 3, no. 6, pp. 994-1014, Dec. 2022, </a:t>
            </a:r>
            <a:r>
              <a:rPr lang="en-US" sz="1600" dirty="0" err="1">
                <a:solidFill>
                  <a:schemeClr val="tx1">
                    <a:lumMod val="65000"/>
                    <a:lumOff val="35000"/>
                  </a:schemeClr>
                </a:solidFill>
              </a:rPr>
              <a:t>doi</a:t>
            </a:r>
            <a:r>
              <a:rPr lang="en-US" sz="1600" dirty="0">
                <a:solidFill>
                  <a:schemeClr val="tx1">
                    <a:lumMod val="65000"/>
                    <a:lumOff val="35000"/>
                  </a:schemeClr>
                </a:solidFill>
              </a:rPr>
              <a:t>: 10.1109/TAI.2022.3207112.</a:t>
            </a:r>
          </a:p>
          <a:p>
            <a:pPr marL="514350" indent="-514350">
              <a:buFont typeface="+mj-lt"/>
              <a:buAutoNum type="arabicPeriod"/>
            </a:pPr>
            <a:r>
              <a:rPr lang="en-US" sz="1600" dirty="0">
                <a:solidFill>
                  <a:schemeClr val="tx1">
                    <a:lumMod val="65000"/>
                    <a:lumOff val="35000"/>
                  </a:schemeClr>
                </a:solidFill>
              </a:rPr>
              <a:t>Chen, H.; Shi, Z. A Spatial-Temporal Attention-Based Method and a New Dataset for Remote Sensing Image Change Detection. Remote Sens. 2020, 12, 1662. https://doi.org/10.3390/rs12101662</a:t>
            </a:r>
          </a:p>
          <a:p>
            <a:pPr marL="514350" indent="-514350">
              <a:buFont typeface="+mj-lt"/>
              <a:buAutoNum type="arabicPeriod"/>
            </a:pPr>
            <a:r>
              <a:rPr lang="en-US" sz="1600" dirty="0">
                <a:solidFill>
                  <a:schemeClr val="tx1">
                    <a:lumMod val="65000"/>
                    <a:lumOff val="35000"/>
                  </a:schemeClr>
                </a:solidFill>
              </a:rPr>
              <a:t>Revisiting Consistency Regularization for Semi-supervised Change Detection in Remote Sensing Images, Wele Gedara Chaminda Bandara and Vishal M. Patel, 2022</a:t>
            </a:r>
          </a:p>
          <a:p>
            <a:pPr marL="514350" indent="-514350">
              <a:buFont typeface="+mj-lt"/>
              <a:buAutoNum type="arabicPeriod"/>
            </a:pPr>
            <a:r>
              <a:rPr lang="en-US" sz="1600" dirty="0">
                <a:solidFill>
                  <a:schemeClr val="tx1">
                    <a:lumMod val="65000"/>
                    <a:lumOff val="35000"/>
                  </a:schemeClr>
                </a:solidFill>
              </a:rPr>
              <a:t>T. Chen, Z. Lu, Y. Yang, Y. Zhang, B. Du and A. Plaza, "A Siamese Network Based U-Net for Change Detection in High Resolution Remote Sensing Images," in IEEE Journal of Selected Topics in Applied Earth Observations and Remote Sensing, vol. 15, pp. 2357-2369, 2022</a:t>
            </a:r>
          </a:p>
          <a:p>
            <a:pPr marL="514350" indent="-514350">
              <a:buFont typeface="+mj-lt"/>
              <a:buAutoNum type="arabicPeriod"/>
            </a:pPr>
            <a:r>
              <a:rPr lang="en-US" sz="1600" dirty="0">
                <a:solidFill>
                  <a:schemeClr val="tx1">
                    <a:lumMod val="65000"/>
                    <a:lumOff val="35000"/>
                  </a:schemeClr>
                </a:solidFill>
              </a:rPr>
              <a:t>Diallo, R., </a:t>
            </a:r>
            <a:r>
              <a:rPr lang="en-US" sz="1600" dirty="0" err="1">
                <a:solidFill>
                  <a:schemeClr val="tx1">
                    <a:lumMod val="65000"/>
                    <a:lumOff val="35000"/>
                  </a:schemeClr>
                </a:solidFill>
              </a:rPr>
              <a:t>Edalo</a:t>
            </a:r>
            <a:r>
              <a:rPr lang="en-US" sz="1600" dirty="0">
                <a:solidFill>
                  <a:schemeClr val="tx1">
                    <a:lumMod val="65000"/>
                    <a:lumOff val="35000"/>
                  </a:schemeClr>
                </a:solidFill>
              </a:rPr>
              <a:t>, C., Awe, O.O. (2025). Machine Learning Evaluation of Imbalanced Health Data: A Comparative Analysis of Balanced Accuracy, MCC, and F1 Score. In: Awe, O.O., A. Vance, E. (eds) Practical Statistical Learning and Data Science Methods. STEAM-H: Science, Technology, Engineering, Agriculture, Mathematics &amp; Health. Springer, Cham. https://doi.org/10.1007/978-3-031-72215-8_12</a:t>
            </a:r>
          </a:p>
          <a:p>
            <a:pPr marL="514350" indent="-514350">
              <a:buFont typeface="+mj-lt"/>
              <a:buAutoNum type="arabicPeriod"/>
            </a:pPr>
            <a:r>
              <a:rPr lang="en-US" sz="1600" dirty="0">
                <a:solidFill>
                  <a:schemeClr val="tx1">
                    <a:lumMod val="65000"/>
                    <a:lumOff val="35000"/>
                  </a:schemeClr>
                </a:solidFill>
              </a:rPr>
              <a:t>Jineon Kim, Yong-Ki Lee, Chae-Soon Choi, Sayedalireza Fereshtenejad, Jae-Joon Song, Scanline intersection similarity: A similarity metric for joint trace maps, Computers &amp; Geosciences, Volume 175, 2023, 105358, ISSN 0098-3004, https://doi.org/10.1016/j.cageo.2023.105358</a:t>
            </a:r>
          </a:p>
        </p:txBody>
      </p:sp>
      <p:sp>
        <p:nvSpPr>
          <p:cNvPr id="4" name="TextBox 3">
            <a:extLst>
              <a:ext uri="{FF2B5EF4-FFF2-40B4-BE49-F238E27FC236}">
                <a16:creationId xmlns:a16="http://schemas.microsoft.com/office/drawing/2014/main" id="{49D1241C-3339-0D65-317C-1BCD9292DA16}"/>
              </a:ext>
            </a:extLst>
          </p:cNvPr>
          <p:cNvSpPr txBox="1"/>
          <p:nvPr/>
        </p:nvSpPr>
        <p:spPr>
          <a:xfrm>
            <a:off x="0" y="0"/>
            <a:ext cx="756938" cy="369332"/>
          </a:xfrm>
          <a:prstGeom prst="rect">
            <a:avLst/>
          </a:prstGeom>
          <a:noFill/>
        </p:spPr>
        <p:txBody>
          <a:bodyPr wrap="none" rtlCol="0">
            <a:spAutoFit/>
          </a:bodyPr>
          <a:lstStyle/>
          <a:p>
            <a:r>
              <a:rPr lang="en-US" dirty="0"/>
              <a:t>47/47</a:t>
            </a:r>
            <a:endParaRPr lang="en-AE" dirty="0"/>
          </a:p>
        </p:txBody>
      </p:sp>
    </p:spTree>
    <p:extLst>
      <p:ext uri="{BB962C8B-B14F-4D97-AF65-F5344CB8AC3E}">
        <p14:creationId xmlns:p14="http://schemas.microsoft.com/office/powerpoint/2010/main" val="97226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17827</TotalTime>
  <Words>3080</Words>
  <Application>Microsoft Office PowerPoint</Application>
  <PresentationFormat>Widescreen</PresentationFormat>
  <Paragraphs>308</Paragraphs>
  <Slides>47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-apple-system</vt:lpstr>
      <vt:lpstr>Aptos</vt:lpstr>
      <vt:lpstr>Aptos Display</vt:lpstr>
      <vt:lpstr>Arial</vt:lpstr>
      <vt:lpstr>Calibri</vt:lpstr>
      <vt:lpstr>Times New Roman</vt:lpstr>
      <vt:lpstr>Office Theme</vt:lpstr>
      <vt:lpstr> Automated Change Detection of Building Footprints in Dubai</vt:lpstr>
      <vt:lpstr>Agenda</vt:lpstr>
      <vt:lpstr>Introduction</vt:lpstr>
      <vt:lpstr>Introduction</vt:lpstr>
      <vt:lpstr>Related Work</vt:lpstr>
      <vt:lpstr>Siamese Networks</vt:lpstr>
      <vt:lpstr>Proposed Methodology</vt:lpstr>
      <vt:lpstr>Proposed Methodology</vt:lpstr>
      <vt:lpstr>Dataset Preprocessing</vt:lpstr>
      <vt:lpstr>Dataset Preprocessing – Co-Registration</vt:lpstr>
      <vt:lpstr>Dataset Preprocessing – Co-Registration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Radiometric Normalization</vt:lpstr>
      <vt:lpstr>Baseline Experiment: Computer Vision Pixel Differencing</vt:lpstr>
      <vt:lpstr>Next Experiment: Supervised VGG16 Model</vt:lpstr>
      <vt:lpstr>LEVIR-CD Dataset</vt:lpstr>
      <vt:lpstr>LEVIR-CD Dataset</vt:lpstr>
      <vt:lpstr>VGG16 Model Training Results on LEVIR-CD</vt:lpstr>
      <vt:lpstr>Dubai Satellite Model Inference</vt:lpstr>
      <vt:lpstr>PowerPoint Presentation</vt:lpstr>
      <vt:lpstr>Ground-Truth Manual Annotation Strategy</vt:lpstr>
      <vt:lpstr>Ground-Truth Manual Annotation</vt:lpstr>
      <vt:lpstr>Ground-Truth Manual Annotation</vt:lpstr>
      <vt:lpstr>Dataset Split Strategy</vt:lpstr>
      <vt:lpstr>PowerPoint Presentation</vt:lpstr>
      <vt:lpstr>Data Augmentations</vt:lpstr>
      <vt:lpstr>Evaluation Metrics</vt:lpstr>
      <vt:lpstr>Model Architecture</vt:lpstr>
      <vt:lpstr>Results and Discussion</vt:lpstr>
      <vt:lpstr>Model Evaluation</vt:lpstr>
      <vt:lpstr>Confusion Matrix</vt:lpstr>
      <vt:lpstr>PowerPoint Presentation</vt:lpstr>
      <vt:lpstr>Fine-Tuned Model Inference Map</vt:lpstr>
      <vt:lpstr>PowerPoint Presentation</vt:lpstr>
      <vt:lpstr>Ablation Study</vt:lpstr>
      <vt:lpstr>Project Challenges</vt:lpstr>
      <vt:lpstr>Mask Blob Challenge</vt:lpstr>
      <vt:lpstr>Mask Blob Challenge</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Ammar Abduladheem Kubba</dc:creator>
  <cp:lastModifiedBy>Ahmed Ammar Abduladheem Kubba</cp:lastModifiedBy>
  <cp:revision>77</cp:revision>
  <dcterms:created xsi:type="dcterms:W3CDTF">2026-04-16T09:32:14Z</dcterms:created>
  <dcterms:modified xsi:type="dcterms:W3CDTF">2026-05-07T04:51:28Z</dcterms:modified>
</cp:coreProperties>
</file>